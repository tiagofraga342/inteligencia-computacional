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c:v>
                </c:pt>
              </c:strCache>
            </c:strRef>
          </c:tx>
          <c:spPr>
            <a:solidFill>
              <a:srgbClr val="3A4A8F"/>
            </a:solidFill>
            <a:effectLst/>
          </c:spPr>
          <c:invertIfNegative val="0"/>
          <c:dLbls>
            <c:numFmt formatCode="0.0&quot;%&quot;" sourceLinked="0"/>
            <c:txPr>
              <a:bodyPr/>
              <a:lstStyle/>
              <a:p>
                <a:pPr>
                  <a:defRPr b="0" i="0" strike="noStrike" sz="1200" u="none">
                    <a:solidFill>
                      <a:srgbClr val="1E2761"/>
                    </a:solidFill>
                    <a:latin typeface="Arial"/>
                  </a:defRPr>
                </a:pPr>
              </a:p>
            </c:txPr>
            <c:showLegendKey val="0"/>
            <c:showVal val="1"/>
            <c:showCatName val="0"/>
            <c:showSerName val="0"/>
            <c:showPercent val="0"/>
            <c:showBubbleSize val="0"/>
            <c:showLeaderLines val="0"/>
          </c:dLbls>
          <c:dPt>
            <c:idx val="0"/>
            <c:invertIfNegative val="0"/>
            <c:bubble3D val="0"/>
            <c:spPr>
              <a:solidFill>
                <a:srgbClr val="3A4A8F"/>
              </a:solidFill>
              <a:effectLst/>
            </c:spPr>
          </c:dPt>
          <c:dPt>
            <c:idx val="1"/>
            <c:invertIfNegative val="0"/>
            <c:bubble3D val="0"/>
            <c:spPr>
              <a:solidFill>
                <a:srgbClr val="E8A33D"/>
              </a:solidFill>
              <a:effectLst/>
            </c:spPr>
          </c:dPt>
          <c:cat>
            <c:multiLvlStrRef>
              <c:f>Sheet1!$A$2:$A$3</c:f>
              <c:multiLvlStrCache>
                <c:ptCount val="2"/>
                <c:lvl>
                  <c:pt idx="0">
                    <c:v>SQuAD</c:v>
                  </c:pt>
                  <c:pt idx="1">
                    <c:v>LearningQ</c:v>
                  </c:pt>
                </c:lvl>
              </c:multiLvlStrCache>
            </c:multiLvlStrRef>
          </c:cat>
          <c:val>
            <c:numRef>
              <c:f>Sheet1!$B$2:$B$3</c:f>
              <c:numCache>
                <c:formatCode>General</c:formatCode>
                <c:ptCount val="2"/>
                <c:pt idx="0">
                  <c:v>12.3</c:v>
                </c:pt>
                <c:pt idx="1">
                  <c:v>37.5</c:v>
                </c:pt>
              </c:numCache>
            </c:numRef>
          </c:val>
        </c:ser>
        <c:dLbls>
          <c:numFmt formatCode="0.0&quot;%&quot;" sourceLinked="0"/>
          <c:txPr>
            <a:bodyPr/>
            <a:lstStyle/>
            <a:p>
              <a:pPr>
                <a:defRPr b="0" i="0" strike="noStrike" sz="1200" u="none">
                  <a:solidFill>
                    <a:srgbClr val="1E2761"/>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max val="4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c:v>
                </c:pt>
              </c:strCache>
            </c:strRef>
          </c:tx>
          <c:spPr>
            <a:solidFill>
              <a:srgbClr val="E8A33D"/>
            </a:solidFill>
            <a:effectLst/>
          </c:spPr>
          <c:invertIfNegative val="0"/>
          <c:dLbls>
            <c:numFmt formatCode="0.0&quot;%&quot;" sourceLinked="0"/>
            <c:txPr>
              <a:bodyPr/>
              <a:lstStyle/>
              <a:p>
                <a:pPr>
                  <a:defRPr b="0" i="0" strike="noStrike" sz="1200" u="none">
                    <a:solidFill>
                      <a:srgbClr val="1E2761"/>
                    </a:solidFill>
                    <a:latin typeface="Arial"/>
                  </a:defRPr>
                </a:pPr>
              </a:p>
            </c:txPr>
            <c:showLegendKey val="0"/>
            <c:showVal val="1"/>
            <c:showCatName val="0"/>
            <c:showSerName val="0"/>
            <c:showPercent val="0"/>
            <c:showBubbleSize val="0"/>
            <c:showLeaderLines val="0"/>
          </c:dLbls>
          <c:dPt>
            <c:idx val="0"/>
            <c:invertIfNegative val="0"/>
            <c:bubble3D val="0"/>
            <c:spPr>
              <a:solidFill>
                <a:srgbClr val="E8A33D"/>
              </a:solidFill>
              <a:effectLst/>
            </c:spPr>
          </c:dPt>
          <c:dPt>
            <c:idx val="1"/>
            <c:invertIfNegative val="0"/>
            <c:bubble3D val="0"/>
            <c:spPr>
              <a:solidFill>
                <a:srgbClr val="3A4A8F"/>
              </a:solidFill>
              <a:effectLst/>
            </c:spPr>
          </c:dPt>
          <c:dPt>
            <c:idx val="2"/>
            <c:invertIfNegative val="0"/>
            <c:bubble3D val="0"/>
            <c:spPr>
              <a:solidFill>
                <a:srgbClr val="3A4A8F"/>
              </a:solidFill>
              <a:effectLst/>
            </c:spPr>
          </c:dPt>
          <c:dPt>
            <c:idx val="3"/>
            <c:invertIfNegative val="0"/>
            <c:bubble3D val="0"/>
            <c:spPr>
              <a:solidFill>
                <a:srgbClr val="3A4A8F"/>
              </a:solidFill>
              <a:effectLst/>
            </c:spPr>
          </c:dPt>
          <c:dPt>
            <c:idx val="4"/>
            <c:invertIfNegative val="0"/>
            <c:bubble3D val="0"/>
            <c:spPr>
              <a:solidFill>
                <a:srgbClr val="3A4A8F"/>
              </a:solidFill>
              <a:effectLst/>
            </c:spPr>
          </c:dPt>
          <c:dPt>
            <c:idx val="5"/>
            <c:invertIfNegative val="0"/>
            <c:bubble3D val="0"/>
            <c:spPr>
              <a:solidFill>
                <a:srgbClr val="3A4A8F"/>
              </a:solidFill>
              <a:effectLst/>
            </c:spPr>
          </c:dPt>
          <c:dPt>
            <c:idx val="6"/>
            <c:invertIfNegative val="0"/>
            <c:bubble3D val="0"/>
            <c:spPr>
              <a:solidFill>
                <a:srgbClr val="3A4A8F"/>
              </a:solidFill>
              <a:effectLst/>
            </c:spPr>
          </c:dPt>
          <c:dPt>
            <c:idx val="7"/>
            <c:invertIfNegative val="0"/>
            <c:bubble3D val="0"/>
            <c:spPr>
              <a:solidFill>
                <a:srgbClr val="3A4A8F"/>
              </a:solidFill>
              <a:effectLst/>
            </c:spPr>
          </c:dPt>
          <c:cat>
            <c:multiLvlStrRef>
              <c:f>Sheet1!$A$2:$A$9</c:f>
              <c:multiLvlStrCache>
                <c:ptCount val="8"/>
                <c:lvl>
                  <c:pt idx="0">
                    <c:v>What</c:v>
                  </c:pt>
                  <c:pt idx="1">
                    <c:v>Outras</c:v>
                  </c:pt>
                  <c:pt idx="2">
                    <c:v>Who</c:v>
                  </c:pt>
                  <c:pt idx="3">
                    <c:v>How</c:v>
                  </c:pt>
                  <c:pt idx="4">
                    <c:v>When</c:v>
                  </c:pt>
                  <c:pt idx="5">
                    <c:v>Which</c:v>
                  </c:pt>
                  <c:pt idx="6">
                    <c:v>Where</c:v>
                  </c:pt>
                  <c:pt idx="7">
                    <c:v>Why</c:v>
                  </c:pt>
                </c:lvl>
              </c:multiLvlStrCache>
            </c:multiLvlStrRef>
          </c:cat>
          <c:val>
            <c:numRef>
              <c:f>Sheet1!$B$2:$B$9</c:f>
              <c:numCache>
                <c:formatCode>General</c:formatCode>
                <c:ptCount val="8"/>
                <c:pt idx="0">
                  <c:v>42.9</c:v>
                </c:pt>
                <c:pt idx="1">
                  <c:v>21</c:v>
                </c:pt>
                <c:pt idx="2">
                  <c:v>9.3</c:v>
                </c:pt>
                <c:pt idx="3">
                  <c:v>9.3</c:v>
                </c:pt>
                <c:pt idx="4">
                  <c:v>6.2</c:v>
                </c:pt>
                <c:pt idx="5">
                  <c:v>4.7</c:v>
                </c:pt>
                <c:pt idx="6">
                  <c:v>3.8</c:v>
                </c:pt>
                <c:pt idx="7">
                  <c:v>1.4</c:v>
                </c:pt>
              </c:numCache>
            </c:numRef>
          </c:val>
        </c:ser>
        <c:dLbls>
          <c:numFmt formatCode="0.0&quot;%&quot;" sourceLinked="0"/>
          <c:txPr>
            <a:bodyPr/>
            <a:lstStyle/>
            <a:p>
              <a:pPr>
                <a:defRPr b="0" i="0" strike="noStrike" sz="1200" u="none">
                  <a:solidFill>
                    <a:srgbClr val="1E2761"/>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max val="4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c:v>
                </c:pt>
              </c:strCache>
            </c:strRef>
          </c:tx>
          <c:spPr>
            <a:solidFill>
              <a:srgbClr val="3A4A8F"/>
            </a:solidFill>
            <a:effectLst/>
          </c:spPr>
          <c:invertIfNegative val="0"/>
          <c:dLbls>
            <c:numFmt formatCode="0.0&quot;%&quot;" sourceLinked="0"/>
            <c:txPr>
              <a:bodyPr/>
              <a:lstStyle/>
              <a:p>
                <a:pPr>
                  <a:defRPr b="0" i="0" strike="noStrike" sz="1200" u="none">
                    <a:solidFill>
                      <a:srgbClr val="1E2761"/>
                    </a:solidFill>
                    <a:latin typeface="Arial"/>
                  </a:defRPr>
                </a:pPr>
              </a:p>
            </c:txPr>
            <c:showLegendKey val="0"/>
            <c:showVal val="1"/>
            <c:showCatName val="0"/>
            <c:showSerName val="0"/>
            <c:showPercent val="0"/>
            <c:showBubbleSize val="0"/>
            <c:showLeaderLines val="0"/>
          </c:dLbls>
          <c:dPt>
            <c:idx val="0"/>
            <c:invertIfNegative val="0"/>
            <c:bubble3D val="0"/>
            <c:spPr>
              <a:solidFill>
                <a:srgbClr val="3A4A8F"/>
              </a:solidFill>
              <a:effectLst/>
            </c:spPr>
          </c:dPt>
          <c:dPt>
            <c:idx val="1"/>
            <c:invertIfNegative val="0"/>
            <c:bubble3D val="0"/>
            <c:spPr>
              <a:solidFill>
                <a:srgbClr val="E8A33D"/>
              </a:solidFill>
              <a:effectLst/>
            </c:spPr>
          </c:dPt>
          <c:dPt>
            <c:idx val="2"/>
            <c:invertIfNegative val="0"/>
            <c:bubble3D val="0"/>
            <c:spPr>
              <a:solidFill>
                <a:srgbClr val="3A4A8F"/>
              </a:solidFill>
              <a:effectLst/>
            </c:spPr>
          </c:dPt>
          <c:dPt>
            <c:idx val="3"/>
            <c:invertIfNegative val="0"/>
            <c:bubble3D val="0"/>
            <c:spPr>
              <a:solidFill>
                <a:srgbClr val="3A4A8F"/>
              </a:solidFill>
              <a:effectLst/>
            </c:spPr>
          </c:dPt>
          <c:dPt>
            <c:idx val="4"/>
            <c:invertIfNegative val="0"/>
            <c:bubble3D val="0"/>
            <c:spPr>
              <a:solidFill>
                <a:srgbClr val="3A4A8F"/>
              </a:solidFill>
              <a:effectLst/>
            </c:spPr>
          </c:dPt>
          <c:dPt>
            <c:idx val="5"/>
            <c:invertIfNegative val="0"/>
            <c:bubble3D val="0"/>
            <c:spPr>
              <a:solidFill>
                <a:srgbClr val="3A4A8F"/>
              </a:solidFill>
              <a:effectLst/>
            </c:spPr>
          </c:dPt>
          <c:dPt>
            <c:idx val="6"/>
            <c:invertIfNegative val="0"/>
            <c:bubble3D val="0"/>
            <c:spPr>
              <a:solidFill>
                <a:srgbClr val="3A4A8F"/>
              </a:solidFill>
              <a:effectLst/>
            </c:spPr>
          </c:dPt>
          <c:dPt>
            <c:idx val="7"/>
            <c:invertIfNegative val="0"/>
            <c:bubble3D val="0"/>
            <c:spPr>
              <a:solidFill>
                <a:srgbClr val="3A4A8F"/>
              </a:solidFill>
              <a:effectLst/>
            </c:spPr>
          </c:dPt>
          <c:cat>
            <c:multiLvlStrRef>
              <c:f>Sheet1!$A$2:$A$9</c:f>
              <c:multiLvlStrCache>
                <c:ptCount val="8"/>
                <c:lvl>
                  <c:pt idx="0">
                    <c:v>What</c:v>
                  </c:pt>
                  <c:pt idx="1">
                    <c:v>Outras</c:v>
                  </c:pt>
                  <c:pt idx="2">
                    <c:v>Who</c:v>
                  </c:pt>
                  <c:pt idx="3">
                    <c:v>How</c:v>
                  </c:pt>
                  <c:pt idx="4">
                    <c:v>When</c:v>
                  </c:pt>
                  <c:pt idx="5">
                    <c:v>Which</c:v>
                  </c:pt>
                  <c:pt idx="6">
                    <c:v>Where</c:v>
                  </c:pt>
                  <c:pt idx="7">
                    <c:v>Why</c:v>
                  </c:pt>
                </c:lvl>
              </c:multiLvlStrCache>
            </c:multiLvlStrRef>
          </c:cat>
          <c:val>
            <c:numRef>
              <c:f>Sheet1!$B$2:$B$9</c:f>
              <c:numCache>
                <c:formatCode>General</c:formatCode>
                <c:ptCount val="8"/>
                <c:pt idx="0">
                  <c:v>15.5</c:v>
                </c:pt>
                <c:pt idx="1">
                  <c:v>36</c:v>
                </c:pt>
                <c:pt idx="2">
                  <c:v>0.3</c:v>
                </c:pt>
                <c:pt idx="3">
                  <c:v>14.8</c:v>
                </c:pt>
                <c:pt idx="4">
                  <c:v>2.3</c:v>
                </c:pt>
                <c:pt idx="5">
                  <c:v>0.3</c:v>
                </c:pt>
                <c:pt idx="6">
                  <c:v>1</c:v>
                </c:pt>
                <c:pt idx="7">
                  <c:v>11</c:v>
                </c:pt>
              </c:numCache>
            </c:numRef>
          </c:val>
        </c:ser>
        <c:dLbls>
          <c:numFmt formatCode="0.0&quot;%&quot;" sourceLinked="0"/>
          <c:txPr>
            <a:bodyPr/>
            <a:lstStyle/>
            <a:p>
              <a:pPr>
                <a:defRPr b="0" i="0" strike="noStrike" sz="1200" u="none">
                  <a:solidFill>
                    <a:srgbClr val="1E2761"/>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max val="4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c:v>
                </c:pt>
              </c:strCache>
            </c:strRef>
          </c:tx>
          <c:spPr>
            <a:solidFill>
              <a:srgbClr val="3A4A8F"/>
            </a:solidFill>
            <a:effectLst/>
          </c:spPr>
          <c:invertIfNegative val="0"/>
          <c:dLbls>
            <c:numFmt formatCode="#,##0" sourceLinked="0"/>
            <c:txPr>
              <a:bodyPr/>
              <a:lstStyle/>
              <a:p>
                <a:pPr>
                  <a:defRPr b="0" i="0" strike="noStrike" sz="1200" u="none">
                    <a:solidFill>
                      <a:srgbClr val="1E2761"/>
                    </a:solidFill>
                    <a:latin typeface="Arial"/>
                  </a:defRPr>
                </a:pPr>
              </a:p>
            </c:txPr>
            <c:showLegendKey val="0"/>
            <c:showVal val="1"/>
            <c:showCatName val="0"/>
            <c:showSerName val="0"/>
            <c:showPercent val="0"/>
            <c:showBubbleSize val="0"/>
            <c:showLeaderLines val="0"/>
          </c:dLbls>
          <c:dPt>
            <c:idx val="0"/>
            <c:invertIfNegative val="0"/>
            <c:bubble3D val="0"/>
            <c:spPr>
              <a:solidFill>
                <a:srgbClr val="3A4A8F"/>
              </a:solidFill>
              <a:effectLst/>
            </c:spPr>
          </c:dPt>
          <c:dPt>
            <c:idx val="1"/>
            <c:invertIfNegative val="0"/>
            <c:bubble3D val="0"/>
            <c:spPr>
              <a:solidFill>
                <a:srgbClr val="E8A33D"/>
              </a:solidFill>
              <a:effectLst/>
            </c:spPr>
          </c:dPt>
          <c:cat>
            <c:multiLvlStrRef>
              <c:f>Sheet1!$A$2:$A$3</c:f>
              <c:multiLvlStrCache>
                <c:ptCount val="2"/>
                <c:lvl>
                  <c:pt idx="0">
                    <c:v>SQuAD</c:v>
                  </c:pt>
                  <c:pt idx="1">
                    <c:v>LearningQ</c:v>
                  </c:pt>
                </c:lvl>
              </c:multiLvlStrCache>
            </c:multiLvlStrRef>
          </c:cat>
          <c:val>
            <c:numRef>
              <c:f>Sheet1!$B$2:$B$3</c:f>
              <c:numCache>
                <c:formatCode>General</c:formatCode>
                <c:ptCount val="2"/>
                <c:pt idx="0">
                  <c:v>176</c:v>
                </c:pt>
                <c:pt idx="1">
                  <c:v>2289</c:v>
                </c:pt>
              </c:numCache>
            </c:numRef>
          </c:val>
        </c:ser>
        <c:dLbls>
          <c:numFmt formatCode="#,##0" sourceLinked="0"/>
          <c:txPr>
            <a:bodyPr/>
            <a:lstStyle/>
            <a:p>
              <a:pPr>
                <a:defRPr b="0" i="0" strike="noStrike" sz="1200" u="none">
                  <a:solidFill>
                    <a:srgbClr val="1E2761"/>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max val="25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apresentando o projeto: reprodução do T-CQG, um modelo que gera perguntas focadas em um tópico a partir de um contexto. Hoje mostro o progresso da etapa baseline (sem tópico ainda) e o que descobrimos no caminho.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SQuAD são perguntas sobre artigos da Wikipédia, que já usamos pra treinar. LearningQ são perguntas reais de alunos do Khan Academy. LearningQ tem cerca de três vezes mais perguntas contendo 'por quê' ou 'como' -- é candidato a fonte de dados pra próxima etapa, o TopicQG.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sozinho já domina 43% das perguntas do SQuAD -- perfil fechado, factual. O truncamento em 512 tokens praticamente não perde dado: só 0,26% dos contextos passam do limite. E cada parágrafo gera em média 4,6 perguntas -- 87.599 perguntas para 18.891 parágrafos únicos -- foi exatamente essa repetição que motivou dividir o dataset por artigo, não por linha, mais adiante: se duas perguntas sobre o mesmo parágrafo caíssem uma no treino e outra na validação, o modelo estaria sendo avaliado em texto que já viu.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Mesma escala do slide anterior, 0 a 45%, pra comparar de cabeça. Diferente do SQuAD, que é dominado por 'What', o LearningQ é dominado por perguntas que não começam com um wh-word clássico -- 'Outras', 36%, frequentemente multi-cláusula, tipo 'so the pancreas is part of both..., right?'. E tem muito mais 'Why' e 'How' -- juntando as duas categorias em qualquer posição da frase, não só no início, 37,5% das perguntas do LearningQ contêm 'por quê' ou 'como', contra 12,3% no SQuAD. Isso é justamente o que motivou olhar pro LearningQ como candidato de dados pro TopicQG: perguntas mais abertas, mais parecidas com o que um aluno de verdade perguntaria. Vale notar: como o LearningQ não tem resposta anotada, ele não serve pro baseline atual, que já usa o SQuAD -- mas é uma fonte candidata pra próxima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estão duas linhas reais dos dois datasets. No SQuAD, a resposta é um trecho copiado literalmente do texto -- isso é o que torna as perguntas fechadas. No LearningQ não tem resposta anotada: a pergunta busca entendimento, não aponta pra um fato específico.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contexto bruto do LearningQ é a transcrição inteira da aula em vídeo -- por isso quase toda ela, 97,8%, ultrapassaria o limite de 512 tokens do encoder. Por isso, se usarmos o LearningQ, o campo certo pra treinar é o 'questionsrc': só o trecho específico da transcrição que originou a pergunta, com média de 66 palavras e apenas 0,9% truncado -- não a aula inteira.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partição aleatória por pergunta deixaria o mesmo parágrafo aparecer no treino e na validação, só que com perguntas diferentes -- isso é uma fuga de informação sutil. Dividindo por artigo, cada um fica inteiramente de um lado só, do mesmo jeito que o SQuAD já separa oficialmente treino e validação: 442 artigos contra 48, completamente disjuntos.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falar de Transformer, vale lembrar o que é uma rede neural no nível mais básico -- e, em vez de um exemplo genérico, vale já mostrar uma peça real do T5: a Feed-Forward. É uma sequência de camadas de neurônios artificiais. Cada neurônio recebe várias entradas, cada uma multiplicada por um peso; soma tudo, soma um viés, e passa o resultado por uma função de ativação, que introduz não-linearidade -- sem isso, empilhar camadas seria matematicamente equivalente a uma única camada linear. Numa camada densa, ou totalmente conectada, todo neurônio de uma camada se conecta a todos os neurônios da camada seguinte -- são essas conexões, esses pesos, que o treino ajusta via backpropagation para minimizar o erro do modelo. O desenho aqui já é a Feed-Forward de verdade: ela expande cada vetor de 512 para 2048 dimensões -- por isso a camada oculta é desenhada mais larga, com mais neurônios -- e depois volta pra 512, exatamente o que vamos ver no slide 12. O Transformer inteiro, que vemos no próximo slide, é construído com esse tipo de camada -- tanto a attention quanto o feed-forward são, no fundo, redes densas como essa, só organizadas de um jeito específico.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é a mesma linguagem visual da rede neural do slide anterior, mas aplicada à Self-Attention. Aqui não há uma camada oculta expandindo dimensão -- a entrada e a saída são a mesma frase, e cada linha entre uma palavra de entrada e uma de saída é um peso de atenção, calculado a partir de Query (da palavra de saída) e Key (da palavra de entrada), via produto escalar, normalizado por softmax pra somar 1. Diferente da Feed-Forward, onde os pesos ficam fixos depois do treino, aqui os pesos são recalculados pra cada frase nova -- são dinâmicos. No exemplo clássico 'o animal não atravessou a rua porque estava cansado', pra saber a quem 'estava' se refere, o modelo precisa que a saída de 'estava' preste muita atenção à entrada 'animal' -- é exatamente a linha destacada no desenho. Isso é o que dá ao Transformer a capacidade de resolver dependências de longo alcance no texto, em paralelo, sem precisar processar palavra por palavra em ordem.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Cross-Attention usa a mesma matemática da self-attention -- Query, Key, Value, produto escalar, softmax -- mas agora a Query vem do decoder, a pergunta sendo escrita, e a Key e a Value vêm da saída do encoder, o texto já lido. Por isso o desenho tem duas sequências diferentes, de tamanhos diferentes: a saída do encoder, mais longa, e a pergunta sendo gerada, mais curta. Cada palavra da pergunta consulta todas as posições do texto original pra decidir o que copiar ou parafrasear. No exemplo, que é o mesmo do slide de execução passo a passo, quando o decoder está gerando a palavra 'photosynthesis', ele precisa prestar muita atenção à palavra 'Photosynthesis' no texto original -- essa é a linha destacada. Sem essa camada, o decoder não teria nenhuma forma de consultar o que o encoder leu; ele só saberia o que já escreveu até agora.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nos detalhes do T5, vale explicar o que é um Transformer. É a arquitetura de rede neural introduzida em 2017 no artigo 'Attention Is All You Need', que processa a sequência inteira em paralelo usando um mecanismo chamado attention, em vez de ler palavra por palavra em ordem como as RNNs e LSTMs antigas faziam. Isso torna o treino muito mais rápido e captura dependências de longo alcance no texto. A partir dessa arquitetura base, surgiram três famílias de modelos: modelos só-encoder, como o BERT, que entendem o texto mas não geram; modelos só-decoder, como o GPT, que geram texto token a token; e modelos encoder-decoder, como o T5, que primeiro leem o texto com o encoder e depois escrevem a saída com o decoder. Geração de perguntas precisa das duas coisas: entender o contexto e escrever algo novo. Por isso o T5 é a escolha natural — e é exatamente essa arquitetura que o próximo slide detalha.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T5-small é um encoder-decoder, com 6 camadas idênticas empilhadas de cada lado. Uma coisa importante: self-attention, cross-attention e feed-forward são todas redes neurais de verdade, com matrizes de pesos que são ajustadas durante o treino -- não são fórmulas fixas. A attention calcula, a partir de camadas densas (Query, Key, Value), o quanto cada palavra deve 'olhar' as outras; esses pesos é que são aprendidos. Cada camada do encoder tem duas partes: essa self-attention, e uma feed-forward. A feed-forward é o complemento da attention: enquanto a attention mistura informação ENTRE as palavras, a feed-forward é outra rede neural, com duas camadas lineares e uma não-linearidade no meio, que processa cada posição sozinha, sem olhar as outras -- no T5-small ela expande cada vetor de 512 para 2048 dimensões e depois volta pra 512, dando ao modelo capacidade extra de transformar o que a attention acabou de juntar. O decoder tem uma parte a mais: além da self-attention (só sobre o que já foi gerado) e da feed-forward, ele tem cross-attention, outra camada neural, que consulta a representação que o encoder produziu pra decidir a próxima palavra da pergunta. Tudo isso com cerca de 60 milhões de parâmetros -- ou seja, 60 milhões de pesos aprendidos nessas redes -- e o encoder e o decoder compartilham o mesmo dicionário de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é um exemplo real passando pelo modelo treinado. Tokenizamos o texto, passamos pelo encoder, e o decoder gera a pergunta token a token. Greedy sempre escolhe a opção mais óbvia a cada passo e dá uma pergunta mais genérica. Beam search, que é o que o modelo usa de fato, testa várias opções antes de decidir e chega numa pergunta mais alinhada ao conteúdo.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é um exemplo real passando pelo modelo treinado. Tokenizamos o texto, passamos pelo encoder, e o decoder gera a pergunta token a token. Greedy sempre escolhe a opção mais óbvia a cada passo e dá uma pergunta mais genérica. Beam search, que é o que o modelo usa de fato, testa várias opções antes de decidir e chega numa pergunta mais alinhada ao conteúdo.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Essas são as mesmas 5 métricas automáticas que o artigo usa pro baseline. Na etapa de TopicQG, que é o próximo passo, entram também BERTScore e WikiSemRel -- métricas de relevância ao tópico que o artigo valida contra anotação humana, com Kappa de Fleiss de 0,933.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Quatro camadas de avaliação. A primeira já está feita e é a que permite comparar com o artigo, mas mede sobreposição de palavras: uma pergunta boa e diferente da referência perde pontos, como no exemplo dos resultados. A segunda entra com o TopicQG. A terceira e a quarta são propostas para cobrir qualidade de fato sem depender de muitos anotadores: um modelo de QA verifica se a pergunta é respondível pelo contexto, e um LLM juiz com rubrica fixa é calibrado por uma amostra humana pequena. Para o domínio de computação, a ideia é filtrar o LearningQ por palavras-chave e revisar uma amostra à mão.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artigo treina com os 87.599 exemplos oficiais por até 50 épocas. Nessa GPU de 4GB, isso levaria cerca de 150 horas. Mantivemos o otimizador, a taxa de aprendizado e o batch efetivo do artigo -- só reduzimos o número de épocas e o tamanho do subconjunto preliminar por orçamento de tempo e hardware, com early stopping monitorando o processo automaticamente.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hiperparâmetro tem uma explicação de uma frase. Se perguntarem o porquê: o AdamW dá um ritmo próprio a cada peso; a taxa 1e-3 é a recomendada para o T5 (BERT usa 2e-5 a 5e-5, pequena demais aqui); fp16 acelera mas é instável no início, daí o warm-up; o batch de 64 vem do artigo e usamos acumulação porque a GPU não comporta; parar cedo evita decorar o treino; a semente garante repetibilidade.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hiperparâmetro tem uma explicação de uma frase. Se perguntarem o porquê: o AdamW dá um ritmo próprio a cada peso; a taxa 1e-3 é a recomendada para o T5 (BERT usa 2e-5 a 5e-5, pequena demais aqui); fp16 acelera mas é instável no início, daí o warm-up; o batch de 64 vem do artigo e usamos acumulação porque a GPU não comporta; parar cedo evita decorar o treino; a semente garante repetibilidade.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Esses números de BLEU/ROUGE/METEOR/F1 são de um checkpoint parcial, com 7.600 exemplos e 3 épocas, avaliado no conjunto de validação completo do SQuAD. São naturalmente mais baixos que os do artigo, porque o objetivo aqui é validar que o pipeline funciona, não bater os valores finais. O exemplo mostra que o modelo já gera perguntas gramaticais e sobre o tópico certo, mesmo divergindo da referência. Em paralelo, o treino completo com o dataset oficial (87.599 exemplos) está rodando, e a perda de validação já caiu de 2,005 na época 1 pra 1,935 na época 2 e 1,929 na época 3 -- a curva está desacelerando, sinal de que o modelo está se aproximando de um platô nesse regime de hiperparâmetros.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próximos passos são: terminar o treino completo, implementar o TopicQG condicionando a geração por tópico, fazer a avaliação final comparando com os números do artigo e, se der tempo, comparar com LLMs proprietárias como extensão opcional.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Agradecer e abrir para perguntas.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3" name="Text 0"/>
          <p:cNvSpPr txBox="1"/>
          <p:nvPr/>
        </p:nvSpPr>
        <p:spPr>
          <a:xfrm>
            <a:off x="812800" y="1206500"/>
            <a:ext cx="10566400" cy="254000"/>
          </a:xfrm>
          <a:prstGeom prst="rect">
            <a:avLst/>
          </a:prstGeom>
          <a:noFill/>
          <a:ln/>
        </p:spPr>
        <p:txBody>
          <a:bodyPr wrap="square" lIns="0" tIns="0" rIns="0" bIns="0" rtlCol="0" anchor="t"/>
          <a:lstStyle/>
          <a:p>
            <a:pPr algn="l" indent="0" marL="0">
              <a:lnSpc>
                <a:spcPct val="110000"/>
              </a:lnSpc>
              <a:buNone/>
            </a:pPr>
            <a:r>
              <a:rPr lang="en-US" sz="1300" b="1" spc="400" kern="0" dirty="0">
                <a:solidFill>
                  <a:srgbClr val="E8A33D"/>
                </a:solidFill>
                <a:latin typeface="Arial" pitchFamily="34" charset="0"/>
                <a:ea typeface="Arial" pitchFamily="34" charset="-122"/>
                <a:cs typeface="Arial" pitchFamily="34" charset="-120"/>
              </a:rPr>
              <a:t>INTELIGÊNCIA COMPUTACIONAL · SET 2026</a:t>
            </a:r>
            <a:endParaRPr lang="en-US" sz="1300" dirty="0"/>
          </a:p>
        </p:txBody>
      </p:sp>
      <p:sp>
        <p:nvSpPr>
          <p:cNvPr id="4" name="Text 1"/>
          <p:cNvSpPr txBox="1"/>
          <p:nvPr/>
        </p:nvSpPr>
        <p:spPr>
          <a:xfrm>
            <a:off x="812800" y="1651000"/>
            <a:ext cx="10566400" cy="1905000"/>
          </a:xfrm>
          <a:prstGeom prst="rect">
            <a:avLst/>
          </a:prstGeom>
          <a:noFill/>
          <a:ln/>
        </p:spPr>
        <p:txBody>
          <a:bodyPr wrap="square" lIns="0" tIns="0" rIns="0" bIns="0" rtlCol="0" anchor="t"/>
          <a:lstStyle/>
          <a:p>
            <a:pPr algn="l" indent="0" marL="0">
              <a:lnSpc>
                <a:spcPct val="105000"/>
              </a:lnSpc>
              <a:buNone/>
            </a:pPr>
            <a:r>
              <a:rPr lang="en-US" sz="4400" b="1" dirty="0">
                <a:solidFill>
                  <a:srgbClr val="FFFFFF"/>
                </a:solidFill>
                <a:latin typeface="Georgia" pitchFamily="34" charset="0"/>
                <a:ea typeface="Georgia" pitchFamily="34" charset="-122"/>
                <a:cs typeface="Georgia" pitchFamily="34" charset="-120"/>
              </a:rPr>
              <a:t>T-CQG: Geração de Perguntas</a:t>
            </a:r>
            <a:endParaRPr lang="en-US" sz="4400" dirty="0"/>
          </a:p>
          <a:p>
            <a:pPr algn="l" indent="0" marL="0">
              <a:lnSpc>
                <a:spcPct val="105000"/>
              </a:lnSpc>
              <a:buNone/>
            </a:pPr>
            <a:r>
              <a:rPr lang="en-US" sz="4400" b="1" dirty="0">
                <a:solidFill>
                  <a:srgbClr val="FFFFFF"/>
                </a:solidFill>
                <a:latin typeface="Georgia" pitchFamily="34" charset="0"/>
                <a:ea typeface="Georgia" pitchFamily="34" charset="-122"/>
                <a:cs typeface="Georgia" pitchFamily="34" charset="-120"/>
              </a:rPr>
              <a:t>com Tópico Controlado</a:t>
            </a:r>
            <a:endParaRPr lang="en-US" sz="4400" dirty="0"/>
          </a:p>
        </p:txBody>
      </p:sp>
      <p:sp>
        <p:nvSpPr>
          <p:cNvPr id="5" name="Text 2"/>
          <p:cNvSpPr txBox="1"/>
          <p:nvPr/>
        </p:nvSpPr>
        <p:spPr>
          <a:xfrm>
            <a:off x="812800" y="3937000"/>
            <a:ext cx="10566400" cy="381000"/>
          </a:xfrm>
          <a:prstGeom prst="rect">
            <a:avLst/>
          </a:prstGeom>
          <a:noFill/>
          <a:ln/>
        </p:spPr>
        <p:txBody>
          <a:bodyPr wrap="square" lIns="0" tIns="0" rIns="0" bIns="0" rtlCol="0" anchor="t"/>
          <a:lstStyle/>
          <a:p>
            <a:pPr algn="l" indent="0" marL="0">
              <a:lnSpc>
                <a:spcPct val="110000"/>
              </a:lnSpc>
              <a:buNone/>
            </a:pPr>
            <a:r>
              <a:rPr lang="en-US" sz="1800" dirty="0">
                <a:solidFill>
                  <a:srgbClr val="B9C6E8"/>
                </a:solidFill>
                <a:latin typeface="Arial" pitchFamily="34" charset="0"/>
                <a:ea typeface="Arial" pitchFamily="34" charset="-122"/>
                <a:cs typeface="Arial" pitchFamily="34" charset="-120"/>
              </a:rPr>
              <a:t>Reprodução do artigo de Li, Cukurova &amp; Bulathwela — LAK 2025</a:t>
            </a:r>
            <a:endParaRPr lang="en-US" sz="1800" dirty="0"/>
          </a:p>
        </p:txBody>
      </p:sp>
      <p:sp>
        <p:nvSpPr>
          <p:cNvPr id="6" name="Text 3"/>
          <p:cNvSpPr txBox="1"/>
          <p:nvPr/>
        </p:nvSpPr>
        <p:spPr>
          <a:xfrm>
            <a:off x="812800" y="4635500"/>
            <a:ext cx="10566400" cy="317500"/>
          </a:xfrm>
          <a:prstGeom prst="rect">
            <a:avLst/>
          </a:prstGeom>
          <a:noFill/>
          <a:ln/>
        </p:spPr>
        <p:txBody>
          <a:bodyPr wrap="square" lIns="0" tIns="0" rIns="0" bIns="0" rtlCol="0" anchor="t"/>
          <a:lstStyle/>
          <a:p>
            <a:pPr algn="l" indent="0" marL="0">
              <a:lnSpc>
                <a:spcPct val="110000"/>
              </a:lnSpc>
              <a:buNone/>
            </a:pPr>
            <a:r>
              <a:rPr lang="en-US" sz="1600" b="1" dirty="0">
                <a:solidFill>
                  <a:srgbClr val="FFFFFF"/>
                </a:solidFill>
                <a:latin typeface="Arial" pitchFamily="34" charset="0"/>
                <a:ea typeface="Arial" pitchFamily="34" charset="-122"/>
                <a:cs typeface="Arial" pitchFamily="34" charset="-120"/>
              </a:rPr>
              <a:t>Tiago Lima Fraga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2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DESDE A PROPOSTA</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Recapitulando, rapidamente</a:t>
            </a:r>
            <a:endParaRPr lang="en-US" sz="3000" dirty="0"/>
          </a:p>
        </p:txBody>
      </p:sp>
      <p:sp>
        <p:nvSpPr>
          <p:cNvPr id="6" name="Shape 3"/>
          <p:cNvSpPr/>
          <p:nvPr/>
        </p:nvSpPr>
        <p:spPr>
          <a:xfrm>
            <a:off x="812800" y="1841500"/>
            <a:ext cx="5270500" cy="1714500"/>
          </a:xfrm>
          <a:prstGeom prst="roundRect">
            <a:avLst>
              <a:gd name="adj" fmla="val 5926"/>
            </a:avLst>
          </a:prstGeom>
          <a:solidFill>
            <a:srgbClr val="FFFFFF"/>
          </a:solidFill>
          <a:ln w="12700">
            <a:solidFill>
              <a:srgbClr val="D5DDF0"/>
            </a:solidFill>
            <a:prstDash val="solid"/>
          </a:ln>
        </p:spPr>
      </p:sp>
      <p:sp>
        <p:nvSpPr>
          <p:cNvPr id="7" name="Text 4"/>
          <p:cNvSpPr txBox="1"/>
          <p:nvPr/>
        </p:nvSpPr>
        <p:spPr>
          <a:xfrm>
            <a:off x="1016000" y="1981200"/>
            <a:ext cx="508000" cy="444500"/>
          </a:xfrm>
          <a:prstGeom prst="rect">
            <a:avLst/>
          </a:prstGeom>
          <a:noFill/>
          <a:ln/>
        </p:spPr>
        <p:txBody>
          <a:bodyPr wrap="square" lIns="0" tIns="0" rIns="0" bIns="0" rtlCol="0" anchor="t"/>
          <a:lstStyle/>
          <a:p>
            <a:pPr algn="l" indent="0" marL="0">
              <a:lnSpc>
                <a:spcPct val="110000"/>
              </a:lnSpc>
              <a:buNone/>
            </a:pPr>
            <a:r>
              <a:rPr lang="en-US" sz="2800" b="1" dirty="0">
                <a:solidFill>
                  <a:srgbClr val="9A6410"/>
                </a:solidFill>
                <a:latin typeface="Georgia" pitchFamily="34" charset="0"/>
                <a:ea typeface="Georgia" pitchFamily="34" charset="-122"/>
                <a:cs typeface="Georgia" pitchFamily="34" charset="-120"/>
              </a:rPr>
              <a:t>1</a:t>
            </a:r>
            <a:endParaRPr lang="en-US" sz="2800" dirty="0"/>
          </a:p>
        </p:txBody>
      </p:sp>
      <p:sp>
        <p:nvSpPr>
          <p:cNvPr id="8" name="Text 5"/>
          <p:cNvSpPr txBox="1"/>
          <p:nvPr/>
        </p:nvSpPr>
        <p:spPr>
          <a:xfrm>
            <a:off x="1016000" y="2476500"/>
            <a:ext cx="4864100" cy="1016000"/>
          </a:xfrm>
          <a:prstGeom prst="rect">
            <a:avLst/>
          </a:prstGeom>
          <a:noFill/>
          <a:ln/>
        </p:spPr>
        <p:txBody>
          <a:bodyPr wrap="square" lIns="0" tIns="0" rIns="0" bIns="0" rtlCol="0" anchor="t"/>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Dado um contexto e um tópico, o modelo gera uma pergunta focada nele. Usa o T5-small, um modelo de linguagem compacto (~60M parâmetros) — não depende de serviços pagos como ChatGPT ou Claude</a:t>
            </a:r>
            <a:endParaRPr lang="en-US" sz="1300" dirty="0"/>
          </a:p>
        </p:txBody>
      </p:sp>
      <p:sp>
        <p:nvSpPr>
          <p:cNvPr id="9" name="Shape 6"/>
          <p:cNvSpPr/>
          <p:nvPr/>
        </p:nvSpPr>
        <p:spPr>
          <a:xfrm>
            <a:off x="812800" y="3746500"/>
            <a:ext cx="5270500" cy="1714500"/>
          </a:xfrm>
          <a:prstGeom prst="roundRect">
            <a:avLst>
              <a:gd name="adj" fmla="val 5926"/>
            </a:avLst>
          </a:prstGeom>
          <a:solidFill>
            <a:srgbClr val="FFFFFF"/>
          </a:solidFill>
          <a:ln w="12700">
            <a:solidFill>
              <a:srgbClr val="D5DDF0"/>
            </a:solidFill>
            <a:prstDash val="solid"/>
          </a:ln>
        </p:spPr>
      </p:sp>
      <p:sp>
        <p:nvSpPr>
          <p:cNvPr id="10" name="Text 7"/>
          <p:cNvSpPr txBox="1"/>
          <p:nvPr/>
        </p:nvSpPr>
        <p:spPr>
          <a:xfrm>
            <a:off x="1016000" y="3886200"/>
            <a:ext cx="508000" cy="444500"/>
          </a:xfrm>
          <a:prstGeom prst="rect">
            <a:avLst/>
          </a:prstGeom>
          <a:noFill/>
          <a:ln/>
        </p:spPr>
        <p:txBody>
          <a:bodyPr wrap="square" lIns="0" tIns="0" rIns="0" bIns="0" rtlCol="0" anchor="t"/>
          <a:lstStyle/>
          <a:p>
            <a:pPr algn="l" indent="0" marL="0">
              <a:lnSpc>
                <a:spcPct val="110000"/>
              </a:lnSpc>
              <a:buNone/>
            </a:pPr>
            <a:r>
              <a:rPr lang="en-US" sz="2800" b="1" dirty="0">
                <a:solidFill>
                  <a:srgbClr val="9A6410"/>
                </a:solidFill>
                <a:latin typeface="Georgia" pitchFamily="34" charset="0"/>
                <a:ea typeface="Georgia" pitchFamily="34" charset="-122"/>
                <a:cs typeface="Georgia" pitchFamily="34" charset="-120"/>
              </a:rPr>
              <a:t>2</a:t>
            </a:r>
            <a:endParaRPr lang="en-US" sz="2800" dirty="0"/>
          </a:p>
        </p:txBody>
      </p:sp>
      <p:sp>
        <p:nvSpPr>
          <p:cNvPr id="11" name="Text 8"/>
          <p:cNvSpPr txBox="1"/>
          <p:nvPr/>
        </p:nvSpPr>
        <p:spPr>
          <a:xfrm>
            <a:off x="1016000" y="4381500"/>
            <a:ext cx="4864100" cy="1016000"/>
          </a:xfrm>
          <a:prstGeom prst="rect">
            <a:avLst/>
          </a:prstGeom>
          <a:noFill/>
          <a:ln/>
        </p:spPr>
        <p:txBody>
          <a:bodyPr wrap="square" lIns="0" tIns="0" rIns="0" bIns="0" rtlCol="0" anchor="t"/>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Já reproduzimos o baseline: a versão simples do modelo, ainda sem tópico, usada como ponto de comparação — é o que detalhamos a partir daqui</a:t>
            </a:r>
            <a:endParaRPr lang="en-US" sz="1300" dirty="0"/>
          </a:p>
        </p:txBody>
      </p:sp>
      <p:sp>
        <p:nvSpPr>
          <p:cNvPr id="12" name="Shape 9"/>
          <p:cNvSpPr/>
          <p:nvPr/>
        </p:nvSpPr>
        <p:spPr>
          <a:xfrm>
            <a:off x="6337300" y="1841500"/>
            <a:ext cx="5041900" cy="3619500"/>
          </a:xfrm>
          <a:prstGeom prst="roundRect">
            <a:avLst>
              <a:gd name="adj" fmla="val 2807"/>
            </a:avLst>
          </a:prstGeom>
          <a:solidFill>
            <a:srgbClr val="FFFFFF"/>
          </a:solidFill>
          <a:ln w="12700">
            <a:solidFill>
              <a:srgbClr val="D5DDF0"/>
            </a:solidFill>
            <a:prstDash val="solid"/>
          </a:ln>
        </p:spPr>
      </p:sp>
      <p:sp>
        <p:nvSpPr>
          <p:cNvPr id="13" name="Text 10"/>
          <p:cNvSpPr txBox="1"/>
          <p:nvPr/>
        </p:nvSpPr>
        <p:spPr>
          <a:xfrm>
            <a:off x="6540500" y="2006600"/>
            <a:ext cx="4635500" cy="508000"/>
          </a:xfrm>
          <a:prstGeom prst="rect">
            <a:avLst/>
          </a:prstGeom>
          <a:noFill/>
          <a:ln/>
        </p:spPr>
        <p:txBody>
          <a:bodyPr wrap="square" lIns="0" tIns="0" rIns="0" bIns="0" rtlCol="0" anchor="t"/>
          <a:lstStyle/>
          <a:p>
            <a:pPr algn="l" indent="0" marL="0">
              <a:lnSpc>
                <a:spcPct val="110000"/>
              </a:lnSpc>
              <a:buNone/>
            </a:pPr>
            <a:r>
              <a:rPr lang="en-US" sz="1400" b="1" dirty="0">
                <a:solidFill>
                  <a:srgbClr val="1E2761"/>
                </a:solidFill>
                <a:latin typeface="Arial" pitchFamily="34" charset="0"/>
                <a:ea typeface="Arial" pitchFamily="34" charset="-122"/>
                <a:cs typeface="Arial" pitchFamily="34" charset="-120"/>
              </a:rPr>
              <a:t>Novidade desde a proposta: comparamos dois bancos de perguntas</a:t>
            </a:r>
            <a:endParaRPr lang="en-US" sz="1400" dirty="0"/>
          </a:p>
        </p:txBody>
      </p:sp>
      <p:sp>
        <p:nvSpPr>
          <p:cNvPr id="14" name="Text 11"/>
          <p:cNvSpPr txBox="1"/>
          <p:nvPr/>
        </p:nvSpPr>
        <p:spPr>
          <a:xfrm>
            <a:off x="6540500" y="2603500"/>
            <a:ext cx="4635500" cy="2159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 de perguntas com “por quê” / “como”</a:t>
            </a:r>
            <a:endParaRPr lang="en-US" sz="1200" dirty="0"/>
          </a:p>
        </p:txBody>
      </p:sp>
      <p:graphicFrame>
        <p:nvGraphicFramePr>
          <p:cNvPr id="15" name="Chart 0" descr=""/>
          <p:cNvGraphicFramePr/>
          <p:nvPr/>
        </p:nvGraphicFramePr>
        <p:xfrm>
          <a:off x="6540500" y="2857500"/>
          <a:ext cx="4635500" cy="1587500"/>
        </p:xfrm>
        <a:graphic xmlns:a="http://schemas.openxmlformats.org/drawingml/2006/main">
          <a:graphicData uri="http://schemas.openxmlformats.org/drawingml/2006/chart">
            <c:chart xmlns:c="http://schemas.openxmlformats.org/drawingml/2006/chart" r:id="rId1"/>
          </a:graphicData>
        </a:graphic>
      </p:graphicFrame>
      <p:sp>
        <p:nvSpPr>
          <p:cNvPr id="16" name="Text 12"/>
          <p:cNvSpPr txBox="1"/>
          <p:nvPr/>
        </p:nvSpPr>
        <p:spPr>
          <a:xfrm>
            <a:off x="6540500" y="4699000"/>
            <a:ext cx="4635500" cy="571500"/>
          </a:xfrm>
          <a:prstGeom prst="rect">
            <a:avLst/>
          </a:prstGeom>
          <a:noFill/>
          <a:ln/>
        </p:spPr>
        <p:txBody>
          <a:bodyPr wrap="square" lIns="0" tIns="0" rIns="0" bIns="0" rtlCol="0" anchor="t"/>
          <a:lstStyle/>
          <a:p>
            <a:pPr algn="l" indent="0" marL="0">
              <a:lnSpc>
                <a:spcPct val="110000"/>
              </a:lnSpc>
              <a:buNone/>
            </a:pPr>
            <a:r>
              <a:rPr lang="en-US" sz="1400" b="1" dirty="0">
                <a:solidFill>
                  <a:srgbClr val="9A6410"/>
                </a:solidFill>
                <a:latin typeface="Arial" pitchFamily="34" charset="0"/>
                <a:ea typeface="Arial" pitchFamily="34" charset="-122"/>
                <a:cs typeface="Arial" pitchFamily="34" charset="-120"/>
              </a:rPr>
              <a:t>LearningQ: perguntas reais de alunos, ~3× mais abertas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3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ANÁLISE EXPLORATÓRIA · SQUAD</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SQuAD em detalhes</a:t>
            </a:r>
            <a:endParaRPr lang="en-US" sz="3000" dirty="0"/>
          </a:p>
        </p:txBody>
      </p:sp>
      <p:sp>
        <p:nvSpPr>
          <p:cNvPr id="6" name="Shape 3"/>
          <p:cNvSpPr/>
          <p:nvPr/>
        </p:nvSpPr>
        <p:spPr>
          <a:xfrm>
            <a:off x="812800" y="1841500"/>
            <a:ext cx="2209800" cy="1079500"/>
          </a:xfrm>
          <a:prstGeom prst="roundRect">
            <a:avLst>
              <a:gd name="adj" fmla="val 9412"/>
            </a:avLst>
          </a:prstGeom>
          <a:solidFill>
            <a:srgbClr val="FFFFFF"/>
          </a:solidFill>
          <a:ln w="12700">
            <a:solidFill>
              <a:srgbClr val="D5DDF0"/>
            </a:solidFill>
            <a:prstDash val="solid"/>
          </a:ln>
        </p:spPr>
      </p:sp>
      <p:sp>
        <p:nvSpPr>
          <p:cNvPr id="7" name="Text 4"/>
          <p:cNvSpPr txBox="1"/>
          <p:nvPr/>
        </p:nvSpPr>
        <p:spPr>
          <a:xfrm>
            <a:off x="990600" y="1981200"/>
            <a:ext cx="1854200" cy="330200"/>
          </a:xfrm>
          <a:prstGeom prst="rect">
            <a:avLst/>
          </a:prstGeom>
          <a:noFill/>
          <a:ln/>
        </p:spPr>
        <p:txBody>
          <a:bodyPr wrap="square" lIns="0" tIns="0" rIns="0" bIns="0" rtlCol="0" anchor="t"/>
          <a:lstStyle/>
          <a:p>
            <a:pPr algn="l" indent="0" marL="0">
              <a:lnSpc>
                <a:spcPct val="110000"/>
              </a:lnSpc>
              <a:buNone/>
            </a:pPr>
            <a:r>
              <a:rPr lang="en-US" sz="2000" b="1" dirty="0">
                <a:solidFill>
                  <a:srgbClr val="1E2761"/>
                </a:solidFill>
                <a:latin typeface="Georgia" pitchFamily="34" charset="0"/>
                <a:ea typeface="Georgia" pitchFamily="34" charset="-122"/>
                <a:cs typeface="Georgia" pitchFamily="34" charset="-120"/>
              </a:rPr>
              <a:t>120 palavras</a:t>
            </a:r>
            <a:endParaRPr lang="en-US" sz="2000" dirty="0"/>
          </a:p>
        </p:txBody>
      </p:sp>
      <p:sp>
        <p:nvSpPr>
          <p:cNvPr id="8" name="Text 5"/>
          <p:cNvSpPr txBox="1"/>
          <p:nvPr/>
        </p:nvSpPr>
        <p:spPr>
          <a:xfrm>
            <a:off x="990600" y="2324100"/>
            <a:ext cx="1854200" cy="4826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Contexto (~176 tokens)</a:t>
            </a:r>
            <a:endParaRPr lang="en-US" sz="1200" dirty="0"/>
          </a:p>
        </p:txBody>
      </p:sp>
      <p:sp>
        <p:nvSpPr>
          <p:cNvPr id="9" name="Shape 6"/>
          <p:cNvSpPr/>
          <p:nvPr/>
        </p:nvSpPr>
        <p:spPr>
          <a:xfrm>
            <a:off x="3175000" y="1841500"/>
            <a:ext cx="2209800" cy="1079500"/>
          </a:xfrm>
          <a:prstGeom prst="roundRect">
            <a:avLst>
              <a:gd name="adj" fmla="val 9412"/>
            </a:avLst>
          </a:prstGeom>
          <a:solidFill>
            <a:srgbClr val="FFFFFF"/>
          </a:solidFill>
          <a:ln w="12700">
            <a:solidFill>
              <a:srgbClr val="D5DDF0"/>
            </a:solidFill>
            <a:prstDash val="solid"/>
          </a:ln>
        </p:spPr>
      </p:sp>
      <p:sp>
        <p:nvSpPr>
          <p:cNvPr id="10" name="Text 7"/>
          <p:cNvSpPr txBox="1"/>
          <p:nvPr/>
        </p:nvSpPr>
        <p:spPr>
          <a:xfrm>
            <a:off x="3352800" y="1981200"/>
            <a:ext cx="1854200" cy="330200"/>
          </a:xfrm>
          <a:prstGeom prst="rect">
            <a:avLst/>
          </a:prstGeom>
          <a:noFill/>
          <a:ln/>
        </p:spPr>
        <p:txBody>
          <a:bodyPr wrap="square" lIns="0" tIns="0" rIns="0" bIns="0" rtlCol="0" anchor="t"/>
          <a:lstStyle/>
          <a:p>
            <a:pPr algn="l" indent="0" marL="0">
              <a:lnSpc>
                <a:spcPct val="110000"/>
              </a:lnSpc>
              <a:buNone/>
            </a:pPr>
            <a:r>
              <a:rPr lang="en-US" sz="2000" b="1" dirty="0">
                <a:solidFill>
                  <a:srgbClr val="1E2761"/>
                </a:solidFill>
                <a:latin typeface="Georgia" pitchFamily="34" charset="0"/>
                <a:ea typeface="Georgia" pitchFamily="34" charset="-122"/>
                <a:cs typeface="Georgia" pitchFamily="34" charset="-120"/>
              </a:rPr>
              <a:t>10 palavras</a:t>
            </a:r>
            <a:endParaRPr lang="en-US" sz="2000" dirty="0"/>
          </a:p>
        </p:txBody>
      </p:sp>
      <p:sp>
        <p:nvSpPr>
          <p:cNvPr id="11" name="Text 8"/>
          <p:cNvSpPr txBox="1"/>
          <p:nvPr/>
        </p:nvSpPr>
        <p:spPr>
          <a:xfrm>
            <a:off x="3352800" y="2324100"/>
            <a:ext cx="1854200" cy="4826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Pergunta (~15 tokens)</a:t>
            </a:r>
            <a:endParaRPr lang="en-US" sz="1200" dirty="0"/>
          </a:p>
        </p:txBody>
      </p:sp>
      <p:sp>
        <p:nvSpPr>
          <p:cNvPr id="12" name="Shape 9"/>
          <p:cNvSpPr/>
          <p:nvPr/>
        </p:nvSpPr>
        <p:spPr>
          <a:xfrm>
            <a:off x="812800" y="3048000"/>
            <a:ext cx="2209800" cy="1079500"/>
          </a:xfrm>
          <a:prstGeom prst="roundRect">
            <a:avLst>
              <a:gd name="adj" fmla="val 9412"/>
            </a:avLst>
          </a:prstGeom>
          <a:solidFill>
            <a:srgbClr val="FFFFFF"/>
          </a:solidFill>
          <a:ln w="12700">
            <a:solidFill>
              <a:srgbClr val="D5DDF0"/>
            </a:solidFill>
            <a:prstDash val="solid"/>
          </a:ln>
        </p:spPr>
      </p:sp>
      <p:sp>
        <p:nvSpPr>
          <p:cNvPr id="13" name="Text 10"/>
          <p:cNvSpPr txBox="1"/>
          <p:nvPr/>
        </p:nvSpPr>
        <p:spPr>
          <a:xfrm>
            <a:off x="990600" y="3187700"/>
            <a:ext cx="1854200" cy="330200"/>
          </a:xfrm>
          <a:prstGeom prst="rect">
            <a:avLst/>
          </a:prstGeom>
          <a:noFill/>
          <a:ln/>
        </p:spPr>
        <p:txBody>
          <a:bodyPr wrap="square" lIns="0" tIns="0" rIns="0" bIns="0" rtlCol="0" anchor="t"/>
          <a:lstStyle/>
          <a:p>
            <a:pPr algn="l" indent="0" marL="0">
              <a:lnSpc>
                <a:spcPct val="110000"/>
              </a:lnSpc>
              <a:buNone/>
            </a:pPr>
            <a:r>
              <a:rPr lang="en-US" sz="2000" b="1" dirty="0">
                <a:solidFill>
                  <a:srgbClr val="1E2761"/>
                </a:solidFill>
                <a:latin typeface="Georgia" pitchFamily="34" charset="0"/>
                <a:ea typeface="Georgia" pitchFamily="34" charset="-122"/>
                <a:cs typeface="Georgia" pitchFamily="34" charset="-120"/>
              </a:rPr>
              <a:t>3 palavras</a:t>
            </a:r>
            <a:endParaRPr lang="en-US" sz="2000" dirty="0"/>
          </a:p>
        </p:txBody>
      </p:sp>
      <p:sp>
        <p:nvSpPr>
          <p:cNvPr id="14" name="Text 11"/>
          <p:cNvSpPr txBox="1"/>
          <p:nvPr/>
        </p:nvSpPr>
        <p:spPr>
          <a:xfrm>
            <a:off x="990600" y="3530600"/>
            <a:ext cx="1854200" cy="4826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Resposta (span extraído)</a:t>
            </a:r>
            <a:endParaRPr lang="en-US" sz="1200" dirty="0"/>
          </a:p>
        </p:txBody>
      </p:sp>
      <p:sp>
        <p:nvSpPr>
          <p:cNvPr id="15" name="Shape 12"/>
          <p:cNvSpPr/>
          <p:nvPr/>
        </p:nvSpPr>
        <p:spPr>
          <a:xfrm>
            <a:off x="3175000" y="3048000"/>
            <a:ext cx="2209800" cy="1079500"/>
          </a:xfrm>
          <a:prstGeom prst="roundRect">
            <a:avLst>
              <a:gd name="adj" fmla="val 9412"/>
            </a:avLst>
          </a:prstGeom>
          <a:solidFill>
            <a:srgbClr val="FFFFFF"/>
          </a:solidFill>
          <a:ln w="12700">
            <a:solidFill>
              <a:srgbClr val="D5DDF0"/>
            </a:solidFill>
            <a:prstDash val="solid"/>
          </a:ln>
        </p:spPr>
      </p:sp>
      <p:sp>
        <p:nvSpPr>
          <p:cNvPr id="16" name="Text 13"/>
          <p:cNvSpPr txBox="1"/>
          <p:nvPr/>
        </p:nvSpPr>
        <p:spPr>
          <a:xfrm>
            <a:off x="3352800" y="3187700"/>
            <a:ext cx="1854200" cy="330200"/>
          </a:xfrm>
          <a:prstGeom prst="rect">
            <a:avLst/>
          </a:prstGeom>
          <a:noFill/>
          <a:ln/>
        </p:spPr>
        <p:txBody>
          <a:bodyPr wrap="square" lIns="0" tIns="0" rIns="0" bIns="0" rtlCol="0" anchor="t"/>
          <a:lstStyle/>
          <a:p>
            <a:pPr algn="l" indent="0" marL="0">
              <a:lnSpc>
                <a:spcPct val="110000"/>
              </a:lnSpc>
              <a:buNone/>
            </a:pPr>
            <a:r>
              <a:rPr lang="en-US" sz="2000" b="1" dirty="0">
                <a:solidFill>
                  <a:srgbClr val="1E2761"/>
                </a:solidFill>
                <a:latin typeface="Georgia" pitchFamily="34" charset="0"/>
                <a:ea typeface="Georgia" pitchFamily="34" charset="-122"/>
                <a:cs typeface="Georgia" pitchFamily="34" charset="-120"/>
              </a:rPr>
              <a:t>0,26%</a:t>
            </a:r>
            <a:endParaRPr lang="en-US" sz="2000" dirty="0"/>
          </a:p>
        </p:txBody>
      </p:sp>
      <p:sp>
        <p:nvSpPr>
          <p:cNvPr id="17" name="Text 14"/>
          <p:cNvSpPr txBox="1"/>
          <p:nvPr/>
        </p:nvSpPr>
        <p:spPr>
          <a:xfrm>
            <a:off x="3352800" y="3530600"/>
            <a:ext cx="1854200" cy="4826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Contextos truncados (&gt;512 tokens)</a:t>
            </a:r>
            <a:endParaRPr lang="en-US" sz="1200" dirty="0"/>
          </a:p>
        </p:txBody>
      </p:sp>
      <p:sp>
        <p:nvSpPr>
          <p:cNvPr id="18" name="Shape 15"/>
          <p:cNvSpPr/>
          <p:nvPr/>
        </p:nvSpPr>
        <p:spPr>
          <a:xfrm>
            <a:off x="812800" y="4254500"/>
            <a:ext cx="4572000" cy="1460500"/>
          </a:xfrm>
          <a:prstGeom prst="roundRect">
            <a:avLst>
              <a:gd name="adj" fmla="val 6957"/>
            </a:avLst>
          </a:prstGeom>
          <a:solidFill>
            <a:srgbClr val="1E2761"/>
          </a:solidFill>
          <a:ln w="12700">
            <a:solidFill>
              <a:srgbClr val="1E2761"/>
            </a:solidFill>
            <a:prstDash val="solid"/>
          </a:ln>
        </p:spPr>
      </p:sp>
      <p:sp>
        <p:nvSpPr>
          <p:cNvPr id="19" name="Text 16"/>
          <p:cNvSpPr txBox="1"/>
          <p:nvPr/>
        </p:nvSpPr>
        <p:spPr>
          <a:xfrm>
            <a:off x="1016000" y="4381500"/>
            <a:ext cx="4165600" cy="508000"/>
          </a:xfrm>
          <a:prstGeom prst="rect">
            <a:avLst/>
          </a:prstGeom>
          <a:noFill/>
          <a:ln/>
        </p:spPr>
        <p:txBody>
          <a:bodyPr wrap="square" lIns="0" tIns="0" rIns="0" bIns="0" rtlCol="0" anchor="t"/>
          <a:lstStyle/>
          <a:p>
            <a:pPr algn="l" indent="0" marL="0">
              <a:lnSpc>
                <a:spcPct val="110000"/>
              </a:lnSpc>
              <a:buNone/>
            </a:pPr>
            <a:r>
              <a:rPr lang="en-US" sz="2800" b="1" dirty="0">
                <a:solidFill>
                  <a:srgbClr val="E8A33D"/>
                </a:solidFill>
                <a:latin typeface="Georgia" pitchFamily="34" charset="0"/>
                <a:ea typeface="Georgia" pitchFamily="34" charset="-122"/>
                <a:cs typeface="Georgia" pitchFamily="34" charset="-120"/>
              </a:rPr>
              <a:t>4,6</a:t>
            </a:r>
            <a:endParaRPr lang="en-US" sz="2800" dirty="0"/>
          </a:p>
        </p:txBody>
      </p:sp>
      <p:sp>
        <p:nvSpPr>
          <p:cNvPr id="20" name="Text 17"/>
          <p:cNvSpPr txBox="1"/>
          <p:nvPr/>
        </p:nvSpPr>
        <p:spPr>
          <a:xfrm>
            <a:off x="1016000" y="4889500"/>
            <a:ext cx="4165600" cy="317500"/>
          </a:xfrm>
          <a:prstGeom prst="rect">
            <a:avLst/>
          </a:prstGeom>
          <a:noFill/>
          <a:ln/>
        </p:spPr>
        <p:txBody>
          <a:bodyPr wrap="square" lIns="0" tIns="0" rIns="0" bIns="0" rtlCol="0" anchor="t"/>
          <a:lstStyle/>
          <a:p>
            <a:pPr algn="l" indent="0" marL="0">
              <a:lnSpc>
                <a:spcPct val="110000"/>
              </a:lnSpc>
              <a:buNone/>
            </a:pPr>
            <a:r>
              <a:rPr lang="en-US" sz="1300" dirty="0">
                <a:solidFill>
                  <a:srgbClr val="FFFFFF"/>
                </a:solidFill>
                <a:latin typeface="Arial" pitchFamily="34" charset="0"/>
                <a:ea typeface="Arial" pitchFamily="34" charset="-122"/>
                <a:cs typeface="Arial" pitchFamily="34" charset="-120"/>
              </a:rPr>
              <a:t>perguntas por parágrafo, em média</a:t>
            </a:r>
            <a:endParaRPr lang="en-US" sz="1300" dirty="0"/>
          </a:p>
        </p:txBody>
      </p:sp>
      <p:sp>
        <p:nvSpPr>
          <p:cNvPr id="21" name="Text 18"/>
          <p:cNvSpPr txBox="1"/>
          <p:nvPr/>
        </p:nvSpPr>
        <p:spPr>
          <a:xfrm>
            <a:off x="1016000" y="5270500"/>
            <a:ext cx="4165600" cy="317500"/>
          </a:xfrm>
          <a:prstGeom prst="rect">
            <a:avLst/>
          </a:prstGeom>
          <a:noFill/>
          <a:ln/>
        </p:spPr>
        <p:txBody>
          <a:bodyPr wrap="square" lIns="0" tIns="0" rIns="0" bIns="0" rtlCol="0" anchor="t"/>
          <a:lstStyle/>
          <a:p>
            <a:pPr algn="l" indent="0" marL="0">
              <a:lnSpc>
                <a:spcPct val="110000"/>
              </a:lnSpc>
              <a:buNone/>
            </a:pPr>
            <a:r>
              <a:rPr lang="en-US" sz="1200" dirty="0">
                <a:solidFill>
                  <a:srgbClr val="B9C6E8"/>
                </a:solidFill>
                <a:latin typeface="Arial" pitchFamily="34" charset="0"/>
                <a:ea typeface="Arial" pitchFamily="34" charset="-122"/>
                <a:cs typeface="Arial" pitchFamily="34" charset="-120"/>
              </a:rPr>
              <a:t>87.599 perguntas ÷ 18.891 parágrafos únicos</a:t>
            </a:r>
            <a:endParaRPr lang="en-US" sz="1200" dirty="0"/>
          </a:p>
        </p:txBody>
      </p:sp>
      <p:sp>
        <p:nvSpPr>
          <p:cNvPr id="22" name="Shape 19"/>
          <p:cNvSpPr/>
          <p:nvPr/>
        </p:nvSpPr>
        <p:spPr>
          <a:xfrm>
            <a:off x="5638800" y="1841500"/>
            <a:ext cx="5740400" cy="3873500"/>
          </a:xfrm>
          <a:prstGeom prst="roundRect">
            <a:avLst>
              <a:gd name="adj" fmla="val 2623"/>
            </a:avLst>
          </a:prstGeom>
          <a:solidFill>
            <a:srgbClr val="FFFFFF"/>
          </a:solidFill>
          <a:ln w="12700">
            <a:solidFill>
              <a:srgbClr val="D5DDF0"/>
            </a:solidFill>
            <a:prstDash val="solid"/>
          </a:ln>
        </p:spPr>
      </p:sp>
      <p:sp>
        <p:nvSpPr>
          <p:cNvPr id="23" name="Text 20"/>
          <p:cNvSpPr txBox="1"/>
          <p:nvPr/>
        </p:nvSpPr>
        <p:spPr>
          <a:xfrm>
            <a:off x="5842000" y="1968500"/>
            <a:ext cx="5334000" cy="508000"/>
          </a:xfrm>
          <a:prstGeom prst="rect">
            <a:avLst/>
          </a:prstGeom>
          <a:noFill/>
          <a:ln/>
        </p:spPr>
        <p:txBody>
          <a:bodyPr wrap="square" lIns="0" tIns="0" rIns="0" bIns="0" rtlCol="0" anchor="t"/>
          <a:lstStyle/>
          <a:p>
            <a:pPr algn="l" indent="0" marL="0">
              <a:lnSpc>
                <a:spcPct val="110000"/>
              </a:lnSpc>
              <a:buNone/>
            </a:pPr>
            <a:r>
              <a:rPr lang="en-US" sz="1300" b="1" dirty="0">
                <a:solidFill>
                  <a:srgbClr val="1E2761"/>
                </a:solidFill>
                <a:latin typeface="Arial" pitchFamily="34" charset="0"/>
                <a:ea typeface="Arial" pitchFamily="34" charset="-122"/>
                <a:cs typeface="Arial" pitchFamily="34" charset="-120"/>
              </a:rPr>
              <a:t>Distribuição por tipo de pergunta (primeira palavra) — SQuAD</a:t>
            </a:r>
            <a:endParaRPr lang="en-US" sz="1300" dirty="0"/>
          </a:p>
        </p:txBody>
      </p:sp>
      <p:graphicFrame>
        <p:nvGraphicFramePr>
          <p:cNvPr id="24" name="Chart 0" descr=""/>
          <p:cNvGraphicFramePr/>
          <p:nvPr/>
        </p:nvGraphicFramePr>
        <p:xfrm>
          <a:off x="5842000" y="2540000"/>
          <a:ext cx="5334000" cy="31115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4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ANÁLISE EXPLORATÓRIA · LEARNINGQ</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LearningQ em detalhes</a:t>
            </a:r>
            <a:endParaRPr lang="en-US" sz="3000" dirty="0"/>
          </a:p>
        </p:txBody>
      </p:sp>
      <p:sp>
        <p:nvSpPr>
          <p:cNvPr id="6" name="Shape 3"/>
          <p:cNvSpPr/>
          <p:nvPr/>
        </p:nvSpPr>
        <p:spPr>
          <a:xfrm>
            <a:off x="812800" y="1841500"/>
            <a:ext cx="2209800" cy="1079500"/>
          </a:xfrm>
          <a:prstGeom prst="roundRect">
            <a:avLst>
              <a:gd name="adj" fmla="val 9412"/>
            </a:avLst>
          </a:prstGeom>
          <a:solidFill>
            <a:srgbClr val="FFFFFF"/>
          </a:solidFill>
          <a:ln w="12700">
            <a:solidFill>
              <a:srgbClr val="D5DDF0"/>
            </a:solidFill>
            <a:prstDash val="solid"/>
          </a:ln>
        </p:spPr>
      </p:sp>
      <p:sp>
        <p:nvSpPr>
          <p:cNvPr id="7" name="Text 4"/>
          <p:cNvSpPr txBox="1"/>
          <p:nvPr/>
        </p:nvSpPr>
        <p:spPr>
          <a:xfrm>
            <a:off x="990600" y="1981200"/>
            <a:ext cx="1854200" cy="330200"/>
          </a:xfrm>
          <a:prstGeom prst="rect">
            <a:avLst/>
          </a:prstGeom>
          <a:noFill/>
          <a:ln/>
        </p:spPr>
        <p:txBody>
          <a:bodyPr wrap="square" lIns="0" tIns="0" rIns="0" bIns="0" rtlCol="0" anchor="t"/>
          <a:lstStyle/>
          <a:p>
            <a:pPr algn="l" indent="0" marL="0">
              <a:lnSpc>
                <a:spcPct val="110000"/>
              </a:lnSpc>
              <a:buNone/>
            </a:pPr>
            <a:r>
              <a:rPr lang="en-US" sz="2000" b="1" dirty="0">
                <a:solidFill>
                  <a:srgbClr val="1E2761"/>
                </a:solidFill>
                <a:latin typeface="Georgia" pitchFamily="34" charset="0"/>
                <a:ea typeface="Georgia" pitchFamily="34" charset="-122"/>
                <a:cs typeface="Georgia" pitchFamily="34" charset="-120"/>
              </a:rPr>
              <a:t>66 palavras</a:t>
            </a:r>
            <a:endParaRPr lang="en-US" sz="2000" dirty="0"/>
          </a:p>
        </p:txBody>
      </p:sp>
      <p:sp>
        <p:nvSpPr>
          <p:cNvPr id="8" name="Text 5"/>
          <p:cNvSpPr txBox="1"/>
          <p:nvPr/>
        </p:nvSpPr>
        <p:spPr>
          <a:xfrm>
            <a:off x="990600" y="2324100"/>
            <a:ext cx="1854200" cy="4826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Contexto — questionsrc (~89 tokens)</a:t>
            </a:r>
            <a:endParaRPr lang="en-US" sz="1200" dirty="0"/>
          </a:p>
        </p:txBody>
      </p:sp>
      <p:sp>
        <p:nvSpPr>
          <p:cNvPr id="9" name="Shape 6"/>
          <p:cNvSpPr/>
          <p:nvPr/>
        </p:nvSpPr>
        <p:spPr>
          <a:xfrm>
            <a:off x="3175000" y="1841500"/>
            <a:ext cx="2209800" cy="1079500"/>
          </a:xfrm>
          <a:prstGeom prst="roundRect">
            <a:avLst>
              <a:gd name="adj" fmla="val 9412"/>
            </a:avLst>
          </a:prstGeom>
          <a:solidFill>
            <a:srgbClr val="FFFFFF"/>
          </a:solidFill>
          <a:ln w="12700">
            <a:solidFill>
              <a:srgbClr val="D5DDF0"/>
            </a:solidFill>
            <a:prstDash val="solid"/>
          </a:ln>
        </p:spPr>
      </p:sp>
      <p:sp>
        <p:nvSpPr>
          <p:cNvPr id="10" name="Text 7"/>
          <p:cNvSpPr txBox="1"/>
          <p:nvPr/>
        </p:nvSpPr>
        <p:spPr>
          <a:xfrm>
            <a:off x="3352800" y="1981200"/>
            <a:ext cx="1854200" cy="330200"/>
          </a:xfrm>
          <a:prstGeom prst="rect">
            <a:avLst/>
          </a:prstGeom>
          <a:noFill/>
          <a:ln/>
        </p:spPr>
        <p:txBody>
          <a:bodyPr wrap="square" lIns="0" tIns="0" rIns="0" bIns="0" rtlCol="0" anchor="t"/>
          <a:lstStyle/>
          <a:p>
            <a:pPr algn="l" indent="0" marL="0">
              <a:lnSpc>
                <a:spcPct val="110000"/>
              </a:lnSpc>
              <a:buNone/>
            </a:pPr>
            <a:r>
              <a:rPr lang="en-US" sz="2000" b="1" dirty="0">
                <a:solidFill>
                  <a:srgbClr val="1E2761"/>
                </a:solidFill>
                <a:latin typeface="Georgia" pitchFamily="34" charset="0"/>
                <a:ea typeface="Georgia" pitchFamily="34" charset="-122"/>
                <a:cs typeface="Georgia" pitchFamily="34" charset="-120"/>
              </a:rPr>
              <a:t>16,5 palavras</a:t>
            </a:r>
            <a:endParaRPr lang="en-US" sz="2000" dirty="0"/>
          </a:p>
        </p:txBody>
      </p:sp>
      <p:sp>
        <p:nvSpPr>
          <p:cNvPr id="11" name="Text 8"/>
          <p:cNvSpPr txBox="1"/>
          <p:nvPr/>
        </p:nvSpPr>
        <p:spPr>
          <a:xfrm>
            <a:off x="3352800" y="2324100"/>
            <a:ext cx="1854200" cy="4826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Pergunta (~24 tokens)</a:t>
            </a:r>
            <a:endParaRPr lang="en-US" sz="1200" dirty="0"/>
          </a:p>
        </p:txBody>
      </p:sp>
      <p:sp>
        <p:nvSpPr>
          <p:cNvPr id="12" name="Shape 9"/>
          <p:cNvSpPr/>
          <p:nvPr/>
        </p:nvSpPr>
        <p:spPr>
          <a:xfrm>
            <a:off x="812800" y="3048000"/>
            <a:ext cx="2209800" cy="1079500"/>
          </a:xfrm>
          <a:prstGeom prst="roundRect">
            <a:avLst>
              <a:gd name="adj" fmla="val 9412"/>
            </a:avLst>
          </a:prstGeom>
          <a:solidFill>
            <a:srgbClr val="FFFFFF"/>
          </a:solidFill>
          <a:ln w="12700">
            <a:solidFill>
              <a:srgbClr val="D5DDF0"/>
            </a:solidFill>
            <a:prstDash val="solid"/>
          </a:ln>
        </p:spPr>
      </p:sp>
      <p:sp>
        <p:nvSpPr>
          <p:cNvPr id="13" name="Text 10"/>
          <p:cNvSpPr txBox="1"/>
          <p:nvPr/>
        </p:nvSpPr>
        <p:spPr>
          <a:xfrm>
            <a:off x="990600" y="3187700"/>
            <a:ext cx="1854200" cy="330200"/>
          </a:xfrm>
          <a:prstGeom prst="rect">
            <a:avLst/>
          </a:prstGeom>
          <a:noFill/>
          <a:ln/>
        </p:spPr>
        <p:txBody>
          <a:bodyPr wrap="square" lIns="0" tIns="0" rIns="0" bIns="0" rtlCol="0" anchor="t"/>
          <a:lstStyle/>
          <a:p>
            <a:pPr algn="l" indent="0" marL="0">
              <a:lnSpc>
                <a:spcPct val="110000"/>
              </a:lnSpc>
              <a:buNone/>
            </a:pPr>
            <a:r>
              <a:rPr lang="en-US" sz="2000" b="1" dirty="0">
                <a:solidFill>
                  <a:srgbClr val="1E2761"/>
                </a:solidFill>
                <a:latin typeface="Georgia" pitchFamily="34" charset="0"/>
                <a:ea typeface="Georgia" pitchFamily="34" charset="-122"/>
                <a:cs typeface="Georgia" pitchFamily="34" charset="-120"/>
              </a:rPr>
              <a:t>não anotada</a:t>
            </a:r>
            <a:endParaRPr lang="en-US" sz="2000" dirty="0"/>
          </a:p>
        </p:txBody>
      </p:sp>
      <p:sp>
        <p:nvSpPr>
          <p:cNvPr id="14" name="Text 11"/>
          <p:cNvSpPr txBox="1"/>
          <p:nvPr/>
        </p:nvSpPr>
        <p:spPr>
          <a:xfrm>
            <a:off x="990600" y="3530600"/>
            <a:ext cx="1854200" cy="4826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Resposta (sem span extraído)</a:t>
            </a:r>
            <a:endParaRPr lang="en-US" sz="1200" dirty="0"/>
          </a:p>
        </p:txBody>
      </p:sp>
      <p:sp>
        <p:nvSpPr>
          <p:cNvPr id="15" name="Shape 12"/>
          <p:cNvSpPr/>
          <p:nvPr/>
        </p:nvSpPr>
        <p:spPr>
          <a:xfrm>
            <a:off x="3175000" y="3048000"/>
            <a:ext cx="2209800" cy="1079500"/>
          </a:xfrm>
          <a:prstGeom prst="roundRect">
            <a:avLst>
              <a:gd name="adj" fmla="val 9412"/>
            </a:avLst>
          </a:prstGeom>
          <a:solidFill>
            <a:srgbClr val="FFFFFF"/>
          </a:solidFill>
          <a:ln w="12700">
            <a:solidFill>
              <a:srgbClr val="D5DDF0"/>
            </a:solidFill>
            <a:prstDash val="solid"/>
          </a:ln>
        </p:spPr>
      </p:sp>
      <p:sp>
        <p:nvSpPr>
          <p:cNvPr id="16" name="Text 13"/>
          <p:cNvSpPr txBox="1"/>
          <p:nvPr/>
        </p:nvSpPr>
        <p:spPr>
          <a:xfrm>
            <a:off x="3352800" y="3187700"/>
            <a:ext cx="1854200" cy="330200"/>
          </a:xfrm>
          <a:prstGeom prst="rect">
            <a:avLst/>
          </a:prstGeom>
          <a:noFill/>
          <a:ln/>
        </p:spPr>
        <p:txBody>
          <a:bodyPr wrap="square" lIns="0" tIns="0" rIns="0" bIns="0" rtlCol="0" anchor="t"/>
          <a:lstStyle/>
          <a:p>
            <a:pPr algn="l" indent="0" marL="0">
              <a:lnSpc>
                <a:spcPct val="110000"/>
              </a:lnSpc>
              <a:buNone/>
            </a:pPr>
            <a:r>
              <a:rPr lang="en-US" sz="2000" b="1" dirty="0">
                <a:solidFill>
                  <a:srgbClr val="1E2761"/>
                </a:solidFill>
                <a:latin typeface="Georgia" pitchFamily="34" charset="0"/>
                <a:ea typeface="Georgia" pitchFamily="34" charset="-122"/>
                <a:cs typeface="Georgia" pitchFamily="34" charset="-120"/>
              </a:rPr>
              <a:t>0,9%</a:t>
            </a:r>
            <a:endParaRPr lang="en-US" sz="2000" dirty="0"/>
          </a:p>
        </p:txBody>
      </p:sp>
      <p:sp>
        <p:nvSpPr>
          <p:cNvPr id="17" name="Text 14"/>
          <p:cNvSpPr txBox="1"/>
          <p:nvPr/>
        </p:nvSpPr>
        <p:spPr>
          <a:xfrm>
            <a:off x="3352800" y="3530600"/>
            <a:ext cx="1854200" cy="4826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Contextos truncados (&gt;512 tokens)</a:t>
            </a:r>
            <a:endParaRPr lang="en-US" sz="1200" dirty="0"/>
          </a:p>
        </p:txBody>
      </p:sp>
      <p:sp>
        <p:nvSpPr>
          <p:cNvPr id="18" name="Shape 15"/>
          <p:cNvSpPr/>
          <p:nvPr/>
        </p:nvSpPr>
        <p:spPr>
          <a:xfrm>
            <a:off x="812800" y="4254500"/>
            <a:ext cx="4572000" cy="1460500"/>
          </a:xfrm>
          <a:prstGeom prst="roundRect">
            <a:avLst>
              <a:gd name="adj" fmla="val 6957"/>
            </a:avLst>
          </a:prstGeom>
          <a:solidFill>
            <a:srgbClr val="1E2761"/>
          </a:solidFill>
          <a:ln w="12700">
            <a:solidFill>
              <a:srgbClr val="1E2761"/>
            </a:solidFill>
            <a:prstDash val="solid"/>
          </a:ln>
        </p:spPr>
      </p:sp>
      <p:sp>
        <p:nvSpPr>
          <p:cNvPr id="19" name="Text 16"/>
          <p:cNvSpPr txBox="1"/>
          <p:nvPr/>
        </p:nvSpPr>
        <p:spPr>
          <a:xfrm>
            <a:off x="1016000" y="4381500"/>
            <a:ext cx="4165600" cy="508000"/>
          </a:xfrm>
          <a:prstGeom prst="rect">
            <a:avLst/>
          </a:prstGeom>
          <a:noFill/>
          <a:ln/>
        </p:spPr>
        <p:txBody>
          <a:bodyPr wrap="square" lIns="0" tIns="0" rIns="0" bIns="0" rtlCol="0" anchor="t"/>
          <a:lstStyle/>
          <a:p>
            <a:pPr algn="l" indent="0" marL="0">
              <a:lnSpc>
                <a:spcPct val="110000"/>
              </a:lnSpc>
              <a:buNone/>
            </a:pPr>
            <a:r>
              <a:rPr lang="en-US" sz="2800" b="1" dirty="0">
                <a:solidFill>
                  <a:srgbClr val="E8A33D"/>
                </a:solidFill>
                <a:latin typeface="Georgia" pitchFamily="34" charset="0"/>
                <a:ea typeface="Georgia" pitchFamily="34" charset="-122"/>
                <a:cs typeface="Georgia" pitchFamily="34" charset="-120"/>
              </a:rPr>
              <a:t>37,5%</a:t>
            </a:r>
            <a:endParaRPr lang="en-US" sz="2800" dirty="0"/>
          </a:p>
        </p:txBody>
      </p:sp>
      <p:sp>
        <p:nvSpPr>
          <p:cNvPr id="20" name="Text 17"/>
          <p:cNvSpPr txBox="1"/>
          <p:nvPr/>
        </p:nvSpPr>
        <p:spPr>
          <a:xfrm>
            <a:off x="1016000" y="4889500"/>
            <a:ext cx="4165600" cy="317500"/>
          </a:xfrm>
          <a:prstGeom prst="rect">
            <a:avLst/>
          </a:prstGeom>
          <a:noFill/>
          <a:ln/>
        </p:spPr>
        <p:txBody>
          <a:bodyPr wrap="square" lIns="0" tIns="0" rIns="0" bIns="0" rtlCol="0" anchor="t"/>
          <a:lstStyle/>
          <a:p>
            <a:pPr algn="l" indent="0" marL="0">
              <a:lnSpc>
                <a:spcPct val="110000"/>
              </a:lnSpc>
              <a:buNone/>
            </a:pPr>
            <a:r>
              <a:rPr lang="en-US" sz="1300" dirty="0">
                <a:solidFill>
                  <a:srgbClr val="FFFFFF"/>
                </a:solidFill>
                <a:latin typeface="Arial" pitchFamily="34" charset="0"/>
                <a:ea typeface="Arial" pitchFamily="34" charset="-122"/>
                <a:cs typeface="Arial" pitchFamily="34" charset="-120"/>
              </a:rPr>
              <a:t>das perguntas contêm “por quê” ou “como”</a:t>
            </a:r>
            <a:endParaRPr lang="en-US" sz="1300" dirty="0"/>
          </a:p>
        </p:txBody>
      </p:sp>
      <p:sp>
        <p:nvSpPr>
          <p:cNvPr id="21" name="Text 18"/>
          <p:cNvSpPr txBox="1"/>
          <p:nvPr/>
        </p:nvSpPr>
        <p:spPr>
          <a:xfrm>
            <a:off x="1016000" y="5270500"/>
            <a:ext cx="4165600" cy="317500"/>
          </a:xfrm>
          <a:prstGeom prst="rect">
            <a:avLst/>
          </a:prstGeom>
          <a:noFill/>
          <a:ln/>
        </p:spPr>
        <p:txBody>
          <a:bodyPr wrap="square" lIns="0" tIns="0" rIns="0" bIns="0" rtlCol="0" anchor="t"/>
          <a:lstStyle/>
          <a:p>
            <a:pPr algn="l" indent="0" marL="0">
              <a:lnSpc>
                <a:spcPct val="110000"/>
              </a:lnSpc>
              <a:buNone/>
            </a:pPr>
            <a:r>
              <a:rPr lang="en-US" sz="1200" dirty="0">
                <a:solidFill>
                  <a:srgbClr val="B9C6E8"/>
                </a:solidFill>
                <a:latin typeface="Arial" pitchFamily="34" charset="0"/>
                <a:ea typeface="Arial" pitchFamily="34" charset="-122"/>
                <a:cs typeface="Arial" pitchFamily="34" charset="-120"/>
              </a:rPr>
              <a:t>vs. 12,3% no SQuAD (slide 3)</a:t>
            </a:r>
            <a:endParaRPr lang="en-US" sz="1200" dirty="0"/>
          </a:p>
        </p:txBody>
      </p:sp>
      <p:sp>
        <p:nvSpPr>
          <p:cNvPr id="22" name="Shape 19"/>
          <p:cNvSpPr/>
          <p:nvPr/>
        </p:nvSpPr>
        <p:spPr>
          <a:xfrm>
            <a:off x="5638800" y="1841500"/>
            <a:ext cx="5740400" cy="3873500"/>
          </a:xfrm>
          <a:prstGeom prst="roundRect">
            <a:avLst>
              <a:gd name="adj" fmla="val 2623"/>
            </a:avLst>
          </a:prstGeom>
          <a:solidFill>
            <a:srgbClr val="FFFFFF"/>
          </a:solidFill>
          <a:ln w="12700">
            <a:solidFill>
              <a:srgbClr val="D5DDF0"/>
            </a:solidFill>
            <a:prstDash val="solid"/>
          </a:ln>
        </p:spPr>
      </p:sp>
      <p:sp>
        <p:nvSpPr>
          <p:cNvPr id="23" name="Text 20"/>
          <p:cNvSpPr txBox="1"/>
          <p:nvPr/>
        </p:nvSpPr>
        <p:spPr>
          <a:xfrm>
            <a:off x="5842000" y="1968500"/>
            <a:ext cx="5334000" cy="508000"/>
          </a:xfrm>
          <a:prstGeom prst="rect">
            <a:avLst/>
          </a:prstGeom>
          <a:noFill/>
          <a:ln/>
        </p:spPr>
        <p:txBody>
          <a:bodyPr wrap="square" lIns="0" tIns="0" rIns="0" bIns="0" rtlCol="0" anchor="t"/>
          <a:lstStyle/>
          <a:p>
            <a:pPr algn="l" indent="0" marL="0">
              <a:lnSpc>
                <a:spcPct val="110000"/>
              </a:lnSpc>
              <a:buNone/>
            </a:pPr>
            <a:r>
              <a:rPr lang="en-US" sz="1300" b="1" dirty="0">
                <a:solidFill>
                  <a:srgbClr val="1E2761"/>
                </a:solidFill>
                <a:latin typeface="Arial" pitchFamily="34" charset="0"/>
                <a:ea typeface="Arial" pitchFamily="34" charset="-122"/>
                <a:cs typeface="Arial" pitchFamily="34" charset="-120"/>
              </a:rPr>
              <a:t>Distribuição por tipo de pergunta (primeira palavra) — LearningQ</a:t>
            </a:r>
            <a:endParaRPr lang="en-US" sz="1300" dirty="0"/>
          </a:p>
        </p:txBody>
      </p:sp>
      <p:graphicFrame>
        <p:nvGraphicFramePr>
          <p:cNvPr id="24" name="Chart 0" descr=""/>
          <p:cNvGraphicFramePr/>
          <p:nvPr/>
        </p:nvGraphicFramePr>
        <p:xfrm>
          <a:off x="5842000" y="2540000"/>
          <a:ext cx="5334000" cy="31115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5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ANÁLISE EXPLORATÓRIA</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Exemplos reais, linha a linha</a:t>
            </a:r>
            <a:endParaRPr lang="en-US" sz="3000" dirty="0"/>
          </a:p>
        </p:txBody>
      </p:sp>
      <p:sp>
        <p:nvSpPr>
          <p:cNvPr id="6" name="Shape 3"/>
          <p:cNvSpPr/>
          <p:nvPr/>
        </p:nvSpPr>
        <p:spPr>
          <a:xfrm>
            <a:off x="812800" y="1841500"/>
            <a:ext cx="5156200" cy="3937000"/>
          </a:xfrm>
          <a:prstGeom prst="roundRect">
            <a:avLst>
              <a:gd name="adj" fmla="val 2581"/>
            </a:avLst>
          </a:prstGeom>
          <a:solidFill>
            <a:srgbClr val="FFFFFF"/>
          </a:solidFill>
          <a:ln w="12700">
            <a:solidFill>
              <a:srgbClr val="D5DDF0"/>
            </a:solidFill>
            <a:prstDash val="solid"/>
          </a:ln>
        </p:spPr>
      </p:sp>
      <p:sp>
        <p:nvSpPr>
          <p:cNvPr id="7" name="Text 4"/>
          <p:cNvSpPr txBox="1"/>
          <p:nvPr/>
        </p:nvSpPr>
        <p:spPr>
          <a:xfrm>
            <a:off x="1016000" y="1981200"/>
            <a:ext cx="4699000" cy="381000"/>
          </a:xfrm>
          <a:prstGeom prst="rect">
            <a:avLst/>
          </a:prstGeom>
          <a:noFill/>
          <a:ln/>
        </p:spPr>
        <p:txBody>
          <a:bodyPr wrap="square" lIns="0" tIns="0" rIns="0" bIns="0" rtlCol="0" anchor="t"/>
          <a:lstStyle/>
          <a:p>
            <a:pPr algn="l" indent="0" marL="0">
              <a:lnSpc>
                <a:spcPct val="110000"/>
              </a:lnSpc>
              <a:buNone/>
            </a:pPr>
            <a:r>
              <a:rPr lang="en-US" sz="2000" b="1" dirty="0">
                <a:solidFill>
                  <a:srgbClr val="1E2761"/>
                </a:solidFill>
                <a:latin typeface="Georgia" pitchFamily="34" charset="0"/>
                <a:ea typeface="Georgia" pitchFamily="34" charset="-122"/>
                <a:cs typeface="Georgia" pitchFamily="34" charset="-120"/>
              </a:rPr>
              <a:t>SQuAD</a:t>
            </a:r>
            <a:endParaRPr lang="en-US" sz="2000" dirty="0"/>
          </a:p>
        </p:txBody>
      </p:sp>
      <p:sp>
        <p:nvSpPr>
          <p:cNvPr id="8" name="Text 5"/>
          <p:cNvSpPr txBox="1"/>
          <p:nvPr/>
        </p:nvSpPr>
        <p:spPr>
          <a:xfrm>
            <a:off x="1016000" y="2476500"/>
            <a:ext cx="4445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CONTEXTO</a:t>
            </a:r>
            <a:endParaRPr lang="en-US" sz="1200" dirty="0"/>
          </a:p>
        </p:txBody>
      </p:sp>
      <p:sp>
        <p:nvSpPr>
          <p:cNvPr id="9" name="Text 6"/>
          <p:cNvSpPr txBox="1"/>
          <p:nvPr/>
        </p:nvSpPr>
        <p:spPr>
          <a:xfrm>
            <a:off x="1016000" y="2692400"/>
            <a:ext cx="4749800" cy="1079500"/>
          </a:xfrm>
          <a:prstGeom prst="rect">
            <a:avLst/>
          </a:prstGeom>
          <a:noFill/>
          <a:ln/>
        </p:spPr>
        <p:txBody>
          <a:bodyPr wrap="square" lIns="0" tIns="0" rIns="0" bIns="0" rtlCol="0" anchor="t"/>
          <a:lstStyle/>
          <a:p>
            <a:pPr algn="l" indent="0" marL="0">
              <a:lnSpc>
                <a:spcPct val="110000"/>
              </a:lnSpc>
              <a:buNone/>
            </a:pPr>
            <a:r>
              <a:rPr lang="en-US" sz="1200" i="1" dirty="0">
                <a:solidFill>
                  <a:srgbClr val="5C6B8A"/>
                </a:solidFill>
                <a:latin typeface="Arial" pitchFamily="34" charset="0"/>
                <a:ea typeface="Arial" pitchFamily="34" charset="-122"/>
                <a:cs typeface="Arial" pitchFamily="34" charset="-120"/>
              </a:rPr>
              <a:t>“Architecturally, the school has a Catholic character. Atop the Main Building's gold dome is a golden statue of the Virgin Mary. Immediately in front of the Main Building [...] is a copper statue of Christ…”</a:t>
            </a:r>
            <a:endParaRPr lang="en-US" sz="1200" dirty="0"/>
          </a:p>
        </p:txBody>
      </p:sp>
      <p:sp>
        <p:nvSpPr>
          <p:cNvPr id="10" name="Text 7"/>
          <p:cNvSpPr txBox="1"/>
          <p:nvPr/>
        </p:nvSpPr>
        <p:spPr>
          <a:xfrm>
            <a:off x="1016000" y="3873500"/>
            <a:ext cx="4445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PERGUNTA</a:t>
            </a:r>
            <a:endParaRPr lang="en-US" sz="1200" dirty="0"/>
          </a:p>
        </p:txBody>
      </p:sp>
      <p:sp>
        <p:nvSpPr>
          <p:cNvPr id="11" name="Text 8"/>
          <p:cNvSpPr txBox="1"/>
          <p:nvPr/>
        </p:nvSpPr>
        <p:spPr>
          <a:xfrm>
            <a:off x="1016000" y="4089400"/>
            <a:ext cx="4749800" cy="571500"/>
          </a:xfrm>
          <a:prstGeom prst="rect">
            <a:avLst/>
          </a:prstGeom>
          <a:noFill/>
          <a:ln/>
        </p:spPr>
        <p:txBody>
          <a:bodyPr wrap="square" lIns="0" tIns="0" rIns="0" bIns="0" rtlCol="0" anchor="t"/>
          <a:lstStyle/>
          <a:p>
            <a:pPr algn="l" indent="0" marL="0">
              <a:lnSpc>
                <a:spcPct val="110000"/>
              </a:lnSpc>
              <a:buNone/>
            </a:pPr>
            <a:r>
              <a:rPr lang="en-US" sz="1400" b="1" dirty="0">
                <a:solidFill>
                  <a:srgbClr val="1A1A2E"/>
                </a:solidFill>
                <a:latin typeface="Arial" pitchFamily="34" charset="0"/>
                <a:ea typeface="Arial" pitchFamily="34" charset="-122"/>
                <a:cs typeface="Arial" pitchFamily="34" charset="-120"/>
              </a:rPr>
              <a:t>“To whom did the Virgin Mary allegedly appear in 1858 in Lourdes France?”</a:t>
            </a:r>
            <a:endParaRPr lang="en-US" sz="1400" dirty="0"/>
          </a:p>
        </p:txBody>
      </p:sp>
      <p:sp>
        <p:nvSpPr>
          <p:cNvPr id="12" name="Text 9"/>
          <p:cNvSpPr txBox="1"/>
          <p:nvPr/>
        </p:nvSpPr>
        <p:spPr>
          <a:xfrm>
            <a:off x="1016000" y="4826000"/>
            <a:ext cx="4445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RESPOSTA</a:t>
            </a:r>
            <a:endParaRPr lang="en-US" sz="1200" dirty="0"/>
          </a:p>
        </p:txBody>
      </p:sp>
      <p:sp>
        <p:nvSpPr>
          <p:cNvPr id="13" name="Text 10"/>
          <p:cNvSpPr txBox="1"/>
          <p:nvPr/>
        </p:nvSpPr>
        <p:spPr>
          <a:xfrm>
            <a:off x="1016000" y="5041900"/>
            <a:ext cx="4749800" cy="635000"/>
          </a:xfrm>
          <a:prstGeom prst="rect">
            <a:avLst/>
          </a:prstGeom>
          <a:noFill/>
          <a:ln/>
        </p:spPr>
        <p:txBody>
          <a:bodyPr wrap="square" lIns="0" tIns="0" rIns="0" bIns="0" rtlCol="0" anchor="t"/>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Saint Bernadette Soubirous — span copiado literalmente do texto</a:t>
            </a:r>
            <a:endParaRPr lang="en-US" sz="1300" dirty="0"/>
          </a:p>
        </p:txBody>
      </p:sp>
      <p:sp>
        <p:nvSpPr>
          <p:cNvPr id="14" name="Shape 11"/>
          <p:cNvSpPr/>
          <p:nvPr/>
        </p:nvSpPr>
        <p:spPr>
          <a:xfrm>
            <a:off x="6223000" y="1841500"/>
            <a:ext cx="5156200" cy="3937000"/>
          </a:xfrm>
          <a:prstGeom prst="roundRect">
            <a:avLst>
              <a:gd name="adj" fmla="val 2581"/>
            </a:avLst>
          </a:prstGeom>
          <a:solidFill>
            <a:srgbClr val="FFFFFF"/>
          </a:solidFill>
          <a:ln w="12700">
            <a:solidFill>
              <a:srgbClr val="D5DDF0"/>
            </a:solidFill>
            <a:prstDash val="solid"/>
          </a:ln>
        </p:spPr>
      </p:sp>
      <p:sp>
        <p:nvSpPr>
          <p:cNvPr id="15" name="Text 12"/>
          <p:cNvSpPr txBox="1"/>
          <p:nvPr/>
        </p:nvSpPr>
        <p:spPr>
          <a:xfrm>
            <a:off x="6426200" y="1981200"/>
            <a:ext cx="4699000" cy="381000"/>
          </a:xfrm>
          <a:prstGeom prst="rect">
            <a:avLst/>
          </a:prstGeom>
          <a:noFill/>
          <a:ln/>
        </p:spPr>
        <p:txBody>
          <a:bodyPr wrap="square" lIns="0" tIns="0" rIns="0" bIns="0" rtlCol="0" anchor="t"/>
          <a:lstStyle/>
          <a:p>
            <a:pPr algn="l" indent="0" marL="0">
              <a:lnSpc>
                <a:spcPct val="110000"/>
              </a:lnSpc>
              <a:buNone/>
            </a:pPr>
            <a:r>
              <a:rPr lang="en-US" sz="2000" b="1" dirty="0">
                <a:solidFill>
                  <a:srgbClr val="1E2761"/>
                </a:solidFill>
                <a:latin typeface="Georgia" pitchFamily="34" charset="0"/>
                <a:ea typeface="Georgia" pitchFamily="34" charset="-122"/>
                <a:cs typeface="Georgia" pitchFamily="34" charset="-120"/>
              </a:rPr>
              <a:t>LearningQ</a:t>
            </a:r>
            <a:endParaRPr lang="en-US" sz="2000" dirty="0"/>
          </a:p>
        </p:txBody>
      </p:sp>
      <p:sp>
        <p:nvSpPr>
          <p:cNvPr id="16" name="Text 13"/>
          <p:cNvSpPr txBox="1"/>
          <p:nvPr/>
        </p:nvSpPr>
        <p:spPr>
          <a:xfrm>
            <a:off x="6426200" y="2476500"/>
            <a:ext cx="4445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CONTEXTO</a:t>
            </a:r>
            <a:endParaRPr lang="en-US" sz="1200" dirty="0"/>
          </a:p>
        </p:txBody>
      </p:sp>
      <p:sp>
        <p:nvSpPr>
          <p:cNvPr id="17" name="Text 14"/>
          <p:cNvSpPr txBox="1"/>
          <p:nvPr/>
        </p:nvSpPr>
        <p:spPr>
          <a:xfrm>
            <a:off x="6426200" y="2692400"/>
            <a:ext cx="4749800" cy="1079500"/>
          </a:xfrm>
          <a:prstGeom prst="rect">
            <a:avLst/>
          </a:prstGeom>
          <a:noFill/>
          <a:ln/>
        </p:spPr>
        <p:txBody>
          <a:bodyPr wrap="square" lIns="0" tIns="0" rIns="0" bIns="0" rtlCol="0" anchor="t"/>
          <a:lstStyle/>
          <a:p>
            <a:pPr algn="l" indent="0" marL="0">
              <a:lnSpc>
                <a:spcPct val="110000"/>
              </a:lnSpc>
              <a:buNone/>
            </a:pPr>
            <a:r>
              <a:rPr lang="en-US" sz="1200" i="1" dirty="0">
                <a:solidFill>
                  <a:srgbClr val="5C6B8A"/>
                </a:solidFill>
                <a:latin typeface="Arial" pitchFamily="34" charset="0"/>
                <a:ea typeface="Arial" pitchFamily="34" charset="-122"/>
                <a:cs typeface="Arial" pitchFamily="34" charset="-120"/>
              </a:rPr>
              <a:t>“…if it was a perfect diode, made in some unknown technology, what would happen is in the reverse direction, if the voltage across the diode was negative…” (trecho da transcrição)</a:t>
            </a:r>
            <a:endParaRPr lang="en-US" sz="1200" dirty="0"/>
          </a:p>
        </p:txBody>
      </p:sp>
      <p:sp>
        <p:nvSpPr>
          <p:cNvPr id="18" name="Text 15"/>
          <p:cNvSpPr txBox="1"/>
          <p:nvPr/>
        </p:nvSpPr>
        <p:spPr>
          <a:xfrm>
            <a:off x="6426200" y="3873500"/>
            <a:ext cx="4445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PERGUNTA</a:t>
            </a:r>
            <a:endParaRPr lang="en-US" sz="1200" dirty="0"/>
          </a:p>
        </p:txBody>
      </p:sp>
      <p:sp>
        <p:nvSpPr>
          <p:cNvPr id="19" name="Text 16"/>
          <p:cNvSpPr txBox="1"/>
          <p:nvPr/>
        </p:nvSpPr>
        <p:spPr>
          <a:xfrm>
            <a:off x="6426200" y="4089400"/>
            <a:ext cx="4749800" cy="571500"/>
          </a:xfrm>
          <a:prstGeom prst="rect">
            <a:avLst/>
          </a:prstGeom>
          <a:noFill/>
          <a:ln/>
        </p:spPr>
        <p:txBody>
          <a:bodyPr wrap="square" lIns="0" tIns="0" rIns="0" bIns="0" rtlCol="0" anchor="t"/>
          <a:lstStyle/>
          <a:p>
            <a:pPr algn="l" indent="0" marL="0">
              <a:lnSpc>
                <a:spcPct val="110000"/>
              </a:lnSpc>
              <a:buNone/>
            </a:pPr>
            <a:r>
              <a:rPr lang="en-US" sz="1400" b="1" dirty="0">
                <a:solidFill>
                  <a:srgbClr val="1A1A2E"/>
                </a:solidFill>
                <a:latin typeface="Arial" pitchFamily="34" charset="0"/>
                <a:ea typeface="Arial" pitchFamily="34" charset="-122"/>
                <a:cs typeface="Arial" pitchFamily="34" charset="-120"/>
              </a:rPr>
              <a:t>“what would a diode look like on a circuit board?”</a:t>
            </a:r>
            <a:endParaRPr lang="en-US" sz="1400" dirty="0"/>
          </a:p>
        </p:txBody>
      </p:sp>
      <p:sp>
        <p:nvSpPr>
          <p:cNvPr id="20" name="Text 17"/>
          <p:cNvSpPr txBox="1"/>
          <p:nvPr/>
        </p:nvSpPr>
        <p:spPr>
          <a:xfrm>
            <a:off x="6426200" y="4826000"/>
            <a:ext cx="4445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RESPOSTA</a:t>
            </a:r>
            <a:endParaRPr lang="en-US" sz="1200" dirty="0"/>
          </a:p>
        </p:txBody>
      </p:sp>
      <p:sp>
        <p:nvSpPr>
          <p:cNvPr id="21" name="Text 18"/>
          <p:cNvSpPr txBox="1"/>
          <p:nvPr/>
        </p:nvSpPr>
        <p:spPr>
          <a:xfrm>
            <a:off x="6426200" y="5041900"/>
            <a:ext cx="4749800" cy="635000"/>
          </a:xfrm>
          <a:prstGeom prst="rect">
            <a:avLst/>
          </a:prstGeom>
          <a:noFill/>
          <a:ln/>
        </p:spPr>
        <p:txBody>
          <a:bodyPr wrap="square" lIns="0" tIns="0" rIns="0" bIns="0" rtlCol="0" anchor="t"/>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sem resposta anotada — a pergunta busca entendimento, não um fato pontual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6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ANÁLISE EXPLORATÓRIA</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Contexto: parágrafo vs. transcrição inteira</a:t>
            </a:r>
            <a:endParaRPr lang="en-US" sz="3000" dirty="0"/>
          </a:p>
        </p:txBody>
      </p:sp>
      <p:sp>
        <p:nvSpPr>
          <p:cNvPr id="6" name="Shape 3"/>
          <p:cNvSpPr/>
          <p:nvPr/>
        </p:nvSpPr>
        <p:spPr>
          <a:xfrm>
            <a:off x="812800" y="1841500"/>
            <a:ext cx="5156200" cy="1333500"/>
          </a:xfrm>
          <a:prstGeom prst="roundRect">
            <a:avLst>
              <a:gd name="adj" fmla="val 7619"/>
            </a:avLst>
          </a:prstGeom>
          <a:solidFill>
            <a:srgbClr val="FFFFFF"/>
          </a:solidFill>
          <a:ln w="12700">
            <a:solidFill>
              <a:srgbClr val="D5DDF0"/>
            </a:solidFill>
            <a:prstDash val="solid"/>
          </a:ln>
        </p:spPr>
      </p:sp>
      <p:sp>
        <p:nvSpPr>
          <p:cNvPr id="7" name="Text 4"/>
          <p:cNvSpPr txBox="1"/>
          <p:nvPr/>
        </p:nvSpPr>
        <p:spPr>
          <a:xfrm>
            <a:off x="1016000" y="1968500"/>
            <a:ext cx="4762500" cy="254000"/>
          </a:xfrm>
          <a:prstGeom prst="rect">
            <a:avLst/>
          </a:prstGeom>
          <a:noFill/>
          <a:ln/>
        </p:spPr>
        <p:txBody>
          <a:bodyPr wrap="square" lIns="0" tIns="0" rIns="0" bIns="0" rtlCol="0" anchor="t"/>
          <a:lstStyle/>
          <a:p>
            <a:pPr algn="l" indent="0" marL="0">
              <a:lnSpc>
                <a:spcPct val="110000"/>
              </a:lnSpc>
              <a:buNone/>
            </a:pPr>
            <a:r>
              <a:rPr lang="en-US" sz="1600" b="1" dirty="0">
                <a:solidFill>
                  <a:srgbClr val="1E2761"/>
                </a:solidFill>
                <a:latin typeface="Arial" pitchFamily="34" charset="0"/>
                <a:ea typeface="Arial" pitchFamily="34" charset="-122"/>
                <a:cs typeface="Arial" pitchFamily="34" charset="-120"/>
              </a:rPr>
              <a:t>SQuAD — parágrafo da Wikipédia</a:t>
            </a:r>
            <a:endParaRPr lang="en-US" sz="1600" dirty="0"/>
          </a:p>
        </p:txBody>
      </p:sp>
      <p:sp>
        <p:nvSpPr>
          <p:cNvPr id="8" name="Text 5"/>
          <p:cNvSpPr txBox="1"/>
          <p:nvPr/>
        </p:nvSpPr>
        <p:spPr>
          <a:xfrm>
            <a:off x="1016000" y="2286000"/>
            <a:ext cx="4762500" cy="444500"/>
          </a:xfrm>
          <a:prstGeom prst="rect">
            <a:avLst/>
          </a:prstGeom>
          <a:noFill/>
          <a:ln/>
        </p:spPr>
        <p:txBody>
          <a:bodyPr wrap="square" lIns="0" tIns="0" rIns="0" bIns="0" rtlCol="0" anchor="t"/>
          <a:lstStyle/>
          <a:p>
            <a:pPr algn="l" indent="0" marL="0">
              <a:lnSpc>
                <a:spcPct val="110000"/>
              </a:lnSpc>
              <a:buNone/>
            </a:pPr>
            <a:r>
              <a:rPr lang="en-US" sz="2600" b="1" dirty="0">
                <a:solidFill>
                  <a:srgbClr val="1E2761"/>
                </a:solidFill>
                <a:latin typeface="Georgia" pitchFamily="34" charset="0"/>
                <a:ea typeface="Georgia" pitchFamily="34" charset="-122"/>
                <a:cs typeface="Georgia" pitchFamily="34" charset="-120"/>
              </a:rPr>
              <a:t>120 palavras</a:t>
            </a:r>
            <a:endParaRPr lang="en-US" sz="2600" dirty="0"/>
          </a:p>
        </p:txBody>
      </p:sp>
      <p:sp>
        <p:nvSpPr>
          <p:cNvPr id="9" name="Text 6"/>
          <p:cNvSpPr txBox="1"/>
          <p:nvPr/>
        </p:nvSpPr>
        <p:spPr>
          <a:xfrm>
            <a:off x="1016000" y="2794000"/>
            <a:ext cx="4762500" cy="2540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~176 tokens · 0,26% truncado(s) em 512 tokens</a:t>
            </a:r>
            <a:endParaRPr lang="en-US" sz="1300" dirty="0"/>
          </a:p>
        </p:txBody>
      </p:sp>
      <p:sp>
        <p:nvSpPr>
          <p:cNvPr id="10" name="Shape 7"/>
          <p:cNvSpPr/>
          <p:nvPr/>
        </p:nvSpPr>
        <p:spPr>
          <a:xfrm>
            <a:off x="6223000" y="1841500"/>
            <a:ext cx="5156200" cy="1333500"/>
          </a:xfrm>
          <a:prstGeom prst="roundRect">
            <a:avLst>
              <a:gd name="adj" fmla="val 7619"/>
            </a:avLst>
          </a:prstGeom>
          <a:solidFill>
            <a:srgbClr val="FFFFFF"/>
          </a:solidFill>
          <a:ln w="12700">
            <a:solidFill>
              <a:srgbClr val="D5DDF0"/>
            </a:solidFill>
            <a:prstDash val="solid"/>
          </a:ln>
        </p:spPr>
      </p:sp>
      <p:sp>
        <p:nvSpPr>
          <p:cNvPr id="11" name="Text 8"/>
          <p:cNvSpPr txBox="1"/>
          <p:nvPr/>
        </p:nvSpPr>
        <p:spPr>
          <a:xfrm>
            <a:off x="6426200" y="1968500"/>
            <a:ext cx="4762500" cy="254000"/>
          </a:xfrm>
          <a:prstGeom prst="rect">
            <a:avLst/>
          </a:prstGeom>
          <a:noFill/>
          <a:ln/>
        </p:spPr>
        <p:txBody>
          <a:bodyPr wrap="square" lIns="0" tIns="0" rIns="0" bIns="0" rtlCol="0" anchor="t"/>
          <a:lstStyle/>
          <a:p>
            <a:pPr algn="l" indent="0" marL="0">
              <a:lnSpc>
                <a:spcPct val="110000"/>
              </a:lnSpc>
              <a:buNone/>
            </a:pPr>
            <a:r>
              <a:rPr lang="en-US" sz="1600" b="1" dirty="0">
                <a:solidFill>
                  <a:srgbClr val="1E2761"/>
                </a:solidFill>
                <a:latin typeface="Arial" pitchFamily="34" charset="0"/>
                <a:ea typeface="Arial" pitchFamily="34" charset="-122"/>
                <a:cs typeface="Arial" pitchFamily="34" charset="-120"/>
              </a:rPr>
              <a:t>LearningQ — transcrição da aula</a:t>
            </a:r>
            <a:endParaRPr lang="en-US" sz="1600" dirty="0"/>
          </a:p>
        </p:txBody>
      </p:sp>
      <p:sp>
        <p:nvSpPr>
          <p:cNvPr id="12" name="Text 9"/>
          <p:cNvSpPr txBox="1"/>
          <p:nvPr/>
        </p:nvSpPr>
        <p:spPr>
          <a:xfrm>
            <a:off x="6426200" y="2286000"/>
            <a:ext cx="4762500" cy="444500"/>
          </a:xfrm>
          <a:prstGeom prst="rect">
            <a:avLst/>
          </a:prstGeom>
          <a:noFill/>
          <a:ln/>
        </p:spPr>
        <p:txBody>
          <a:bodyPr wrap="square" lIns="0" tIns="0" rIns="0" bIns="0" rtlCol="0" anchor="t"/>
          <a:lstStyle/>
          <a:p>
            <a:pPr algn="l" indent="0" marL="0">
              <a:lnSpc>
                <a:spcPct val="110000"/>
              </a:lnSpc>
              <a:buNone/>
            </a:pPr>
            <a:r>
              <a:rPr lang="en-US" sz="1900" b="1" dirty="0">
                <a:solidFill>
                  <a:srgbClr val="9A6410"/>
                </a:solidFill>
                <a:latin typeface="Georgia" pitchFamily="34" charset="0"/>
                <a:ea typeface="Georgia" pitchFamily="34" charset="-122"/>
                <a:cs typeface="Georgia" pitchFamily="34" charset="-120"/>
              </a:rPr>
              <a:t>1.705 palavras (até 14.905!)</a:t>
            </a:r>
            <a:endParaRPr lang="en-US" sz="1900" dirty="0"/>
          </a:p>
        </p:txBody>
      </p:sp>
      <p:sp>
        <p:nvSpPr>
          <p:cNvPr id="13" name="Text 10"/>
          <p:cNvSpPr txBox="1"/>
          <p:nvPr/>
        </p:nvSpPr>
        <p:spPr>
          <a:xfrm>
            <a:off x="6426200" y="2794000"/>
            <a:ext cx="4762500" cy="2540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~2.289 tokens · 97,8% truncado(s) em 512 tokens</a:t>
            </a:r>
            <a:endParaRPr lang="en-US" sz="1300" dirty="0"/>
          </a:p>
        </p:txBody>
      </p:sp>
      <p:sp>
        <p:nvSpPr>
          <p:cNvPr id="14" name="Shape 11"/>
          <p:cNvSpPr/>
          <p:nvPr/>
        </p:nvSpPr>
        <p:spPr>
          <a:xfrm>
            <a:off x="812800" y="3365500"/>
            <a:ext cx="10566400" cy="1778000"/>
          </a:xfrm>
          <a:prstGeom prst="roundRect">
            <a:avLst>
              <a:gd name="adj" fmla="val 5714"/>
            </a:avLst>
          </a:prstGeom>
          <a:solidFill>
            <a:srgbClr val="FFFFFF"/>
          </a:solidFill>
          <a:ln w="12700">
            <a:solidFill>
              <a:srgbClr val="D5DDF0"/>
            </a:solidFill>
            <a:prstDash val="solid"/>
          </a:ln>
        </p:spPr>
      </p:sp>
      <p:sp>
        <p:nvSpPr>
          <p:cNvPr id="15" name="Text 12"/>
          <p:cNvSpPr txBox="1"/>
          <p:nvPr/>
        </p:nvSpPr>
        <p:spPr>
          <a:xfrm>
            <a:off x="1016000" y="3492500"/>
            <a:ext cx="9525000" cy="254000"/>
          </a:xfrm>
          <a:prstGeom prst="rect">
            <a:avLst/>
          </a:prstGeom>
          <a:noFill/>
          <a:ln/>
        </p:spPr>
        <p:txBody>
          <a:bodyPr wrap="square" lIns="0" tIns="0" rIns="0" bIns="0" rtlCol="0" anchor="t"/>
          <a:lstStyle/>
          <a:p>
            <a:pPr algn="l" indent="0" marL="0">
              <a:lnSpc>
                <a:spcPct val="110000"/>
              </a:lnSpc>
              <a:buNone/>
            </a:pPr>
            <a:r>
              <a:rPr lang="en-US" sz="1300" b="1" dirty="0">
                <a:solidFill>
                  <a:srgbClr val="1E2761"/>
                </a:solidFill>
                <a:latin typeface="Arial" pitchFamily="34" charset="0"/>
                <a:ea typeface="Arial" pitchFamily="34" charset="-122"/>
                <a:cs typeface="Arial" pitchFamily="34" charset="-120"/>
              </a:rPr>
              <a:t>Tamanho médio do contexto, em tokens do T5</a:t>
            </a:r>
            <a:endParaRPr lang="en-US" sz="1300" dirty="0"/>
          </a:p>
        </p:txBody>
      </p:sp>
      <p:graphicFrame>
        <p:nvGraphicFramePr>
          <p:cNvPr id="16" name="Chart 0" descr=""/>
          <p:cNvGraphicFramePr/>
          <p:nvPr/>
        </p:nvGraphicFramePr>
        <p:xfrm>
          <a:off x="1016000" y="3778250"/>
          <a:ext cx="10160000" cy="1270000"/>
        </p:xfrm>
        <a:graphic xmlns:a="http://schemas.openxmlformats.org/drawingml/2006/main">
          <a:graphicData uri="http://schemas.openxmlformats.org/drawingml/2006/chart">
            <c:chart xmlns:c="http://schemas.openxmlformats.org/drawingml/2006/chart" r:id="rId1"/>
          </a:graphicData>
        </a:graphic>
      </p:graphicFrame>
      <p:sp>
        <p:nvSpPr>
          <p:cNvPr id="17" name="Text 13"/>
          <p:cNvSpPr txBox="1"/>
          <p:nvPr/>
        </p:nvSpPr>
        <p:spPr>
          <a:xfrm>
            <a:off x="812800" y="5334000"/>
            <a:ext cx="10566400" cy="317500"/>
          </a:xfrm>
          <a:prstGeom prst="rect">
            <a:avLst/>
          </a:prstGeom>
          <a:noFill/>
          <a:ln/>
        </p:spPr>
        <p:txBody>
          <a:bodyPr wrap="square" lIns="0" tIns="0" rIns="0" bIns="0" rtlCol="0" anchor="t"/>
          <a:lstStyle/>
          <a:p>
            <a:pPr algn="l" indent="0" marL="0">
              <a:lnSpc>
                <a:spcPct val="110000"/>
              </a:lnSpc>
              <a:buNone/>
            </a:pPr>
            <a:r>
              <a:rPr lang="en-US" sz="1500" b="1" dirty="0">
                <a:solidFill>
                  <a:srgbClr val="9A6410"/>
                </a:solidFill>
                <a:latin typeface="Arial" pitchFamily="34" charset="0"/>
                <a:ea typeface="Arial" pitchFamily="34" charset="-122"/>
                <a:cs typeface="Arial" pitchFamily="34" charset="-120"/>
              </a:rPr>
              <a:t>LearningQ: usar o “questionsrc”, não a aula inteira</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7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METODOLOGIA</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Como o SQuAD foi dividido</a:t>
            </a:r>
            <a:endParaRPr lang="en-US" sz="3000" dirty="0"/>
          </a:p>
        </p:txBody>
      </p:sp>
      <p:sp>
        <p:nvSpPr>
          <p:cNvPr id="6" name="Shape 3"/>
          <p:cNvSpPr/>
          <p:nvPr/>
        </p:nvSpPr>
        <p:spPr>
          <a:xfrm>
            <a:off x="812800" y="1841500"/>
            <a:ext cx="3390900" cy="2095500"/>
          </a:xfrm>
          <a:prstGeom prst="roundRect">
            <a:avLst>
              <a:gd name="adj" fmla="val 4848"/>
            </a:avLst>
          </a:prstGeom>
          <a:solidFill>
            <a:srgbClr val="FFFFFF"/>
          </a:solidFill>
          <a:ln w="12700">
            <a:solidFill>
              <a:srgbClr val="D5DDF0"/>
            </a:solidFill>
            <a:prstDash val="solid"/>
          </a:ln>
        </p:spPr>
      </p:sp>
      <p:sp>
        <p:nvSpPr>
          <p:cNvPr id="7" name="Text 4"/>
          <p:cNvSpPr txBox="1"/>
          <p:nvPr/>
        </p:nvSpPr>
        <p:spPr>
          <a:xfrm>
            <a:off x="1016000" y="2006600"/>
            <a:ext cx="29845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TREINO · 95,4%</a:t>
            </a:r>
            <a:endParaRPr lang="en-US" sz="1200" dirty="0"/>
          </a:p>
        </p:txBody>
      </p:sp>
      <p:sp>
        <p:nvSpPr>
          <p:cNvPr id="8" name="Text 5"/>
          <p:cNvSpPr txBox="1"/>
          <p:nvPr/>
        </p:nvSpPr>
        <p:spPr>
          <a:xfrm>
            <a:off x="1016000" y="2349500"/>
            <a:ext cx="2984500" cy="635000"/>
          </a:xfrm>
          <a:prstGeom prst="rect">
            <a:avLst/>
          </a:prstGeom>
          <a:noFill/>
          <a:ln/>
        </p:spPr>
        <p:txBody>
          <a:bodyPr wrap="square" lIns="0" tIns="0" rIns="0" bIns="0" rtlCol="0" anchor="t"/>
          <a:lstStyle/>
          <a:p>
            <a:pPr algn="l" indent="0" marL="0">
              <a:lnSpc>
                <a:spcPct val="110000"/>
              </a:lnSpc>
              <a:buNone/>
            </a:pPr>
            <a:r>
              <a:rPr lang="en-US" sz="3600" b="1" dirty="0">
                <a:solidFill>
                  <a:srgbClr val="1E2761"/>
                </a:solidFill>
                <a:latin typeface="Georgia" pitchFamily="34" charset="0"/>
                <a:ea typeface="Georgia" pitchFamily="34" charset="-122"/>
                <a:cs typeface="Georgia" pitchFamily="34" charset="-120"/>
              </a:rPr>
              <a:t>83.575</a:t>
            </a:r>
            <a:endParaRPr lang="en-US" sz="3600" dirty="0"/>
          </a:p>
        </p:txBody>
      </p:sp>
      <p:sp>
        <p:nvSpPr>
          <p:cNvPr id="9" name="Text 6"/>
          <p:cNvSpPr txBox="1"/>
          <p:nvPr/>
        </p:nvSpPr>
        <p:spPr>
          <a:xfrm>
            <a:off x="1016000" y="3111500"/>
            <a:ext cx="2984500" cy="698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420 artigos</a:t>
            </a:r>
            <a:endParaRPr lang="en-US" sz="1300" dirty="0"/>
          </a:p>
        </p:txBody>
      </p:sp>
      <p:sp>
        <p:nvSpPr>
          <p:cNvPr id="10" name="Shape 7"/>
          <p:cNvSpPr/>
          <p:nvPr/>
        </p:nvSpPr>
        <p:spPr>
          <a:xfrm>
            <a:off x="4400550" y="1841500"/>
            <a:ext cx="3390900" cy="2095500"/>
          </a:xfrm>
          <a:prstGeom prst="roundRect">
            <a:avLst>
              <a:gd name="adj" fmla="val 4848"/>
            </a:avLst>
          </a:prstGeom>
          <a:solidFill>
            <a:srgbClr val="FFFFFF"/>
          </a:solidFill>
          <a:ln w="12700">
            <a:solidFill>
              <a:srgbClr val="D5DDF0"/>
            </a:solidFill>
            <a:prstDash val="solid"/>
          </a:ln>
        </p:spPr>
      </p:sp>
      <p:sp>
        <p:nvSpPr>
          <p:cNvPr id="11" name="Text 8"/>
          <p:cNvSpPr txBox="1"/>
          <p:nvPr/>
        </p:nvSpPr>
        <p:spPr>
          <a:xfrm>
            <a:off x="4603750" y="2006600"/>
            <a:ext cx="29845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VALIDAÇÃO (DEV) · 4,6%</a:t>
            </a:r>
            <a:endParaRPr lang="en-US" sz="1200" dirty="0"/>
          </a:p>
        </p:txBody>
      </p:sp>
      <p:sp>
        <p:nvSpPr>
          <p:cNvPr id="12" name="Text 9"/>
          <p:cNvSpPr txBox="1"/>
          <p:nvPr/>
        </p:nvSpPr>
        <p:spPr>
          <a:xfrm>
            <a:off x="4603750" y="2349500"/>
            <a:ext cx="2984500" cy="635000"/>
          </a:xfrm>
          <a:prstGeom prst="rect">
            <a:avLst/>
          </a:prstGeom>
          <a:noFill/>
          <a:ln/>
        </p:spPr>
        <p:txBody>
          <a:bodyPr wrap="square" lIns="0" tIns="0" rIns="0" bIns="0" rtlCol="0" anchor="t"/>
          <a:lstStyle/>
          <a:p>
            <a:pPr algn="l" indent="0" marL="0">
              <a:lnSpc>
                <a:spcPct val="110000"/>
              </a:lnSpc>
              <a:buNone/>
            </a:pPr>
            <a:r>
              <a:rPr lang="en-US" sz="3600" b="1" dirty="0">
                <a:solidFill>
                  <a:srgbClr val="1E2761"/>
                </a:solidFill>
                <a:latin typeface="Georgia" pitchFamily="34" charset="0"/>
                <a:ea typeface="Georgia" pitchFamily="34" charset="-122"/>
                <a:cs typeface="Georgia" pitchFamily="34" charset="-120"/>
              </a:rPr>
              <a:t>4.024</a:t>
            </a:r>
            <a:endParaRPr lang="en-US" sz="3600" dirty="0"/>
          </a:p>
        </p:txBody>
      </p:sp>
      <p:sp>
        <p:nvSpPr>
          <p:cNvPr id="13" name="Text 10"/>
          <p:cNvSpPr txBox="1"/>
          <p:nvPr/>
        </p:nvSpPr>
        <p:spPr>
          <a:xfrm>
            <a:off x="4603750" y="3111500"/>
            <a:ext cx="2984500" cy="698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22 artigos — early stopping (decide a hora de parar)</a:t>
            </a:r>
            <a:endParaRPr lang="en-US" sz="1300" dirty="0"/>
          </a:p>
        </p:txBody>
      </p:sp>
      <p:sp>
        <p:nvSpPr>
          <p:cNvPr id="14" name="Shape 11"/>
          <p:cNvSpPr/>
          <p:nvPr/>
        </p:nvSpPr>
        <p:spPr>
          <a:xfrm>
            <a:off x="7988300" y="1841500"/>
            <a:ext cx="3390900" cy="2095500"/>
          </a:xfrm>
          <a:prstGeom prst="roundRect">
            <a:avLst>
              <a:gd name="adj" fmla="val 4848"/>
            </a:avLst>
          </a:prstGeom>
          <a:solidFill>
            <a:srgbClr val="FFFFFF"/>
          </a:solidFill>
          <a:ln w="12700">
            <a:solidFill>
              <a:srgbClr val="D5DDF0"/>
            </a:solidFill>
            <a:prstDash val="solid"/>
          </a:ln>
        </p:spPr>
      </p:sp>
      <p:sp>
        <p:nvSpPr>
          <p:cNvPr id="15" name="Text 12"/>
          <p:cNvSpPr txBox="1"/>
          <p:nvPr/>
        </p:nvSpPr>
        <p:spPr>
          <a:xfrm>
            <a:off x="8191500" y="2006600"/>
            <a:ext cx="29845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TESTE · 100%</a:t>
            </a:r>
            <a:endParaRPr lang="en-US" sz="1200" dirty="0"/>
          </a:p>
        </p:txBody>
      </p:sp>
      <p:sp>
        <p:nvSpPr>
          <p:cNvPr id="16" name="Text 13"/>
          <p:cNvSpPr txBox="1"/>
          <p:nvPr/>
        </p:nvSpPr>
        <p:spPr>
          <a:xfrm>
            <a:off x="8191500" y="2349500"/>
            <a:ext cx="2984500" cy="635000"/>
          </a:xfrm>
          <a:prstGeom prst="rect">
            <a:avLst/>
          </a:prstGeom>
          <a:noFill/>
          <a:ln/>
        </p:spPr>
        <p:txBody>
          <a:bodyPr wrap="square" lIns="0" tIns="0" rIns="0" bIns="0" rtlCol="0" anchor="t"/>
          <a:lstStyle/>
          <a:p>
            <a:pPr algn="l" indent="0" marL="0">
              <a:lnSpc>
                <a:spcPct val="110000"/>
              </a:lnSpc>
              <a:buNone/>
            </a:pPr>
            <a:r>
              <a:rPr lang="en-US" sz="3600" b="1" dirty="0">
                <a:solidFill>
                  <a:srgbClr val="1E2761"/>
                </a:solidFill>
                <a:latin typeface="Georgia" pitchFamily="34" charset="0"/>
                <a:ea typeface="Georgia" pitchFamily="34" charset="-122"/>
                <a:cs typeface="Georgia" pitchFamily="34" charset="-120"/>
              </a:rPr>
              <a:t>10.570</a:t>
            </a:r>
            <a:endParaRPr lang="en-US" sz="3600" dirty="0"/>
          </a:p>
        </p:txBody>
      </p:sp>
      <p:sp>
        <p:nvSpPr>
          <p:cNvPr id="17" name="Text 14"/>
          <p:cNvSpPr txBox="1"/>
          <p:nvPr/>
        </p:nvSpPr>
        <p:spPr>
          <a:xfrm>
            <a:off x="8191500" y="3111500"/>
            <a:ext cx="2984500" cy="698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48 artigos — split oficial do SQuAD</a:t>
            </a:r>
            <a:endParaRPr lang="en-US" sz="1300" dirty="0"/>
          </a:p>
        </p:txBody>
      </p:sp>
      <p:sp>
        <p:nvSpPr>
          <p:cNvPr id="18" name="Shape 15"/>
          <p:cNvSpPr/>
          <p:nvPr/>
        </p:nvSpPr>
        <p:spPr>
          <a:xfrm>
            <a:off x="812800" y="4191000"/>
            <a:ext cx="10566400" cy="952500"/>
          </a:xfrm>
          <a:prstGeom prst="roundRect">
            <a:avLst>
              <a:gd name="adj" fmla="val 10667"/>
            </a:avLst>
          </a:prstGeom>
          <a:solidFill>
            <a:srgbClr val="1E2761"/>
          </a:solidFill>
          <a:ln w="12700">
            <a:solidFill>
              <a:srgbClr val="1E2761"/>
            </a:solidFill>
            <a:prstDash val="solid"/>
          </a:ln>
        </p:spPr>
      </p:sp>
      <p:sp>
        <p:nvSpPr>
          <p:cNvPr id="19" name="Text 16"/>
          <p:cNvSpPr txBox="1"/>
          <p:nvPr/>
        </p:nvSpPr>
        <p:spPr>
          <a:xfrm>
            <a:off x="1016000" y="4381500"/>
            <a:ext cx="10160000" cy="571500"/>
          </a:xfrm>
          <a:prstGeom prst="rect">
            <a:avLst/>
          </a:prstGeom>
          <a:noFill/>
          <a:ln/>
        </p:spPr>
        <p:txBody>
          <a:bodyPr wrap="square" lIns="0" tIns="0" rIns="0" bIns="0" rtlCol="0" anchor="ctr"/>
          <a:lstStyle/>
          <a:p>
            <a:pPr algn="l" indent="0" marL="0">
              <a:lnSpc>
                <a:spcPct val="110000"/>
              </a:lnSpc>
              <a:buNone/>
            </a:pPr>
            <a:r>
              <a:rPr lang="en-US" sz="1600" b="1" dirty="0">
                <a:solidFill>
                  <a:srgbClr val="FFFFFF"/>
                </a:solidFill>
                <a:latin typeface="Arial" pitchFamily="34" charset="0"/>
                <a:ea typeface="Arial" pitchFamily="34" charset="-122"/>
                <a:cs typeface="Arial" pitchFamily="34" charset="-120"/>
              </a:rPr>
              <a:t>Divisão (split) por artigo, não por linha — evita fuga de informação entre treino e validação</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8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ARQUITETURA DO MODELO</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Rede neural, aplicada: Feed-Forward</a:t>
            </a:r>
            <a:endParaRPr lang="en-US" sz="3000" dirty="0"/>
          </a:p>
        </p:txBody>
      </p:sp>
      <p:sp>
        <p:nvSpPr>
          <p:cNvPr id="6" name="Text 3"/>
          <p:cNvSpPr txBox="1"/>
          <p:nvPr/>
        </p:nvSpPr>
        <p:spPr>
          <a:xfrm>
            <a:off x="812800" y="1651000"/>
            <a:ext cx="10566400" cy="254000"/>
          </a:xfrm>
          <a:prstGeom prst="rect">
            <a:avLst/>
          </a:prstGeom>
          <a:noFill/>
          <a:ln/>
        </p:spPr>
        <p:txBody>
          <a:bodyPr wrap="square" lIns="0" tIns="0" rIns="0" bIns="0" rtlCol="0" anchor="t"/>
          <a:lstStyle/>
          <a:p>
            <a:pPr algn="l" indent="0" marL="0">
              <a:lnSpc>
                <a:spcPct val="110000"/>
              </a:lnSpc>
              <a:buNone/>
            </a:pPr>
            <a:r>
              <a:rPr lang="en-US" sz="1400" dirty="0">
                <a:solidFill>
                  <a:srgbClr val="5C6B8A"/>
                </a:solidFill>
                <a:latin typeface="Arial" pitchFamily="34" charset="0"/>
                <a:ea typeface="Arial" pitchFamily="34" charset="-122"/>
                <a:cs typeface="Arial" pitchFamily="34" charset="-120"/>
              </a:rPr>
              <a:t>Aplicado ao Transformer: este é o formato real da Feed-Forward do T5-small (slide 12)</a:t>
            </a:r>
            <a:endParaRPr lang="en-US" sz="1400" dirty="0"/>
          </a:p>
        </p:txBody>
      </p:sp>
      <p:sp>
        <p:nvSpPr>
          <p:cNvPr id="7" name="Shape 4"/>
          <p:cNvSpPr/>
          <p:nvPr/>
        </p:nvSpPr>
        <p:spPr>
          <a:xfrm>
            <a:off x="1206500" y="3048000"/>
            <a:ext cx="1270000" cy="508000"/>
          </a:xfrm>
          <a:prstGeom prst="roundRect">
            <a:avLst>
              <a:gd name="adj" fmla="val 18000"/>
            </a:avLst>
          </a:prstGeom>
          <a:solidFill>
            <a:srgbClr val="3A4A8F"/>
          </a:solidFill>
          <a:ln w="12700">
            <a:solidFill>
              <a:srgbClr val="3A4A8F"/>
            </a:solidFill>
            <a:prstDash val="solid"/>
          </a:ln>
        </p:spPr>
      </p:sp>
      <p:sp>
        <p:nvSpPr>
          <p:cNvPr id="8" name="Shape 5"/>
          <p:cNvSpPr/>
          <p:nvPr/>
        </p:nvSpPr>
        <p:spPr>
          <a:xfrm>
            <a:off x="5461000" y="2286000"/>
            <a:ext cx="1270000" cy="2032000"/>
          </a:xfrm>
          <a:prstGeom prst="roundRect">
            <a:avLst>
              <a:gd name="adj" fmla="val 7200"/>
            </a:avLst>
          </a:prstGeom>
          <a:solidFill>
            <a:srgbClr val="E8A33D"/>
          </a:solidFill>
          <a:ln w="12700">
            <a:solidFill>
              <a:srgbClr val="E8A33D"/>
            </a:solidFill>
            <a:prstDash val="solid"/>
          </a:ln>
        </p:spPr>
      </p:sp>
      <p:sp>
        <p:nvSpPr>
          <p:cNvPr id="9" name="Shape 6"/>
          <p:cNvSpPr/>
          <p:nvPr/>
        </p:nvSpPr>
        <p:spPr>
          <a:xfrm>
            <a:off x="9715500" y="3048000"/>
            <a:ext cx="1270000" cy="508000"/>
          </a:xfrm>
          <a:prstGeom prst="roundRect">
            <a:avLst>
              <a:gd name="adj" fmla="val 18000"/>
            </a:avLst>
          </a:prstGeom>
          <a:solidFill>
            <a:srgbClr val="3A4A8F"/>
          </a:solidFill>
          <a:ln w="12700">
            <a:solidFill>
              <a:srgbClr val="3A4A8F"/>
            </a:solidFill>
            <a:prstDash val="solid"/>
          </a:ln>
        </p:spPr>
      </p:sp>
      <p:sp>
        <p:nvSpPr>
          <p:cNvPr id="10" name="Shape 7"/>
          <p:cNvSpPr/>
          <p:nvPr/>
        </p:nvSpPr>
        <p:spPr>
          <a:xfrm>
            <a:off x="2921000" y="3111500"/>
            <a:ext cx="1714500" cy="381000"/>
          </a:xfrm>
          <a:prstGeom prst="rightArrow">
            <a:avLst/>
          </a:prstGeom>
          <a:solidFill>
            <a:srgbClr val="E8A33D"/>
          </a:solidFill>
          <a:ln w="12700">
            <a:solidFill>
              <a:srgbClr val="E8A33D"/>
            </a:solidFill>
            <a:prstDash val="solid"/>
          </a:ln>
        </p:spPr>
      </p:sp>
      <p:sp>
        <p:nvSpPr>
          <p:cNvPr id="11" name="Shape 8"/>
          <p:cNvSpPr/>
          <p:nvPr/>
        </p:nvSpPr>
        <p:spPr>
          <a:xfrm>
            <a:off x="7175500" y="3111500"/>
            <a:ext cx="1714500" cy="381000"/>
          </a:xfrm>
          <a:prstGeom prst="rightArrow">
            <a:avLst/>
          </a:prstGeom>
          <a:solidFill>
            <a:srgbClr val="E8A33D"/>
          </a:solidFill>
          <a:ln w="12700">
            <a:solidFill>
              <a:srgbClr val="E8A33D"/>
            </a:solidFill>
            <a:prstDash val="solid"/>
          </a:ln>
        </p:spPr>
      </p:sp>
      <p:sp>
        <p:nvSpPr>
          <p:cNvPr id="12" name="Text 9"/>
          <p:cNvSpPr txBox="1"/>
          <p:nvPr/>
        </p:nvSpPr>
        <p:spPr>
          <a:xfrm>
            <a:off x="698500" y="4445000"/>
            <a:ext cx="2286000" cy="215900"/>
          </a:xfrm>
          <a:prstGeom prst="rect">
            <a:avLst/>
          </a:prstGeom>
          <a:noFill/>
          <a:ln/>
        </p:spPr>
        <p:txBody>
          <a:bodyPr wrap="square" lIns="0" tIns="0" rIns="0" bIns="0" rtlCol="0" anchor="t"/>
          <a:lstStyle/>
          <a:p>
            <a:pPr algn="ctr" indent="0" marL="0">
              <a:lnSpc>
                <a:spcPct val="110000"/>
              </a:lnSpc>
              <a:buNone/>
            </a:pPr>
            <a:r>
              <a:rPr lang="en-US" sz="1200" b="1" spc="200" kern="0" dirty="0">
                <a:solidFill>
                  <a:srgbClr val="1E2761"/>
                </a:solidFill>
                <a:latin typeface="Arial" pitchFamily="34" charset="0"/>
                <a:ea typeface="Arial" pitchFamily="34" charset="-122"/>
                <a:cs typeface="Arial" pitchFamily="34" charset="-120"/>
              </a:rPr>
              <a:t>ENTRADA · 512 DIM</a:t>
            </a:r>
            <a:endParaRPr lang="en-US" sz="1200" dirty="0"/>
          </a:p>
        </p:txBody>
      </p:sp>
      <p:sp>
        <p:nvSpPr>
          <p:cNvPr id="13" name="Text 10"/>
          <p:cNvSpPr txBox="1"/>
          <p:nvPr/>
        </p:nvSpPr>
        <p:spPr>
          <a:xfrm>
            <a:off x="4953000" y="4445000"/>
            <a:ext cx="2286000" cy="215900"/>
          </a:xfrm>
          <a:prstGeom prst="rect">
            <a:avLst/>
          </a:prstGeom>
          <a:noFill/>
          <a:ln/>
        </p:spPr>
        <p:txBody>
          <a:bodyPr wrap="square" lIns="0" tIns="0" rIns="0" bIns="0" rtlCol="0" anchor="t"/>
          <a:lstStyle/>
          <a:p>
            <a:pPr algn="ctr" indent="0" marL="0">
              <a:lnSpc>
                <a:spcPct val="110000"/>
              </a:lnSpc>
              <a:buNone/>
            </a:pPr>
            <a:r>
              <a:rPr lang="en-US" sz="1200" b="1" spc="200" kern="0" dirty="0">
                <a:solidFill>
                  <a:srgbClr val="1E2761"/>
                </a:solidFill>
                <a:latin typeface="Arial" pitchFamily="34" charset="0"/>
                <a:ea typeface="Arial" pitchFamily="34" charset="-122"/>
                <a:cs typeface="Arial" pitchFamily="34" charset="-120"/>
              </a:rPr>
              <a:t>OCULTA · 2048 DIM</a:t>
            </a:r>
            <a:endParaRPr lang="en-US" sz="1200" dirty="0"/>
          </a:p>
        </p:txBody>
      </p:sp>
      <p:sp>
        <p:nvSpPr>
          <p:cNvPr id="14" name="Text 11"/>
          <p:cNvSpPr txBox="1"/>
          <p:nvPr/>
        </p:nvSpPr>
        <p:spPr>
          <a:xfrm>
            <a:off x="9207500" y="4445000"/>
            <a:ext cx="2286000" cy="215900"/>
          </a:xfrm>
          <a:prstGeom prst="rect">
            <a:avLst/>
          </a:prstGeom>
          <a:noFill/>
          <a:ln/>
        </p:spPr>
        <p:txBody>
          <a:bodyPr wrap="square" lIns="0" tIns="0" rIns="0" bIns="0" rtlCol="0" anchor="t"/>
          <a:lstStyle/>
          <a:p>
            <a:pPr algn="ctr" indent="0" marL="0">
              <a:lnSpc>
                <a:spcPct val="110000"/>
              </a:lnSpc>
              <a:buNone/>
            </a:pPr>
            <a:r>
              <a:rPr lang="en-US" sz="1200" b="1" spc="200" kern="0" dirty="0">
                <a:solidFill>
                  <a:srgbClr val="1E2761"/>
                </a:solidFill>
                <a:latin typeface="Arial" pitchFamily="34" charset="0"/>
                <a:ea typeface="Arial" pitchFamily="34" charset="-122"/>
                <a:cs typeface="Arial" pitchFamily="34" charset="-120"/>
              </a:rPr>
              <a:t>SAÍDA · 512 DIM</a:t>
            </a:r>
            <a:endParaRPr lang="en-US" sz="1200" dirty="0"/>
          </a:p>
        </p:txBody>
      </p:sp>
      <p:sp>
        <p:nvSpPr>
          <p:cNvPr id="15" name="Text 12"/>
          <p:cNvSpPr txBox="1"/>
          <p:nvPr/>
        </p:nvSpPr>
        <p:spPr>
          <a:xfrm>
            <a:off x="812800" y="4889500"/>
            <a:ext cx="10566400" cy="889000"/>
          </a:xfrm>
          <a:prstGeom prst="rect">
            <a:avLst/>
          </a:prstGeom>
          <a:noFill/>
          <a:ln/>
        </p:spPr>
        <p:txBody>
          <a:bodyPr wrap="square" lIns="0" tIns="0" rIns="0" bIns="0" rtlCol="0" anchor="t"/>
          <a:lstStyle/>
          <a:p>
            <a:pPr algn="l" indent="0" marL="0">
              <a:lnSpc>
                <a:spcPct val="110000"/>
              </a:lnSpc>
              <a:buNone/>
            </a:pPr>
            <a:r>
              <a:rPr lang="en-US" sz="1400" dirty="0">
                <a:solidFill>
                  <a:srgbClr val="1A1A2E"/>
                </a:solidFill>
                <a:latin typeface="Arial" pitchFamily="34" charset="0"/>
                <a:ea typeface="Arial" pitchFamily="34" charset="-122"/>
                <a:cs typeface="Arial" pitchFamily="34" charset="-120"/>
              </a:rPr>
              <a:t>Isto é literalmente a Feed-Forward do Transformer: camada densa que expande cada vetor (512 → 2048 dim), aplica uma ativação (não-linearidade), e volta a comprimir (2048 → 512 dim). Cada linha do desenho é um peso — são esses pesos que o treino ajusta.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9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ARQUITETURA DO MODELO</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Rede neural, aplicada: Self-Attention</a:t>
            </a:r>
            <a:endParaRPr lang="en-US" sz="3000" dirty="0"/>
          </a:p>
        </p:txBody>
      </p:sp>
      <p:sp>
        <p:nvSpPr>
          <p:cNvPr id="6" name="Text 3"/>
          <p:cNvSpPr txBox="1"/>
          <p:nvPr/>
        </p:nvSpPr>
        <p:spPr>
          <a:xfrm>
            <a:off x="812800" y="1587500"/>
            <a:ext cx="10566400" cy="444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Aplicado ao Transformer: como cada palavra “olha” as outras da mesma frase (slide 12) · “O animal não atravessou a rua porque estava cansado.”</a:t>
            </a:r>
            <a:endParaRPr lang="en-US" sz="1300" dirty="0"/>
          </a:p>
        </p:txBody>
      </p:sp>
      <p:sp>
        <p:nvSpPr>
          <p:cNvPr id="7" name="Text 4"/>
          <p:cNvSpPr txBox="1"/>
          <p:nvPr/>
        </p:nvSpPr>
        <p:spPr>
          <a:xfrm>
            <a:off x="812800" y="2127250"/>
            <a:ext cx="5080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ENTRADA (MESMA FRASE)</a:t>
            </a:r>
            <a:endParaRPr lang="en-US" sz="1200" dirty="0"/>
          </a:p>
        </p:txBody>
      </p:sp>
      <p:sp>
        <p:nvSpPr>
          <p:cNvPr id="8" name="Shape 5"/>
          <p:cNvSpPr/>
          <p:nvPr/>
        </p:nvSpPr>
        <p:spPr>
          <a:xfrm>
            <a:off x="812800" y="2381250"/>
            <a:ext cx="1651000" cy="457200"/>
          </a:xfrm>
          <a:prstGeom prst="roundRect">
            <a:avLst>
              <a:gd name="adj" fmla="val 19444"/>
            </a:avLst>
          </a:prstGeom>
          <a:solidFill>
            <a:srgbClr val="FFFFFF"/>
          </a:solidFill>
          <a:ln w="12700">
            <a:solidFill>
              <a:srgbClr val="B9C6E8"/>
            </a:solidFill>
            <a:prstDash val="solid"/>
          </a:ln>
        </p:spPr>
      </p:sp>
      <p:sp>
        <p:nvSpPr>
          <p:cNvPr id="9" name="Text 6"/>
          <p:cNvSpPr txBox="1"/>
          <p:nvPr/>
        </p:nvSpPr>
        <p:spPr>
          <a:xfrm>
            <a:off x="812800" y="2381250"/>
            <a:ext cx="1651000" cy="4572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animal</a:t>
            </a:r>
            <a:endParaRPr lang="en-US" sz="1400" dirty="0"/>
          </a:p>
        </p:txBody>
      </p:sp>
      <p:sp>
        <p:nvSpPr>
          <p:cNvPr id="10" name="Shape 7"/>
          <p:cNvSpPr/>
          <p:nvPr/>
        </p:nvSpPr>
        <p:spPr>
          <a:xfrm>
            <a:off x="3041650" y="2381250"/>
            <a:ext cx="1651000" cy="457200"/>
          </a:xfrm>
          <a:prstGeom prst="roundRect">
            <a:avLst>
              <a:gd name="adj" fmla="val 19444"/>
            </a:avLst>
          </a:prstGeom>
          <a:solidFill>
            <a:srgbClr val="FFFFFF"/>
          </a:solidFill>
          <a:ln w="12700">
            <a:solidFill>
              <a:srgbClr val="B9C6E8"/>
            </a:solidFill>
            <a:prstDash val="solid"/>
          </a:ln>
        </p:spPr>
      </p:sp>
      <p:sp>
        <p:nvSpPr>
          <p:cNvPr id="11" name="Text 8"/>
          <p:cNvSpPr txBox="1"/>
          <p:nvPr/>
        </p:nvSpPr>
        <p:spPr>
          <a:xfrm>
            <a:off x="3041650" y="2381250"/>
            <a:ext cx="1651000" cy="4572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não</a:t>
            </a:r>
            <a:endParaRPr lang="en-US" sz="1400" dirty="0"/>
          </a:p>
        </p:txBody>
      </p:sp>
      <p:sp>
        <p:nvSpPr>
          <p:cNvPr id="12" name="Shape 9"/>
          <p:cNvSpPr/>
          <p:nvPr/>
        </p:nvSpPr>
        <p:spPr>
          <a:xfrm>
            <a:off x="5270500" y="2381250"/>
            <a:ext cx="1651000" cy="457200"/>
          </a:xfrm>
          <a:prstGeom prst="roundRect">
            <a:avLst>
              <a:gd name="adj" fmla="val 19444"/>
            </a:avLst>
          </a:prstGeom>
          <a:solidFill>
            <a:srgbClr val="FFFFFF"/>
          </a:solidFill>
          <a:ln w="12700">
            <a:solidFill>
              <a:srgbClr val="B9C6E8"/>
            </a:solidFill>
            <a:prstDash val="solid"/>
          </a:ln>
        </p:spPr>
      </p:sp>
      <p:sp>
        <p:nvSpPr>
          <p:cNvPr id="13" name="Text 10"/>
          <p:cNvSpPr txBox="1"/>
          <p:nvPr/>
        </p:nvSpPr>
        <p:spPr>
          <a:xfrm>
            <a:off x="5270500" y="2381250"/>
            <a:ext cx="1651000" cy="4572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atravessou</a:t>
            </a:r>
            <a:endParaRPr lang="en-US" sz="1400" dirty="0"/>
          </a:p>
        </p:txBody>
      </p:sp>
      <p:sp>
        <p:nvSpPr>
          <p:cNvPr id="14" name="Shape 11"/>
          <p:cNvSpPr/>
          <p:nvPr/>
        </p:nvSpPr>
        <p:spPr>
          <a:xfrm>
            <a:off x="7499350" y="2381250"/>
            <a:ext cx="1651000" cy="457200"/>
          </a:xfrm>
          <a:prstGeom prst="roundRect">
            <a:avLst>
              <a:gd name="adj" fmla="val 19444"/>
            </a:avLst>
          </a:prstGeom>
          <a:solidFill>
            <a:srgbClr val="FFFFFF"/>
          </a:solidFill>
          <a:ln w="12700">
            <a:solidFill>
              <a:srgbClr val="B9C6E8"/>
            </a:solidFill>
            <a:prstDash val="solid"/>
          </a:ln>
        </p:spPr>
      </p:sp>
      <p:sp>
        <p:nvSpPr>
          <p:cNvPr id="15" name="Text 12"/>
          <p:cNvSpPr txBox="1"/>
          <p:nvPr/>
        </p:nvSpPr>
        <p:spPr>
          <a:xfrm>
            <a:off x="7499350" y="2381250"/>
            <a:ext cx="1651000" cy="4572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porque</a:t>
            </a:r>
            <a:endParaRPr lang="en-US" sz="1400" dirty="0"/>
          </a:p>
        </p:txBody>
      </p:sp>
      <p:sp>
        <p:nvSpPr>
          <p:cNvPr id="16" name="Shape 13"/>
          <p:cNvSpPr/>
          <p:nvPr/>
        </p:nvSpPr>
        <p:spPr>
          <a:xfrm>
            <a:off x="9728200" y="2381250"/>
            <a:ext cx="1651000" cy="457200"/>
          </a:xfrm>
          <a:prstGeom prst="roundRect">
            <a:avLst>
              <a:gd name="adj" fmla="val 19444"/>
            </a:avLst>
          </a:prstGeom>
          <a:solidFill>
            <a:srgbClr val="FFFFFF"/>
          </a:solidFill>
          <a:ln w="12700">
            <a:solidFill>
              <a:srgbClr val="B9C6E8"/>
            </a:solidFill>
            <a:prstDash val="solid"/>
          </a:ln>
        </p:spPr>
      </p:sp>
      <p:sp>
        <p:nvSpPr>
          <p:cNvPr id="17" name="Text 14"/>
          <p:cNvSpPr txBox="1"/>
          <p:nvPr/>
        </p:nvSpPr>
        <p:spPr>
          <a:xfrm>
            <a:off x="9728200" y="2381250"/>
            <a:ext cx="1651000" cy="4572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estava</a:t>
            </a:r>
            <a:endParaRPr lang="en-US" sz="1400" dirty="0"/>
          </a:p>
        </p:txBody>
      </p:sp>
      <p:sp>
        <p:nvSpPr>
          <p:cNvPr id="18" name="Shape 15"/>
          <p:cNvSpPr/>
          <p:nvPr/>
        </p:nvSpPr>
        <p:spPr>
          <a:xfrm>
            <a:off x="1638300" y="2838450"/>
            <a:ext cx="0" cy="1320800"/>
          </a:xfrm>
          <a:prstGeom prst="line">
            <a:avLst/>
          </a:prstGeom>
          <a:noFill/>
          <a:ln w="25400">
            <a:solidFill>
              <a:srgbClr val="B9C6E8"/>
            </a:solidFill>
            <a:prstDash val="solid"/>
            <a:tailEnd type="triangle"/>
          </a:ln>
        </p:spPr>
      </p:sp>
      <p:sp>
        <p:nvSpPr>
          <p:cNvPr id="19" name="Shape 16"/>
          <p:cNvSpPr/>
          <p:nvPr/>
        </p:nvSpPr>
        <p:spPr>
          <a:xfrm>
            <a:off x="3867150" y="2838450"/>
            <a:ext cx="0" cy="1320800"/>
          </a:xfrm>
          <a:prstGeom prst="line">
            <a:avLst/>
          </a:prstGeom>
          <a:noFill/>
          <a:ln w="25400">
            <a:solidFill>
              <a:srgbClr val="B9C6E8"/>
            </a:solidFill>
            <a:prstDash val="solid"/>
            <a:tailEnd type="triangle"/>
          </a:ln>
        </p:spPr>
      </p:sp>
      <p:sp>
        <p:nvSpPr>
          <p:cNvPr id="20" name="Shape 17"/>
          <p:cNvSpPr/>
          <p:nvPr/>
        </p:nvSpPr>
        <p:spPr>
          <a:xfrm>
            <a:off x="6096000" y="2838450"/>
            <a:ext cx="0" cy="1320800"/>
          </a:xfrm>
          <a:prstGeom prst="line">
            <a:avLst/>
          </a:prstGeom>
          <a:noFill/>
          <a:ln w="25400">
            <a:solidFill>
              <a:srgbClr val="B9C6E8"/>
            </a:solidFill>
            <a:prstDash val="solid"/>
            <a:tailEnd type="triangle"/>
          </a:ln>
        </p:spPr>
      </p:sp>
      <p:sp>
        <p:nvSpPr>
          <p:cNvPr id="21" name="Shape 18"/>
          <p:cNvSpPr/>
          <p:nvPr/>
        </p:nvSpPr>
        <p:spPr>
          <a:xfrm>
            <a:off x="8324850" y="2838450"/>
            <a:ext cx="0" cy="1320800"/>
          </a:xfrm>
          <a:prstGeom prst="line">
            <a:avLst/>
          </a:prstGeom>
          <a:noFill/>
          <a:ln w="25400">
            <a:solidFill>
              <a:srgbClr val="B9C6E8"/>
            </a:solidFill>
            <a:prstDash val="solid"/>
            <a:tailEnd type="triangle"/>
          </a:ln>
        </p:spPr>
      </p:sp>
      <p:sp>
        <p:nvSpPr>
          <p:cNvPr id="22" name="Shape 19"/>
          <p:cNvSpPr/>
          <p:nvPr/>
        </p:nvSpPr>
        <p:spPr>
          <a:xfrm>
            <a:off x="10553700" y="2838450"/>
            <a:ext cx="0" cy="1320800"/>
          </a:xfrm>
          <a:prstGeom prst="line">
            <a:avLst/>
          </a:prstGeom>
          <a:noFill/>
          <a:ln w="25400">
            <a:solidFill>
              <a:srgbClr val="B9C6E8"/>
            </a:solidFill>
            <a:prstDash val="solid"/>
            <a:tailEnd type="triangle"/>
          </a:ln>
        </p:spPr>
      </p:sp>
      <p:sp>
        <p:nvSpPr>
          <p:cNvPr id="23" name="Shape 20"/>
          <p:cNvSpPr/>
          <p:nvPr/>
        </p:nvSpPr>
        <p:spPr>
          <a:xfrm>
            <a:off x="1638300" y="2838450"/>
            <a:ext cx="8915400" cy="1320800"/>
          </a:xfrm>
          <a:prstGeom prst="line">
            <a:avLst/>
          </a:prstGeom>
          <a:noFill/>
          <a:ln w="76200">
            <a:solidFill>
              <a:srgbClr val="E8A33D"/>
            </a:solidFill>
            <a:prstDash val="solid"/>
            <a:tailEnd type="triangle"/>
          </a:ln>
        </p:spPr>
      </p:sp>
      <p:sp>
        <p:nvSpPr>
          <p:cNvPr id="24" name="Shape 21"/>
          <p:cNvSpPr/>
          <p:nvPr/>
        </p:nvSpPr>
        <p:spPr>
          <a:xfrm>
            <a:off x="812800" y="4159250"/>
            <a:ext cx="1651000" cy="457200"/>
          </a:xfrm>
          <a:prstGeom prst="roundRect">
            <a:avLst>
              <a:gd name="adj" fmla="val 19444"/>
            </a:avLst>
          </a:prstGeom>
          <a:solidFill>
            <a:srgbClr val="FFFFFF"/>
          </a:solidFill>
          <a:ln w="12700">
            <a:solidFill>
              <a:srgbClr val="B9C6E8"/>
            </a:solidFill>
            <a:prstDash val="solid"/>
          </a:ln>
        </p:spPr>
      </p:sp>
      <p:sp>
        <p:nvSpPr>
          <p:cNvPr id="25" name="Text 22"/>
          <p:cNvSpPr txBox="1"/>
          <p:nvPr/>
        </p:nvSpPr>
        <p:spPr>
          <a:xfrm>
            <a:off x="812800" y="4159250"/>
            <a:ext cx="1651000" cy="4572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animal</a:t>
            </a:r>
            <a:endParaRPr lang="en-US" sz="1400" dirty="0"/>
          </a:p>
        </p:txBody>
      </p:sp>
      <p:sp>
        <p:nvSpPr>
          <p:cNvPr id="26" name="Shape 23"/>
          <p:cNvSpPr/>
          <p:nvPr/>
        </p:nvSpPr>
        <p:spPr>
          <a:xfrm>
            <a:off x="3041650" y="4159250"/>
            <a:ext cx="1651000" cy="457200"/>
          </a:xfrm>
          <a:prstGeom prst="roundRect">
            <a:avLst>
              <a:gd name="adj" fmla="val 19444"/>
            </a:avLst>
          </a:prstGeom>
          <a:solidFill>
            <a:srgbClr val="FFFFFF"/>
          </a:solidFill>
          <a:ln w="12700">
            <a:solidFill>
              <a:srgbClr val="B9C6E8"/>
            </a:solidFill>
            <a:prstDash val="solid"/>
          </a:ln>
        </p:spPr>
      </p:sp>
      <p:sp>
        <p:nvSpPr>
          <p:cNvPr id="27" name="Text 24"/>
          <p:cNvSpPr txBox="1"/>
          <p:nvPr/>
        </p:nvSpPr>
        <p:spPr>
          <a:xfrm>
            <a:off x="3041650" y="4159250"/>
            <a:ext cx="1651000" cy="4572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não</a:t>
            </a:r>
            <a:endParaRPr lang="en-US" sz="1400" dirty="0"/>
          </a:p>
        </p:txBody>
      </p:sp>
      <p:sp>
        <p:nvSpPr>
          <p:cNvPr id="28" name="Shape 25"/>
          <p:cNvSpPr/>
          <p:nvPr/>
        </p:nvSpPr>
        <p:spPr>
          <a:xfrm>
            <a:off x="5270500" y="4159250"/>
            <a:ext cx="1651000" cy="457200"/>
          </a:xfrm>
          <a:prstGeom prst="roundRect">
            <a:avLst>
              <a:gd name="adj" fmla="val 19444"/>
            </a:avLst>
          </a:prstGeom>
          <a:solidFill>
            <a:srgbClr val="FFFFFF"/>
          </a:solidFill>
          <a:ln w="12700">
            <a:solidFill>
              <a:srgbClr val="B9C6E8"/>
            </a:solidFill>
            <a:prstDash val="solid"/>
          </a:ln>
        </p:spPr>
      </p:sp>
      <p:sp>
        <p:nvSpPr>
          <p:cNvPr id="29" name="Text 26"/>
          <p:cNvSpPr txBox="1"/>
          <p:nvPr/>
        </p:nvSpPr>
        <p:spPr>
          <a:xfrm>
            <a:off x="5270500" y="4159250"/>
            <a:ext cx="1651000" cy="4572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atravessou</a:t>
            </a:r>
            <a:endParaRPr lang="en-US" sz="1400" dirty="0"/>
          </a:p>
        </p:txBody>
      </p:sp>
      <p:sp>
        <p:nvSpPr>
          <p:cNvPr id="30" name="Shape 27"/>
          <p:cNvSpPr/>
          <p:nvPr/>
        </p:nvSpPr>
        <p:spPr>
          <a:xfrm>
            <a:off x="7499350" y="4159250"/>
            <a:ext cx="1651000" cy="457200"/>
          </a:xfrm>
          <a:prstGeom prst="roundRect">
            <a:avLst>
              <a:gd name="adj" fmla="val 19444"/>
            </a:avLst>
          </a:prstGeom>
          <a:solidFill>
            <a:srgbClr val="FFFFFF"/>
          </a:solidFill>
          <a:ln w="12700">
            <a:solidFill>
              <a:srgbClr val="B9C6E8"/>
            </a:solidFill>
            <a:prstDash val="solid"/>
          </a:ln>
        </p:spPr>
      </p:sp>
      <p:sp>
        <p:nvSpPr>
          <p:cNvPr id="31" name="Text 28"/>
          <p:cNvSpPr txBox="1"/>
          <p:nvPr/>
        </p:nvSpPr>
        <p:spPr>
          <a:xfrm>
            <a:off x="7499350" y="4159250"/>
            <a:ext cx="1651000" cy="4572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porque</a:t>
            </a:r>
            <a:endParaRPr lang="en-US" sz="1400" dirty="0"/>
          </a:p>
        </p:txBody>
      </p:sp>
      <p:sp>
        <p:nvSpPr>
          <p:cNvPr id="32" name="Shape 29"/>
          <p:cNvSpPr/>
          <p:nvPr/>
        </p:nvSpPr>
        <p:spPr>
          <a:xfrm>
            <a:off x="9728200" y="4159250"/>
            <a:ext cx="1651000" cy="457200"/>
          </a:xfrm>
          <a:prstGeom prst="roundRect">
            <a:avLst>
              <a:gd name="adj" fmla="val 19444"/>
            </a:avLst>
          </a:prstGeom>
          <a:solidFill>
            <a:srgbClr val="1E2761"/>
          </a:solidFill>
          <a:ln w="12700">
            <a:solidFill>
              <a:srgbClr val="E8A33D"/>
            </a:solidFill>
            <a:prstDash val="solid"/>
          </a:ln>
        </p:spPr>
      </p:sp>
      <p:sp>
        <p:nvSpPr>
          <p:cNvPr id="33" name="Text 30"/>
          <p:cNvSpPr txBox="1"/>
          <p:nvPr/>
        </p:nvSpPr>
        <p:spPr>
          <a:xfrm>
            <a:off x="9728200" y="4159250"/>
            <a:ext cx="1651000"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rial" pitchFamily="34" charset="0"/>
                <a:ea typeface="Arial" pitchFamily="34" charset="-122"/>
                <a:cs typeface="Arial" pitchFamily="34" charset="-120"/>
              </a:rPr>
              <a:t>estava</a:t>
            </a:r>
            <a:endParaRPr lang="en-US" sz="1400" dirty="0"/>
          </a:p>
        </p:txBody>
      </p:sp>
      <p:sp>
        <p:nvSpPr>
          <p:cNvPr id="34" name="Text 31"/>
          <p:cNvSpPr txBox="1"/>
          <p:nvPr/>
        </p:nvSpPr>
        <p:spPr>
          <a:xfrm>
            <a:off x="812800" y="4699000"/>
            <a:ext cx="5080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SAÍDA CONTEXTUALIZADA</a:t>
            </a:r>
            <a:endParaRPr lang="en-US" sz="1200" dirty="0"/>
          </a:p>
        </p:txBody>
      </p:sp>
      <p:sp>
        <p:nvSpPr>
          <p:cNvPr id="35" name="Text 32"/>
          <p:cNvSpPr txBox="1"/>
          <p:nvPr/>
        </p:nvSpPr>
        <p:spPr>
          <a:xfrm>
            <a:off x="812800" y="5016500"/>
            <a:ext cx="10566400" cy="889000"/>
          </a:xfrm>
          <a:prstGeom prst="rect">
            <a:avLst/>
          </a:prstGeom>
          <a:noFill/>
          <a:ln/>
        </p:spPr>
        <p:txBody>
          <a:bodyPr wrap="square" lIns="0" tIns="0" rIns="0" bIns="0" rtlCol="0" anchor="t"/>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Isto é a Self-Attention: a saída de cada palavra é uma combinação ponderada de TODAS as palavras da mesma frase (linhas = pesos, via Query·Key, normalizados por softmax). Repare: “estava” (saída) presta muita atenção a “animal” (entrada) — é assim que o modelo resolve a quem “estava” se refere.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10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ARQUITETURA DO MODELO</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Rede neural, aplicada: Cross-Attention</a:t>
            </a:r>
            <a:endParaRPr lang="en-US" sz="3000" dirty="0"/>
          </a:p>
        </p:txBody>
      </p:sp>
      <p:sp>
        <p:nvSpPr>
          <p:cNvPr id="6" name="Text 3"/>
          <p:cNvSpPr txBox="1"/>
          <p:nvPr/>
        </p:nvSpPr>
        <p:spPr>
          <a:xfrm>
            <a:off x="812800" y="1587500"/>
            <a:ext cx="10566400" cy="444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Aplicado ao Transformer: como o decoder consulta a saída do encoder (slide 12) · mesmo exemplo do slide 13: gerando “What is photosynthesis?” a partir do contexto lido</a:t>
            </a:r>
            <a:endParaRPr lang="en-US" sz="1300" dirty="0"/>
          </a:p>
        </p:txBody>
      </p:sp>
      <p:sp>
        <p:nvSpPr>
          <p:cNvPr id="7" name="Text 4"/>
          <p:cNvSpPr txBox="1"/>
          <p:nvPr/>
        </p:nvSpPr>
        <p:spPr>
          <a:xfrm>
            <a:off x="812800" y="2127250"/>
            <a:ext cx="3810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SAÍDA DO ENCODER</a:t>
            </a:r>
            <a:endParaRPr lang="en-US" sz="1200" dirty="0"/>
          </a:p>
        </p:txBody>
      </p:sp>
      <p:sp>
        <p:nvSpPr>
          <p:cNvPr id="8" name="Text 5"/>
          <p:cNvSpPr txBox="1"/>
          <p:nvPr/>
        </p:nvSpPr>
        <p:spPr>
          <a:xfrm>
            <a:off x="8712200" y="2127250"/>
            <a:ext cx="3810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PERGUNTA (DECODER)</a:t>
            </a:r>
            <a:endParaRPr lang="en-US" sz="1200" dirty="0"/>
          </a:p>
        </p:txBody>
      </p:sp>
      <p:sp>
        <p:nvSpPr>
          <p:cNvPr id="9" name="Shape 6"/>
          <p:cNvSpPr/>
          <p:nvPr/>
        </p:nvSpPr>
        <p:spPr>
          <a:xfrm flipH="1">
            <a:off x="3479800" y="2908300"/>
            <a:ext cx="5232400" cy="69850"/>
          </a:xfrm>
          <a:prstGeom prst="line">
            <a:avLst/>
          </a:prstGeom>
          <a:noFill/>
          <a:ln w="19050">
            <a:solidFill>
              <a:srgbClr val="B9C6E8"/>
            </a:solidFill>
            <a:prstDash val="solid"/>
            <a:tailEnd type="triangle"/>
          </a:ln>
        </p:spPr>
      </p:sp>
      <p:sp>
        <p:nvSpPr>
          <p:cNvPr id="10" name="Shape 7"/>
          <p:cNvSpPr/>
          <p:nvPr/>
        </p:nvSpPr>
        <p:spPr>
          <a:xfrm flipH="1" flipV="1">
            <a:off x="3479800" y="2978150"/>
            <a:ext cx="5232400" cy="565150"/>
          </a:xfrm>
          <a:prstGeom prst="line">
            <a:avLst/>
          </a:prstGeom>
          <a:noFill/>
          <a:ln w="19050">
            <a:solidFill>
              <a:srgbClr val="B9C6E8"/>
            </a:solidFill>
            <a:prstDash val="solid"/>
            <a:tailEnd type="triangle"/>
          </a:ln>
        </p:spPr>
      </p:sp>
      <p:sp>
        <p:nvSpPr>
          <p:cNvPr id="11" name="Shape 8"/>
          <p:cNvSpPr/>
          <p:nvPr/>
        </p:nvSpPr>
        <p:spPr>
          <a:xfrm flipH="1" flipV="1">
            <a:off x="3479800" y="2978150"/>
            <a:ext cx="5232400" cy="1200150"/>
          </a:xfrm>
          <a:prstGeom prst="line">
            <a:avLst/>
          </a:prstGeom>
          <a:noFill/>
          <a:ln w="19050">
            <a:solidFill>
              <a:srgbClr val="B9C6E8"/>
            </a:solidFill>
            <a:prstDash val="solid"/>
            <a:tailEnd type="triangle"/>
          </a:ln>
        </p:spPr>
      </p:sp>
      <p:sp>
        <p:nvSpPr>
          <p:cNvPr id="12" name="Shape 9"/>
          <p:cNvSpPr/>
          <p:nvPr/>
        </p:nvSpPr>
        <p:spPr>
          <a:xfrm flipH="1">
            <a:off x="3479800" y="2908300"/>
            <a:ext cx="5232400" cy="908050"/>
          </a:xfrm>
          <a:prstGeom prst="line">
            <a:avLst/>
          </a:prstGeom>
          <a:noFill/>
          <a:ln w="19050">
            <a:solidFill>
              <a:srgbClr val="B9C6E8"/>
            </a:solidFill>
            <a:prstDash val="solid"/>
            <a:tailEnd type="triangle"/>
          </a:ln>
        </p:spPr>
      </p:sp>
      <p:sp>
        <p:nvSpPr>
          <p:cNvPr id="13" name="Shape 10"/>
          <p:cNvSpPr/>
          <p:nvPr/>
        </p:nvSpPr>
        <p:spPr>
          <a:xfrm flipH="1">
            <a:off x="3479800" y="3543300"/>
            <a:ext cx="5232400" cy="273050"/>
          </a:xfrm>
          <a:prstGeom prst="line">
            <a:avLst/>
          </a:prstGeom>
          <a:noFill/>
          <a:ln w="19050">
            <a:solidFill>
              <a:srgbClr val="B9C6E8"/>
            </a:solidFill>
            <a:prstDash val="solid"/>
            <a:tailEnd type="triangle"/>
          </a:ln>
        </p:spPr>
      </p:sp>
      <p:sp>
        <p:nvSpPr>
          <p:cNvPr id="14" name="Shape 11"/>
          <p:cNvSpPr/>
          <p:nvPr/>
        </p:nvSpPr>
        <p:spPr>
          <a:xfrm flipH="1" flipV="1">
            <a:off x="3479800" y="3816350"/>
            <a:ext cx="5232400" cy="361950"/>
          </a:xfrm>
          <a:prstGeom prst="line">
            <a:avLst/>
          </a:prstGeom>
          <a:noFill/>
          <a:ln w="19050">
            <a:solidFill>
              <a:srgbClr val="B9C6E8"/>
            </a:solidFill>
            <a:prstDash val="solid"/>
            <a:tailEnd type="triangle"/>
          </a:ln>
        </p:spPr>
      </p:sp>
      <p:sp>
        <p:nvSpPr>
          <p:cNvPr id="15" name="Shape 12"/>
          <p:cNvSpPr/>
          <p:nvPr/>
        </p:nvSpPr>
        <p:spPr>
          <a:xfrm flipH="1" flipV="1">
            <a:off x="3479800" y="2559050"/>
            <a:ext cx="5232400" cy="1619250"/>
          </a:xfrm>
          <a:prstGeom prst="line">
            <a:avLst/>
          </a:prstGeom>
          <a:noFill/>
          <a:ln w="76200">
            <a:solidFill>
              <a:srgbClr val="E8A33D"/>
            </a:solidFill>
            <a:prstDash val="solid"/>
            <a:tailEnd type="triangle"/>
          </a:ln>
        </p:spPr>
      </p:sp>
      <p:sp>
        <p:nvSpPr>
          <p:cNvPr id="16" name="Shape 13"/>
          <p:cNvSpPr/>
          <p:nvPr/>
        </p:nvSpPr>
        <p:spPr>
          <a:xfrm>
            <a:off x="812800" y="2381250"/>
            <a:ext cx="2667000" cy="355600"/>
          </a:xfrm>
          <a:prstGeom prst="roundRect">
            <a:avLst>
              <a:gd name="adj" fmla="val 25000"/>
            </a:avLst>
          </a:prstGeom>
          <a:solidFill>
            <a:srgbClr val="1E2761"/>
          </a:solidFill>
          <a:ln w="12700">
            <a:solidFill>
              <a:srgbClr val="E8A33D"/>
            </a:solidFill>
            <a:prstDash val="solid"/>
          </a:ln>
        </p:spPr>
      </p:sp>
      <p:sp>
        <p:nvSpPr>
          <p:cNvPr id="17" name="Text 14"/>
          <p:cNvSpPr txBox="1"/>
          <p:nvPr/>
        </p:nvSpPr>
        <p:spPr>
          <a:xfrm>
            <a:off x="812800" y="2381250"/>
            <a:ext cx="2667000" cy="3556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rial" pitchFamily="34" charset="0"/>
                <a:ea typeface="Arial" pitchFamily="34" charset="-122"/>
                <a:cs typeface="Arial" pitchFamily="34" charset="-120"/>
              </a:rPr>
              <a:t>Photosynthesis</a:t>
            </a:r>
            <a:endParaRPr lang="en-US" sz="1400" dirty="0"/>
          </a:p>
        </p:txBody>
      </p:sp>
      <p:sp>
        <p:nvSpPr>
          <p:cNvPr id="18" name="Shape 15"/>
          <p:cNvSpPr/>
          <p:nvPr/>
        </p:nvSpPr>
        <p:spPr>
          <a:xfrm>
            <a:off x="812800" y="2800350"/>
            <a:ext cx="2667000" cy="355600"/>
          </a:xfrm>
          <a:prstGeom prst="roundRect">
            <a:avLst>
              <a:gd name="adj" fmla="val 25000"/>
            </a:avLst>
          </a:prstGeom>
          <a:solidFill>
            <a:srgbClr val="FFFFFF"/>
          </a:solidFill>
          <a:ln w="12700">
            <a:solidFill>
              <a:srgbClr val="B9C6E8"/>
            </a:solidFill>
            <a:prstDash val="solid"/>
          </a:ln>
        </p:spPr>
      </p:sp>
      <p:sp>
        <p:nvSpPr>
          <p:cNvPr id="19" name="Text 16"/>
          <p:cNvSpPr txBox="1"/>
          <p:nvPr/>
        </p:nvSpPr>
        <p:spPr>
          <a:xfrm>
            <a:off x="812800" y="2800350"/>
            <a:ext cx="2667000" cy="3556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plants</a:t>
            </a:r>
            <a:endParaRPr lang="en-US" sz="1400" dirty="0"/>
          </a:p>
        </p:txBody>
      </p:sp>
      <p:sp>
        <p:nvSpPr>
          <p:cNvPr id="20" name="Shape 17"/>
          <p:cNvSpPr/>
          <p:nvPr/>
        </p:nvSpPr>
        <p:spPr>
          <a:xfrm>
            <a:off x="812800" y="3219450"/>
            <a:ext cx="2667000" cy="355600"/>
          </a:xfrm>
          <a:prstGeom prst="roundRect">
            <a:avLst>
              <a:gd name="adj" fmla="val 25000"/>
            </a:avLst>
          </a:prstGeom>
          <a:solidFill>
            <a:srgbClr val="FFFFFF"/>
          </a:solidFill>
          <a:ln w="12700">
            <a:solidFill>
              <a:srgbClr val="B9C6E8"/>
            </a:solidFill>
            <a:prstDash val="solid"/>
          </a:ln>
        </p:spPr>
      </p:sp>
      <p:sp>
        <p:nvSpPr>
          <p:cNvPr id="21" name="Text 18"/>
          <p:cNvSpPr txBox="1"/>
          <p:nvPr/>
        </p:nvSpPr>
        <p:spPr>
          <a:xfrm>
            <a:off x="812800" y="3219450"/>
            <a:ext cx="2667000" cy="3556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light</a:t>
            </a:r>
            <a:endParaRPr lang="en-US" sz="1400" dirty="0"/>
          </a:p>
        </p:txBody>
      </p:sp>
      <p:sp>
        <p:nvSpPr>
          <p:cNvPr id="22" name="Shape 19"/>
          <p:cNvSpPr/>
          <p:nvPr/>
        </p:nvSpPr>
        <p:spPr>
          <a:xfrm>
            <a:off x="812800" y="3638550"/>
            <a:ext cx="2667000" cy="355600"/>
          </a:xfrm>
          <a:prstGeom prst="roundRect">
            <a:avLst>
              <a:gd name="adj" fmla="val 25000"/>
            </a:avLst>
          </a:prstGeom>
          <a:solidFill>
            <a:srgbClr val="FFFFFF"/>
          </a:solidFill>
          <a:ln w="12700">
            <a:solidFill>
              <a:srgbClr val="B9C6E8"/>
            </a:solidFill>
            <a:prstDash val="solid"/>
          </a:ln>
        </p:spPr>
      </p:sp>
      <p:sp>
        <p:nvSpPr>
          <p:cNvPr id="23" name="Text 20"/>
          <p:cNvSpPr txBox="1"/>
          <p:nvPr/>
        </p:nvSpPr>
        <p:spPr>
          <a:xfrm>
            <a:off x="812800" y="3638550"/>
            <a:ext cx="2667000" cy="3556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energy</a:t>
            </a:r>
            <a:endParaRPr lang="en-US" sz="1400" dirty="0"/>
          </a:p>
        </p:txBody>
      </p:sp>
      <p:sp>
        <p:nvSpPr>
          <p:cNvPr id="24" name="Shape 21"/>
          <p:cNvSpPr/>
          <p:nvPr/>
        </p:nvSpPr>
        <p:spPr>
          <a:xfrm>
            <a:off x="812800" y="4057650"/>
            <a:ext cx="2667000" cy="355600"/>
          </a:xfrm>
          <a:prstGeom prst="roundRect">
            <a:avLst>
              <a:gd name="adj" fmla="val 25000"/>
            </a:avLst>
          </a:prstGeom>
          <a:solidFill>
            <a:srgbClr val="FFFFFF"/>
          </a:solidFill>
          <a:ln w="12700">
            <a:solidFill>
              <a:srgbClr val="B9C6E8"/>
            </a:solidFill>
            <a:prstDash val="solid"/>
          </a:ln>
        </p:spPr>
      </p:sp>
      <p:sp>
        <p:nvSpPr>
          <p:cNvPr id="25" name="Text 22"/>
          <p:cNvSpPr txBox="1"/>
          <p:nvPr/>
        </p:nvSpPr>
        <p:spPr>
          <a:xfrm>
            <a:off x="812800" y="4057650"/>
            <a:ext cx="2667000" cy="3556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chemical</a:t>
            </a:r>
            <a:endParaRPr lang="en-US" sz="1400" dirty="0"/>
          </a:p>
        </p:txBody>
      </p:sp>
      <p:sp>
        <p:nvSpPr>
          <p:cNvPr id="26" name="Shape 23"/>
          <p:cNvSpPr/>
          <p:nvPr/>
        </p:nvSpPr>
        <p:spPr>
          <a:xfrm>
            <a:off x="812800" y="4476750"/>
            <a:ext cx="2667000" cy="355600"/>
          </a:xfrm>
          <a:prstGeom prst="roundRect">
            <a:avLst>
              <a:gd name="adj" fmla="val 25000"/>
            </a:avLst>
          </a:prstGeom>
          <a:solidFill>
            <a:srgbClr val="FFFFFF"/>
          </a:solidFill>
          <a:ln w="12700">
            <a:solidFill>
              <a:srgbClr val="B9C6E8"/>
            </a:solidFill>
            <a:prstDash val="solid"/>
          </a:ln>
        </p:spPr>
      </p:sp>
      <p:sp>
        <p:nvSpPr>
          <p:cNvPr id="27" name="Text 24"/>
          <p:cNvSpPr txBox="1"/>
          <p:nvPr/>
        </p:nvSpPr>
        <p:spPr>
          <a:xfrm>
            <a:off x="812800" y="4476750"/>
            <a:ext cx="2667000" cy="3556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carbohydrate</a:t>
            </a:r>
            <a:endParaRPr lang="en-US" sz="1400" dirty="0"/>
          </a:p>
        </p:txBody>
      </p:sp>
      <p:sp>
        <p:nvSpPr>
          <p:cNvPr id="28" name="Shape 25"/>
          <p:cNvSpPr/>
          <p:nvPr/>
        </p:nvSpPr>
        <p:spPr>
          <a:xfrm>
            <a:off x="8712200" y="2730500"/>
            <a:ext cx="2667000" cy="355600"/>
          </a:xfrm>
          <a:prstGeom prst="roundRect">
            <a:avLst>
              <a:gd name="adj" fmla="val 25000"/>
            </a:avLst>
          </a:prstGeom>
          <a:solidFill>
            <a:srgbClr val="FFFFFF"/>
          </a:solidFill>
          <a:ln w="12700">
            <a:solidFill>
              <a:srgbClr val="B9C6E8"/>
            </a:solidFill>
            <a:prstDash val="solid"/>
          </a:ln>
        </p:spPr>
      </p:sp>
      <p:sp>
        <p:nvSpPr>
          <p:cNvPr id="29" name="Text 26"/>
          <p:cNvSpPr txBox="1"/>
          <p:nvPr/>
        </p:nvSpPr>
        <p:spPr>
          <a:xfrm>
            <a:off x="8712200" y="2730500"/>
            <a:ext cx="2667000" cy="3556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What</a:t>
            </a:r>
            <a:endParaRPr lang="en-US" sz="1400" dirty="0"/>
          </a:p>
        </p:txBody>
      </p:sp>
      <p:sp>
        <p:nvSpPr>
          <p:cNvPr id="30" name="Shape 27"/>
          <p:cNvSpPr/>
          <p:nvPr/>
        </p:nvSpPr>
        <p:spPr>
          <a:xfrm>
            <a:off x="8712200" y="3365500"/>
            <a:ext cx="2667000" cy="355600"/>
          </a:xfrm>
          <a:prstGeom prst="roundRect">
            <a:avLst>
              <a:gd name="adj" fmla="val 25000"/>
            </a:avLst>
          </a:prstGeom>
          <a:solidFill>
            <a:srgbClr val="FFFFFF"/>
          </a:solidFill>
          <a:ln w="12700">
            <a:solidFill>
              <a:srgbClr val="B9C6E8"/>
            </a:solidFill>
            <a:prstDash val="solid"/>
          </a:ln>
        </p:spPr>
      </p:sp>
      <p:sp>
        <p:nvSpPr>
          <p:cNvPr id="31" name="Text 28"/>
          <p:cNvSpPr txBox="1"/>
          <p:nvPr/>
        </p:nvSpPr>
        <p:spPr>
          <a:xfrm>
            <a:off x="8712200" y="3365500"/>
            <a:ext cx="2667000" cy="355600"/>
          </a:xfrm>
          <a:prstGeom prst="rect">
            <a:avLst/>
          </a:prstGeom>
          <a:noFill/>
          <a:ln/>
        </p:spPr>
        <p:txBody>
          <a:bodyPr wrap="square" lIns="0" tIns="0" rIns="0" bIns="0" rtlCol="0" anchor="ctr"/>
          <a:lstStyle/>
          <a:p>
            <a:pPr algn="ctr" indent="0" marL="0">
              <a:lnSpc>
                <a:spcPct val="110000"/>
              </a:lnSpc>
              <a:buNone/>
            </a:pPr>
            <a:r>
              <a:rPr lang="en-US" sz="1400" dirty="0">
                <a:solidFill>
                  <a:srgbClr val="1A1A2E"/>
                </a:solidFill>
                <a:latin typeface="Arial" pitchFamily="34" charset="0"/>
                <a:ea typeface="Arial" pitchFamily="34" charset="-122"/>
                <a:cs typeface="Arial" pitchFamily="34" charset="-120"/>
              </a:rPr>
              <a:t>is</a:t>
            </a:r>
            <a:endParaRPr lang="en-US" sz="1400" dirty="0"/>
          </a:p>
        </p:txBody>
      </p:sp>
      <p:sp>
        <p:nvSpPr>
          <p:cNvPr id="32" name="Shape 29"/>
          <p:cNvSpPr/>
          <p:nvPr/>
        </p:nvSpPr>
        <p:spPr>
          <a:xfrm>
            <a:off x="8712200" y="4000500"/>
            <a:ext cx="2667000" cy="355600"/>
          </a:xfrm>
          <a:prstGeom prst="roundRect">
            <a:avLst>
              <a:gd name="adj" fmla="val 25000"/>
            </a:avLst>
          </a:prstGeom>
          <a:solidFill>
            <a:srgbClr val="1E2761"/>
          </a:solidFill>
          <a:ln w="12700">
            <a:solidFill>
              <a:srgbClr val="E8A33D"/>
            </a:solidFill>
            <a:prstDash val="solid"/>
          </a:ln>
        </p:spPr>
      </p:sp>
      <p:sp>
        <p:nvSpPr>
          <p:cNvPr id="33" name="Text 30"/>
          <p:cNvSpPr txBox="1"/>
          <p:nvPr/>
        </p:nvSpPr>
        <p:spPr>
          <a:xfrm>
            <a:off x="8712200" y="4000500"/>
            <a:ext cx="2667000" cy="3556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rial" pitchFamily="34" charset="0"/>
                <a:ea typeface="Arial" pitchFamily="34" charset="-122"/>
                <a:cs typeface="Arial" pitchFamily="34" charset="-120"/>
              </a:rPr>
              <a:t>photosynthesis</a:t>
            </a:r>
            <a:endParaRPr lang="en-US" sz="1400" dirty="0"/>
          </a:p>
        </p:txBody>
      </p:sp>
      <p:sp>
        <p:nvSpPr>
          <p:cNvPr id="34" name="Text 31"/>
          <p:cNvSpPr txBox="1"/>
          <p:nvPr/>
        </p:nvSpPr>
        <p:spPr>
          <a:xfrm>
            <a:off x="812800" y="5016500"/>
            <a:ext cx="10566400" cy="889000"/>
          </a:xfrm>
          <a:prstGeom prst="rect">
            <a:avLst/>
          </a:prstGeom>
          <a:noFill/>
          <a:ln/>
        </p:spPr>
        <p:txBody>
          <a:bodyPr wrap="square" lIns="0" tIns="0" rIns="0" bIns="0" rtlCol="0" anchor="t"/>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Isto é a Cross-Attention: cada palavra que o decoder está escrevendo consulta TODAS as posições da saída do encoder (Query do decoder · Key do encoder). Repare: “photosynthesis” (sendo gerada) presta muita atenção a “Photosynthesis” (texto original) — é assim que o decoder “lê” o contexto enquanto escreve.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11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ARQUITETURA DO MODELO</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Antes do T5: o que é um Transformer?</a:t>
            </a:r>
            <a:endParaRPr lang="en-US" sz="3000" dirty="0"/>
          </a:p>
        </p:txBody>
      </p:sp>
      <p:sp>
        <p:nvSpPr>
          <p:cNvPr id="6" name="Text 3"/>
          <p:cNvSpPr txBox="1"/>
          <p:nvPr/>
        </p:nvSpPr>
        <p:spPr>
          <a:xfrm>
            <a:off x="812800" y="1682750"/>
            <a:ext cx="10566400" cy="698500"/>
          </a:xfrm>
          <a:prstGeom prst="rect">
            <a:avLst/>
          </a:prstGeom>
          <a:noFill/>
          <a:ln/>
        </p:spPr>
        <p:txBody>
          <a:bodyPr wrap="square" lIns="0" tIns="0" rIns="0" bIns="0" rtlCol="0" anchor="t"/>
          <a:lstStyle/>
          <a:p>
            <a:pPr algn="l" indent="0" marL="0">
              <a:lnSpc>
                <a:spcPct val="110000"/>
              </a:lnSpc>
              <a:buNone/>
            </a:pPr>
            <a:r>
              <a:rPr lang="en-US" sz="1400" b="1" dirty="0">
                <a:solidFill>
                  <a:srgbClr val="1A1A2E"/>
                </a:solidFill>
                <a:latin typeface="Arial" pitchFamily="34" charset="0"/>
                <a:ea typeface="Arial" pitchFamily="34" charset="-122"/>
                <a:cs typeface="Arial" pitchFamily="34" charset="-120"/>
              </a:rPr>
              <a:t>Transformer (2017): </a:t>
            </a:r>
            <a:pPr algn="l" indent="0" marL="0">
              <a:lnSpc>
                <a:spcPct val="110000"/>
              </a:lnSpc>
              <a:buNone/>
            </a:pPr>
            <a:r>
              <a:rPr lang="en-US" sz="1400" dirty="0">
                <a:solidFill>
                  <a:srgbClr val="1A1A2E"/>
                </a:solidFill>
                <a:latin typeface="Arial" pitchFamily="34" charset="0"/>
                <a:ea typeface="Arial" pitchFamily="34" charset="-122"/>
                <a:cs typeface="Arial" pitchFamily="34" charset="-120"/>
              </a:rPr>
              <a:t>rede neural que usa attention (cada palavra “pondera” o quanto prestar atenção às outras) para processar o texto inteiro em paralelo — a base de praticamente todo modelo de linguagem atual.</a:t>
            </a:r>
            <a:endParaRPr lang="en-US" sz="1400" dirty="0"/>
          </a:p>
        </p:txBody>
      </p:sp>
      <p:sp>
        <p:nvSpPr>
          <p:cNvPr id="7" name="Shape 4"/>
          <p:cNvSpPr/>
          <p:nvPr/>
        </p:nvSpPr>
        <p:spPr>
          <a:xfrm>
            <a:off x="812800" y="2540000"/>
            <a:ext cx="3390900" cy="2159000"/>
          </a:xfrm>
          <a:prstGeom prst="roundRect">
            <a:avLst>
              <a:gd name="adj" fmla="val 4706"/>
            </a:avLst>
          </a:prstGeom>
          <a:solidFill>
            <a:srgbClr val="FFFFFF"/>
          </a:solidFill>
          <a:ln w="12700">
            <a:solidFill>
              <a:srgbClr val="D5DDF0"/>
            </a:solidFill>
            <a:prstDash val="solid"/>
          </a:ln>
        </p:spPr>
      </p:sp>
      <p:sp>
        <p:nvSpPr>
          <p:cNvPr id="8" name="Text 5"/>
          <p:cNvSpPr txBox="1"/>
          <p:nvPr/>
        </p:nvSpPr>
        <p:spPr>
          <a:xfrm>
            <a:off x="1016000" y="2705100"/>
            <a:ext cx="29845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ENCODER-ONLY</a:t>
            </a:r>
            <a:endParaRPr lang="en-US" sz="1200" dirty="0"/>
          </a:p>
        </p:txBody>
      </p:sp>
      <p:sp>
        <p:nvSpPr>
          <p:cNvPr id="9" name="Text 6"/>
          <p:cNvSpPr txBox="1"/>
          <p:nvPr/>
        </p:nvSpPr>
        <p:spPr>
          <a:xfrm>
            <a:off x="1016000" y="3048000"/>
            <a:ext cx="2984500" cy="508000"/>
          </a:xfrm>
          <a:prstGeom prst="rect">
            <a:avLst/>
          </a:prstGeom>
          <a:noFill/>
          <a:ln/>
        </p:spPr>
        <p:txBody>
          <a:bodyPr wrap="square" lIns="0" tIns="0" rIns="0" bIns="0" rtlCol="0" anchor="t"/>
          <a:lstStyle/>
          <a:p>
            <a:pPr algn="l" indent="0" marL="0">
              <a:lnSpc>
                <a:spcPct val="110000"/>
              </a:lnSpc>
              <a:buNone/>
            </a:pPr>
            <a:r>
              <a:rPr lang="en-US" sz="2400" b="1" dirty="0">
                <a:solidFill>
                  <a:srgbClr val="1E2761"/>
                </a:solidFill>
                <a:latin typeface="Georgia" pitchFamily="34" charset="0"/>
                <a:ea typeface="Georgia" pitchFamily="34" charset="-122"/>
                <a:cs typeface="Georgia" pitchFamily="34" charset="-120"/>
              </a:rPr>
              <a:t>BERT</a:t>
            </a:r>
            <a:endParaRPr lang="en-US" sz="2400" dirty="0"/>
          </a:p>
        </p:txBody>
      </p:sp>
      <p:sp>
        <p:nvSpPr>
          <p:cNvPr id="10" name="Text 7"/>
          <p:cNvSpPr txBox="1"/>
          <p:nvPr/>
        </p:nvSpPr>
        <p:spPr>
          <a:xfrm>
            <a:off x="1016000" y="3683000"/>
            <a:ext cx="2984500" cy="825500"/>
          </a:xfrm>
          <a:prstGeom prst="rect">
            <a:avLst/>
          </a:prstGeom>
          <a:noFill/>
          <a:ln/>
        </p:spPr>
        <p:txBody>
          <a:bodyPr wrap="square" lIns="0" tIns="0" rIns="0" bIns="0" rtlCol="0" anchor="t"/>
          <a:lstStyle/>
          <a:p>
            <a:pPr algn="l" indent="0" marL="0">
              <a:lnSpc>
                <a:spcPct val="110000"/>
              </a:lnSpc>
              <a:buNone/>
            </a:pPr>
            <a:r>
              <a:rPr lang="en-US" sz="1400" dirty="0">
                <a:solidFill>
                  <a:srgbClr val="5C6B8A"/>
                </a:solidFill>
                <a:latin typeface="Arial" pitchFamily="34" charset="0"/>
                <a:ea typeface="Arial" pitchFamily="34" charset="-122"/>
                <a:cs typeface="Arial" pitchFamily="34" charset="-120"/>
              </a:rPr>
              <a:t>só entende o texto — não gera nada novo</a:t>
            </a:r>
            <a:endParaRPr lang="en-US" sz="1400" dirty="0"/>
          </a:p>
        </p:txBody>
      </p:sp>
      <p:sp>
        <p:nvSpPr>
          <p:cNvPr id="11" name="Shape 8"/>
          <p:cNvSpPr/>
          <p:nvPr/>
        </p:nvSpPr>
        <p:spPr>
          <a:xfrm>
            <a:off x="4400550" y="2540000"/>
            <a:ext cx="3390900" cy="2159000"/>
          </a:xfrm>
          <a:prstGeom prst="roundRect">
            <a:avLst>
              <a:gd name="adj" fmla="val 4706"/>
            </a:avLst>
          </a:prstGeom>
          <a:solidFill>
            <a:srgbClr val="FFFFFF"/>
          </a:solidFill>
          <a:ln w="12700">
            <a:solidFill>
              <a:srgbClr val="D5DDF0"/>
            </a:solidFill>
            <a:prstDash val="solid"/>
          </a:ln>
        </p:spPr>
      </p:sp>
      <p:sp>
        <p:nvSpPr>
          <p:cNvPr id="12" name="Text 9"/>
          <p:cNvSpPr txBox="1"/>
          <p:nvPr/>
        </p:nvSpPr>
        <p:spPr>
          <a:xfrm>
            <a:off x="4603750" y="2705100"/>
            <a:ext cx="29845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DECODER-ONLY</a:t>
            </a:r>
            <a:endParaRPr lang="en-US" sz="1200" dirty="0"/>
          </a:p>
        </p:txBody>
      </p:sp>
      <p:sp>
        <p:nvSpPr>
          <p:cNvPr id="13" name="Text 10"/>
          <p:cNvSpPr txBox="1"/>
          <p:nvPr/>
        </p:nvSpPr>
        <p:spPr>
          <a:xfrm>
            <a:off x="4603750" y="3048000"/>
            <a:ext cx="2984500" cy="508000"/>
          </a:xfrm>
          <a:prstGeom prst="rect">
            <a:avLst/>
          </a:prstGeom>
          <a:noFill/>
          <a:ln/>
        </p:spPr>
        <p:txBody>
          <a:bodyPr wrap="square" lIns="0" tIns="0" rIns="0" bIns="0" rtlCol="0" anchor="t"/>
          <a:lstStyle/>
          <a:p>
            <a:pPr algn="l" indent="0" marL="0">
              <a:lnSpc>
                <a:spcPct val="110000"/>
              </a:lnSpc>
              <a:buNone/>
            </a:pPr>
            <a:r>
              <a:rPr lang="en-US" sz="2400" b="1" dirty="0">
                <a:solidFill>
                  <a:srgbClr val="1E2761"/>
                </a:solidFill>
                <a:latin typeface="Georgia" pitchFamily="34" charset="0"/>
                <a:ea typeface="Georgia" pitchFamily="34" charset="-122"/>
                <a:cs typeface="Georgia" pitchFamily="34" charset="-120"/>
              </a:rPr>
              <a:t>GPT</a:t>
            </a:r>
            <a:endParaRPr lang="en-US" sz="2400" dirty="0"/>
          </a:p>
        </p:txBody>
      </p:sp>
      <p:sp>
        <p:nvSpPr>
          <p:cNvPr id="14" name="Text 11"/>
          <p:cNvSpPr txBox="1"/>
          <p:nvPr/>
        </p:nvSpPr>
        <p:spPr>
          <a:xfrm>
            <a:off x="4603750" y="3683000"/>
            <a:ext cx="2984500" cy="825500"/>
          </a:xfrm>
          <a:prstGeom prst="rect">
            <a:avLst/>
          </a:prstGeom>
          <a:noFill/>
          <a:ln/>
        </p:spPr>
        <p:txBody>
          <a:bodyPr wrap="square" lIns="0" tIns="0" rIns="0" bIns="0" rtlCol="0" anchor="t"/>
          <a:lstStyle/>
          <a:p>
            <a:pPr algn="l" indent="0" marL="0">
              <a:lnSpc>
                <a:spcPct val="110000"/>
              </a:lnSpc>
              <a:buNone/>
            </a:pPr>
            <a:r>
              <a:rPr lang="en-US" sz="1400" dirty="0">
                <a:solidFill>
                  <a:srgbClr val="5C6B8A"/>
                </a:solidFill>
                <a:latin typeface="Arial" pitchFamily="34" charset="0"/>
                <a:ea typeface="Arial" pitchFamily="34" charset="-122"/>
                <a:cs typeface="Arial" pitchFamily="34" charset="-120"/>
              </a:rPr>
              <a:t>gera texto, um token de cada vez — como o ChatGPT</a:t>
            </a:r>
            <a:endParaRPr lang="en-US" sz="1400" dirty="0"/>
          </a:p>
        </p:txBody>
      </p:sp>
      <p:sp>
        <p:nvSpPr>
          <p:cNvPr id="15" name="Shape 12"/>
          <p:cNvSpPr/>
          <p:nvPr/>
        </p:nvSpPr>
        <p:spPr>
          <a:xfrm>
            <a:off x="7988300" y="2540000"/>
            <a:ext cx="3390900" cy="2159000"/>
          </a:xfrm>
          <a:prstGeom prst="roundRect">
            <a:avLst>
              <a:gd name="adj" fmla="val 4706"/>
            </a:avLst>
          </a:prstGeom>
          <a:solidFill>
            <a:srgbClr val="1E2761"/>
          </a:solidFill>
          <a:ln w="12700">
            <a:solidFill>
              <a:srgbClr val="1E2761"/>
            </a:solidFill>
            <a:prstDash val="solid"/>
          </a:ln>
        </p:spPr>
      </p:sp>
      <p:sp>
        <p:nvSpPr>
          <p:cNvPr id="16" name="Text 13"/>
          <p:cNvSpPr txBox="1"/>
          <p:nvPr/>
        </p:nvSpPr>
        <p:spPr>
          <a:xfrm>
            <a:off x="8191500" y="2705100"/>
            <a:ext cx="29845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E8A33D"/>
                </a:solidFill>
                <a:latin typeface="Arial" pitchFamily="34" charset="0"/>
                <a:ea typeface="Arial" pitchFamily="34" charset="-122"/>
                <a:cs typeface="Arial" pitchFamily="34" charset="-120"/>
              </a:rPr>
              <a:t>ENCODER-DECODER</a:t>
            </a:r>
            <a:endParaRPr lang="en-US" sz="1200" dirty="0"/>
          </a:p>
        </p:txBody>
      </p:sp>
      <p:sp>
        <p:nvSpPr>
          <p:cNvPr id="17" name="Text 14"/>
          <p:cNvSpPr txBox="1"/>
          <p:nvPr/>
        </p:nvSpPr>
        <p:spPr>
          <a:xfrm>
            <a:off x="8191500" y="3048000"/>
            <a:ext cx="2984500" cy="508000"/>
          </a:xfrm>
          <a:prstGeom prst="rect">
            <a:avLst/>
          </a:prstGeom>
          <a:noFill/>
          <a:ln/>
        </p:spPr>
        <p:txBody>
          <a:bodyPr wrap="square" lIns="0" tIns="0" rIns="0" bIns="0" rtlCol="0" anchor="t"/>
          <a:lstStyle/>
          <a:p>
            <a:pPr algn="l" indent="0" marL="0">
              <a:lnSpc>
                <a:spcPct val="110000"/>
              </a:lnSpc>
              <a:buNone/>
            </a:pPr>
            <a:r>
              <a:rPr lang="en-US" sz="2400" b="1" dirty="0">
                <a:solidFill>
                  <a:srgbClr val="FFFFFF"/>
                </a:solidFill>
                <a:latin typeface="Georgia" pitchFamily="34" charset="0"/>
                <a:ea typeface="Georgia" pitchFamily="34" charset="-122"/>
                <a:cs typeface="Georgia" pitchFamily="34" charset="-120"/>
              </a:rPr>
              <a:t>T5 — o nosso</a:t>
            </a:r>
            <a:endParaRPr lang="en-US" sz="2400" dirty="0"/>
          </a:p>
        </p:txBody>
      </p:sp>
      <p:sp>
        <p:nvSpPr>
          <p:cNvPr id="18" name="Text 15"/>
          <p:cNvSpPr txBox="1"/>
          <p:nvPr/>
        </p:nvSpPr>
        <p:spPr>
          <a:xfrm>
            <a:off x="8191500" y="3683000"/>
            <a:ext cx="2984500" cy="825500"/>
          </a:xfrm>
          <a:prstGeom prst="rect">
            <a:avLst/>
          </a:prstGeom>
          <a:noFill/>
          <a:ln/>
        </p:spPr>
        <p:txBody>
          <a:bodyPr wrap="square" lIns="0" tIns="0" rIns="0" bIns="0" rtlCol="0" anchor="t"/>
          <a:lstStyle/>
          <a:p>
            <a:pPr algn="l" indent="0" marL="0">
              <a:lnSpc>
                <a:spcPct val="110000"/>
              </a:lnSpc>
              <a:buNone/>
            </a:pPr>
            <a:r>
              <a:rPr lang="en-US" sz="1400" dirty="0">
                <a:solidFill>
                  <a:srgbClr val="B9C6E8"/>
                </a:solidFill>
                <a:latin typeface="Arial" pitchFamily="34" charset="0"/>
                <a:ea typeface="Arial" pitchFamily="34" charset="-122"/>
                <a:cs typeface="Arial" pitchFamily="34" charset="-120"/>
              </a:rPr>
              <a:t>lê com o encoder, escreve com o decoder</a:t>
            </a:r>
            <a:endParaRPr lang="en-US" sz="1400" dirty="0"/>
          </a:p>
        </p:txBody>
      </p:sp>
      <p:sp>
        <p:nvSpPr>
          <p:cNvPr id="19" name="Text 16"/>
          <p:cNvSpPr txBox="1"/>
          <p:nvPr/>
        </p:nvSpPr>
        <p:spPr>
          <a:xfrm>
            <a:off x="812800" y="5016500"/>
            <a:ext cx="10566400" cy="508000"/>
          </a:xfrm>
          <a:prstGeom prst="rect">
            <a:avLst/>
          </a:prstGeom>
          <a:noFill/>
          <a:ln/>
        </p:spPr>
        <p:txBody>
          <a:bodyPr wrap="square" lIns="0" tIns="0" rIns="0" bIns="0" rtlCol="0" anchor="t"/>
          <a:lstStyle/>
          <a:p>
            <a:pPr algn="l" indent="0" marL="0">
              <a:lnSpc>
                <a:spcPct val="110000"/>
              </a:lnSpc>
              <a:buNone/>
            </a:pPr>
            <a:r>
              <a:rPr lang="en-US" sz="1500" b="1" dirty="0">
                <a:solidFill>
                  <a:srgbClr val="9A6410"/>
                </a:solidFill>
                <a:latin typeface="Arial" pitchFamily="34" charset="0"/>
                <a:ea typeface="Arial" pitchFamily="34" charset="-122"/>
                <a:cs typeface="Arial" pitchFamily="34" charset="-120"/>
              </a:rPr>
              <a:t>Geração de perguntas precisa ler E escrever — por isso T5 (encoder-decoder), não BERT nem GPT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12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ARQUITETURA DO MODELO</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T5-small: encoder–decoder</a:t>
            </a:r>
            <a:endParaRPr lang="en-US" sz="3000" dirty="0"/>
          </a:p>
        </p:txBody>
      </p:sp>
      <p:sp>
        <p:nvSpPr>
          <p:cNvPr id="6" name="Shape 3"/>
          <p:cNvSpPr/>
          <p:nvPr/>
        </p:nvSpPr>
        <p:spPr>
          <a:xfrm>
            <a:off x="812800" y="1905000"/>
            <a:ext cx="952500" cy="3556000"/>
          </a:xfrm>
          <a:prstGeom prst="roundRect">
            <a:avLst>
              <a:gd name="adj" fmla="val 10667"/>
            </a:avLst>
          </a:prstGeom>
          <a:solidFill>
            <a:srgbClr val="1E2761"/>
          </a:solidFill>
          <a:ln w="12700">
            <a:solidFill>
              <a:srgbClr val="1E2761"/>
            </a:solidFill>
            <a:prstDash val="solid"/>
          </a:ln>
        </p:spPr>
      </p:sp>
      <p:sp>
        <p:nvSpPr>
          <p:cNvPr id="7" name="Text 4"/>
          <p:cNvSpPr txBox="1"/>
          <p:nvPr/>
        </p:nvSpPr>
        <p:spPr>
          <a:xfrm>
            <a:off x="812800" y="1905000"/>
            <a:ext cx="952500" cy="3556000"/>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Arial" pitchFamily="34" charset="0"/>
                <a:ea typeface="Arial" pitchFamily="34" charset="-122"/>
                <a:cs typeface="Arial" pitchFamily="34" charset="-120"/>
              </a:rPr>
              <a:t>Texto</a:t>
            </a:r>
            <a:endParaRPr lang="en-US" sz="1300" dirty="0"/>
          </a:p>
          <a:p>
            <a:pPr algn="ctr" indent="0" marL="0">
              <a:lnSpc>
                <a:spcPct val="110000"/>
              </a:lnSpc>
              <a:buNone/>
            </a:pPr>
            <a:r>
              <a:rPr lang="en-US" sz="1300" b="1" dirty="0">
                <a:solidFill>
                  <a:srgbClr val="FFFFFF"/>
                </a:solidFill>
                <a:latin typeface="Arial" pitchFamily="34" charset="0"/>
                <a:ea typeface="Arial" pitchFamily="34" charset="-122"/>
                <a:cs typeface="Arial" pitchFamily="34" charset="-120"/>
              </a:rPr>
              <a:t>de entrada</a:t>
            </a:r>
            <a:endParaRPr lang="en-US" sz="1300" dirty="0"/>
          </a:p>
        </p:txBody>
      </p:sp>
      <p:sp>
        <p:nvSpPr>
          <p:cNvPr id="8" name="Shape 5"/>
          <p:cNvSpPr/>
          <p:nvPr/>
        </p:nvSpPr>
        <p:spPr>
          <a:xfrm>
            <a:off x="1854200" y="3556000"/>
            <a:ext cx="317500" cy="254000"/>
          </a:xfrm>
          <a:prstGeom prst="rightArrow">
            <a:avLst/>
          </a:prstGeom>
          <a:solidFill>
            <a:srgbClr val="E8A33D"/>
          </a:solidFill>
          <a:ln w="12700">
            <a:solidFill>
              <a:srgbClr val="E8A33D"/>
            </a:solidFill>
            <a:prstDash val="solid"/>
          </a:ln>
        </p:spPr>
      </p:sp>
      <p:sp>
        <p:nvSpPr>
          <p:cNvPr id="9" name="Shape 6"/>
          <p:cNvSpPr/>
          <p:nvPr/>
        </p:nvSpPr>
        <p:spPr>
          <a:xfrm>
            <a:off x="2260600" y="1905000"/>
            <a:ext cx="3302000" cy="3556000"/>
          </a:xfrm>
          <a:prstGeom prst="roundRect">
            <a:avLst>
              <a:gd name="adj" fmla="val 3077"/>
            </a:avLst>
          </a:prstGeom>
          <a:solidFill>
            <a:srgbClr val="FFFFFF"/>
          </a:solidFill>
          <a:ln w="12700">
            <a:solidFill>
              <a:srgbClr val="D5DDF0"/>
            </a:solidFill>
            <a:prstDash val="solid"/>
          </a:ln>
        </p:spPr>
      </p:sp>
      <p:sp>
        <p:nvSpPr>
          <p:cNvPr id="10" name="Text 7"/>
          <p:cNvSpPr txBox="1"/>
          <p:nvPr/>
        </p:nvSpPr>
        <p:spPr>
          <a:xfrm>
            <a:off x="2438400" y="2006600"/>
            <a:ext cx="2946400" cy="355600"/>
          </a:xfrm>
          <a:prstGeom prst="rect">
            <a:avLst/>
          </a:prstGeom>
          <a:noFill/>
          <a:ln/>
        </p:spPr>
        <p:txBody>
          <a:bodyPr wrap="square" lIns="0" tIns="0" rIns="0" bIns="0" rtlCol="0" anchor="t"/>
          <a:lstStyle/>
          <a:p>
            <a:pPr algn="l" indent="0" marL="0">
              <a:lnSpc>
                <a:spcPct val="110000"/>
              </a:lnSpc>
              <a:buNone/>
            </a:pPr>
            <a:r>
              <a:rPr lang="en-US" sz="2000" b="1" dirty="0">
                <a:solidFill>
                  <a:srgbClr val="1E2761"/>
                </a:solidFill>
                <a:latin typeface="Georgia" pitchFamily="34" charset="0"/>
                <a:ea typeface="Georgia" pitchFamily="34" charset="-122"/>
                <a:cs typeface="Georgia" pitchFamily="34" charset="-120"/>
              </a:rPr>
              <a:t>Encoder </a:t>
            </a:r>
            <a:pPr algn="l" indent="0" marL="0">
              <a:lnSpc>
                <a:spcPct val="110000"/>
              </a:lnSpc>
              <a:buNone/>
            </a:pPr>
            <a:r>
              <a:rPr lang="en-US" sz="2000" b="1" dirty="0">
                <a:solidFill>
                  <a:srgbClr val="9A6410"/>
                </a:solidFill>
                <a:latin typeface="Georgia" pitchFamily="34" charset="0"/>
                <a:ea typeface="Georgia" pitchFamily="34" charset="-122"/>
                <a:cs typeface="Georgia" pitchFamily="34" charset="-120"/>
              </a:rPr>
              <a:t>× 6</a:t>
            </a:r>
            <a:endParaRPr lang="en-US" sz="2000" dirty="0"/>
          </a:p>
        </p:txBody>
      </p:sp>
      <p:sp>
        <p:nvSpPr>
          <p:cNvPr id="11" name="Shape 8"/>
          <p:cNvSpPr/>
          <p:nvPr/>
        </p:nvSpPr>
        <p:spPr>
          <a:xfrm>
            <a:off x="2413000" y="2438400"/>
            <a:ext cx="2997200" cy="762000"/>
          </a:xfrm>
          <a:prstGeom prst="roundRect">
            <a:avLst>
              <a:gd name="adj" fmla="val 10000"/>
            </a:avLst>
          </a:prstGeom>
          <a:solidFill>
            <a:srgbClr val="F0F4FC"/>
          </a:solidFill>
          <a:ln w="12700">
            <a:solidFill>
              <a:srgbClr val="D5DDF0"/>
            </a:solidFill>
            <a:prstDash val="solid"/>
          </a:ln>
        </p:spPr>
      </p:sp>
      <p:sp>
        <p:nvSpPr>
          <p:cNvPr id="12" name="Text 9"/>
          <p:cNvSpPr txBox="1"/>
          <p:nvPr/>
        </p:nvSpPr>
        <p:spPr>
          <a:xfrm>
            <a:off x="2540000" y="2514600"/>
            <a:ext cx="2743200" cy="228600"/>
          </a:xfrm>
          <a:prstGeom prst="rect">
            <a:avLst/>
          </a:prstGeom>
          <a:noFill/>
          <a:ln/>
        </p:spPr>
        <p:txBody>
          <a:bodyPr wrap="square" lIns="0" tIns="0" rIns="0" bIns="0" rtlCol="0" anchor="t"/>
          <a:lstStyle/>
          <a:p>
            <a:pPr algn="l" indent="0" marL="0">
              <a:lnSpc>
                <a:spcPct val="110000"/>
              </a:lnSpc>
              <a:buNone/>
            </a:pPr>
            <a:r>
              <a:rPr lang="en-US" sz="1400" b="1" dirty="0">
                <a:solidFill>
                  <a:srgbClr val="1E2761"/>
                </a:solidFill>
                <a:latin typeface="Arial" pitchFamily="34" charset="0"/>
                <a:ea typeface="Arial" pitchFamily="34" charset="-122"/>
                <a:cs typeface="Arial" pitchFamily="34" charset="-120"/>
              </a:rPr>
              <a:t>Self-Attention</a:t>
            </a:r>
            <a:endParaRPr lang="en-US" sz="1400" dirty="0"/>
          </a:p>
        </p:txBody>
      </p:sp>
      <p:sp>
        <p:nvSpPr>
          <p:cNvPr id="13" name="Text 10"/>
          <p:cNvSpPr txBox="1"/>
          <p:nvPr/>
        </p:nvSpPr>
        <p:spPr>
          <a:xfrm>
            <a:off x="2540000" y="2743200"/>
            <a:ext cx="2743200" cy="4318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camada neural que aprende o quanto “olhar” cada palavra do texto</a:t>
            </a:r>
            <a:endParaRPr lang="en-US" sz="1200" dirty="0"/>
          </a:p>
        </p:txBody>
      </p:sp>
      <p:sp>
        <p:nvSpPr>
          <p:cNvPr id="14" name="Shape 11"/>
          <p:cNvSpPr/>
          <p:nvPr/>
        </p:nvSpPr>
        <p:spPr>
          <a:xfrm>
            <a:off x="2413000" y="3289300"/>
            <a:ext cx="2997200" cy="889000"/>
          </a:xfrm>
          <a:prstGeom prst="roundRect">
            <a:avLst>
              <a:gd name="adj" fmla="val 8571"/>
            </a:avLst>
          </a:prstGeom>
          <a:solidFill>
            <a:srgbClr val="F0F4FC"/>
          </a:solidFill>
          <a:ln w="12700">
            <a:solidFill>
              <a:srgbClr val="D5DDF0"/>
            </a:solidFill>
            <a:prstDash val="solid"/>
          </a:ln>
        </p:spPr>
      </p:sp>
      <p:sp>
        <p:nvSpPr>
          <p:cNvPr id="15" name="Text 12"/>
          <p:cNvSpPr txBox="1"/>
          <p:nvPr/>
        </p:nvSpPr>
        <p:spPr>
          <a:xfrm>
            <a:off x="2540000" y="3365500"/>
            <a:ext cx="2743200" cy="228600"/>
          </a:xfrm>
          <a:prstGeom prst="rect">
            <a:avLst/>
          </a:prstGeom>
          <a:noFill/>
          <a:ln/>
        </p:spPr>
        <p:txBody>
          <a:bodyPr wrap="square" lIns="0" tIns="0" rIns="0" bIns="0" rtlCol="0" anchor="t"/>
          <a:lstStyle/>
          <a:p>
            <a:pPr algn="l" indent="0" marL="0">
              <a:lnSpc>
                <a:spcPct val="110000"/>
              </a:lnSpc>
              <a:buNone/>
            </a:pPr>
            <a:r>
              <a:rPr lang="en-US" sz="1400" b="1" dirty="0">
                <a:solidFill>
                  <a:srgbClr val="1E2761"/>
                </a:solidFill>
                <a:latin typeface="Arial" pitchFamily="34" charset="0"/>
                <a:ea typeface="Arial" pitchFamily="34" charset="-122"/>
                <a:cs typeface="Arial" pitchFamily="34" charset="-120"/>
              </a:rPr>
              <a:t>Feed-Forward</a:t>
            </a:r>
            <a:endParaRPr lang="en-US" sz="1400" dirty="0"/>
          </a:p>
        </p:txBody>
      </p:sp>
      <p:sp>
        <p:nvSpPr>
          <p:cNvPr id="16" name="Text 13"/>
          <p:cNvSpPr txBox="1"/>
          <p:nvPr/>
        </p:nvSpPr>
        <p:spPr>
          <a:xfrm>
            <a:off x="2540000" y="3594100"/>
            <a:ext cx="2743200" cy="5588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rede neural densa (2 camadas): processa cada posição sozinha, sem olhar as outras</a:t>
            </a:r>
            <a:endParaRPr lang="en-US" sz="1200" dirty="0"/>
          </a:p>
        </p:txBody>
      </p:sp>
      <p:sp>
        <p:nvSpPr>
          <p:cNvPr id="17" name="Text 14"/>
          <p:cNvSpPr txBox="1"/>
          <p:nvPr/>
        </p:nvSpPr>
        <p:spPr>
          <a:xfrm>
            <a:off x="2438400" y="4292600"/>
            <a:ext cx="2946400" cy="381000"/>
          </a:xfrm>
          <a:prstGeom prst="rect">
            <a:avLst/>
          </a:prstGeom>
          <a:noFill/>
          <a:ln/>
        </p:spPr>
        <p:txBody>
          <a:bodyPr wrap="square" lIns="0" tIns="0" rIns="0" bIns="0" rtlCol="0" anchor="t"/>
          <a:lstStyle/>
          <a:p>
            <a:pPr algn="l" indent="0" marL="0">
              <a:lnSpc>
                <a:spcPct val="110000"/>
              </a:lnSpc>
              <a:buNone/>
            </a:pPr>
            <a:r>
              <a:rPr lang="en-US" sz="1300" b="1" dirty="0">
                <a:solidFill>
                  <a:srgbClr val="3A4A8F"/>
                </a:solidFill>
                <a:latin typeface="Arial" pitchFamily="34" charset="0"/>
                <a:ea typeface="Arial" pitchFamily="34" charset="-122"/>
                <a:cs typeface="Arial" pitchFamily="34" charset="-120"/>
              </a:rPr>
              <a:t>Lê o texto e entende o contexto de cada palavra</a:t>
            </a:r>
            <a:endParaRPr lang="en-US" sz="1300" dirty="0"/>
          </a:p>
        </p:txBody>
      </p:sp>
      <p:sp>
        <p:nvSpPr>
          <p:cNvPr id="18" name="Shape 15"/>
          <p:cNvSpPr/>
          <p:nvPr/>
        </p:nvSpPr>
        <p:spPr>
          <a:xfrm>
            <a:off x="5651500" y="3556000"/>
            <a:ext cx="317500" cy="254000"/>
          </a:xfrm>
          <a:prstGeom prst="rightArrow">
            <a:avLst/>
          </a:prstGeom>
          <a:solidFill>
            <a:srgbClr val="E8A33D"/>
          </a:solidFill>
          <a:ln w="12700">
            <a:solidFill>
              <a:srgbClr val="E8A33D"/>
            </a:solidFill>
            <a:prstDash val="solid"/>
          </a:ln>
        </p:spPr>
      </p:sp>
      <p:sp>
        <p:nvSpPr>
          <p:cNvPr id="19" name="Shape 16"/>
          <p:cNvSpPr/>
          <p:nvPr/>
        </p:nvSpPr>
        <p:spPr>
          <a:xfrm>
            <a:off x="6057900" y="1905000"/>
            <a:ext cx="4064000" cy="3556000"/>
          </a:xfrm>
          <a:prstGeom prst="roundRect">
            <a:avLst>
              <a:gd name="adj" fmla="val 2857"/>
            </a:avLst>
          </a:prstGeom>
          <a:solidFill>
            <a:srgbClr val="FFFFFF"/>
          </a:solidFill>
          <a:ln w="12700">
            <a:solidFill>
              <a:srgbClr val="D5DDF0"/>
            </a:solidFill>
            <a:prstDash val="solid"/>
          </a:ln>
        </p:spPr>
      </p:sp>
      <p:sp>
        <p:nvSpPr>
          <p:cNvPr id="20" name="Text 17"/>
          <p:cNvSpPr txBox="1"/>
          <p:nvPr/>
        </p:nvSpPr>
        <p:spPr>
          <a:xfrm>
            <a:off x="6235700" y="2006600"/>
            <a:ext cx="3708400" cy="355600"/>
          </a:xfrm>
          <a:prstGeom prst="rect">
            <a:avLst/>
          </a:prstGeom>
          <a:noFill/>
          <a:ln/>
        </p:spPr>
        <p:txBody>
          <a:bodyPr wrap="square" lIns="0" tIns="0" rIns="0" bIns="0" rtlCol="0" anchor="t"/>
          <a:lstStyle/>
          <a:p>
            <a:pPr algn="l" indent="0" marL="0">
              <a:lnSpc>
                <a:spcPct val="110000"/>
              </a:lnSpc>
              <a:buNone/>
            </a:pPr>
            <a:r>
              <a:rPr lang="en-US" sz="2000" b="1" dirty="0">
                <a:solidFill>
                  <a:srgbClr val="1E2761"/>
                </a:solidFill>
                <a:latin typeface="Georgia" pitchFamily="34" charset="0"/>
                <a:ea typeface="Georgia" pitchFamily="34" charset="-122"/>
                <a:cs typeface="Georgia" pitchFamily="34" charset="-120"/>
              </a:rPr>
              <a:t>Decoder </a:t>
            </a:r>
            <a:pPr algn="l" indent="0" marL="0">
              <a:lnSpc>
                <a:spcPct val="110000"/>
              </a:lnSpc>
              <a:buNone/>
            </a:pPr>
            <a:r>
              <a:rPr lang="en-US" sz="2000" b="1" dirty="0">
                <a:solidFill>
                  <a:srgbClr val="9A6410"/>
                </a:solidFill>
                <a:latin typeface="Georgia" pitchFamily="34" charset="0"/>
                <a:ea typeface="Georgia" pitchFamily="34" charset="-122"/>
                <a:cs typeface="Georgia" pitchFamily="34" charset="-120"/>
              </a:rPr>
              <a:t>× 6</a:t>
            </a:r>
            <a:endParaRPr lang="en-US" sz="2000" dirty="0"/>
          </a:p>
        </p:txBody>
      </p:sp>
      <p:sp>
        <p:nvSpPr>
          <p:cNvPr id="21" name="Shape 18"/>
          <p:cNvSpPr/>
          <p:nvPr/>
        </p:nvSpPr>
        <p:spPr>
          <a:xfrm>
            <a:off x="6210300" y="2438400"/>
            <a:ext cx="3759200" cy="762000"/>
          </a:xfrm>
          <a:prstGeom prst="roundRect">
            <a:avLst>
              <a:gd name="adj" fmla="val 10000"/>
            </a:avLst>
          </a:prstGeom>
          <a:solidFill>
            <a:srgbClr val="F0F4FC"/>
          </a:solidFill>
          <a:ln w="12700">
            <a:solidFill>
              <a:srgbClr val="D5DDF0"/>
            </a:solidFill>
            <a:prstDash val="solid"/>
          </a:ln>
        </p:spPr>
      </p:sp>
      <p:sp>
        <p:nvSpPr>
          <p:cNvPr id="22" name="Text 19"/>
          <p:cNvSpPr txBox="1"/>
          <p:nvPr/>
        </p:nvSpPr>
        <p:spPr>
          <a:xfrm>
            <a:off x="6337300" y="2514600"/>
            <a:ext cx="3505200" cy="228600"/>
          </a:xfrm>
          <a:prstGeom prst="rect">
            <a:avLst/>
          </a:prstGeom>
          <a:noFill/>
          <a:ln/>
        </p:spPr>
        <p:txBody>
          <a:bodyPr wrap="square" lIns="0" tIns="0" rIns="0" bIns="0" rtlCol="0" anchor="t"/>
          <a:lstStyle/>
          <a:p>
            <a:pPr algn="l" indent="0" marL="0">
              <a:lnSpc>
                <a:spcPct val="110000"/>
              </a:lnSpc>
              <a:buNone/>
            </a:pPr>
            <a:r>
              <a:rPr lang="en-US" sz="1400" b="1" dirty="0">
                <a:solidFill>
                  <a:srgbClr val="1E2761"/>
                </a:solidFill>
                <a:latin typeface="Arial" pitchFamily="34" charset="0"/>
                <a:ea typeface="Arial" pitchFamily="34" charset="-122"/>
                <a:cs typeface="Arial" pitchFamily="34" charset="-120"/>
              </a:rPr>
              <a:t>Self-Attention</a:t>
            </a:r>
            <a:endParaRPr lang="en-US" sz="1400" dirty="0"/>
          </a:p>
        </p:txBody>
      </p:sp>
      <p:sp>
        <p:nvSpPr>
          <p:cNvPr id="23" name="Text 20"/>
          <p:cNvSpPr txBox="1"/>
          <p:nvPr/>
        </p:nvSpPr>
        <p:spPr>
          <a:xfrm>
            <a:off x="6337300" y="2743200"/>
            <a:ext cx="3505200" cy="4318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camada neural que aprende o quanto “olhar” as palavras já geradas</a:t>
            </a:r>
            <a:endParaRPr lang="en-US" sz="1200" dirty="0"/>
          </a:p>
        </p:txBody>
      </p:sp>
      <p:sp>
        <p:nvSpPr>
          <p:cNvPr id="24" name="Shape 21"/>
          <p:cNvSpPr/>
          <p:nvPr/>
        </p:nvSpPr>
        <p:spPr>
          <a:xfrm>
            <a:off x="6210300" y="3289300"/>
            <a:ext cx="3759200" cy="762000"/>
          </a:xfrm>
          <a:prstGeom prst="roundRect">
            <a:avLst>
              <a:gd name="adj" fmla="val 10000"/>
            </a:avLst>
          </a:prstGeom>
          <a:solidFill>
            <a:srgbClr val="F0F4FC"/>
          </a:solidFill>
          <a:ln w="12700">
            <a:solidFill>
              <a:srgbClr val="D5DDF0"/>
            </a:solidFill>
            <a:prstDash val="solid"/>
          </a:ln>
        </p:spPr>
      </p:sp>
      <p:sp>
        <p:nvSpPr>
          <p:cNvPr id="25" name="Text 22"/>
          <p:cNvSpPr txBox="1"/>
          <p:nvPr/>
        </p:nvSpPr>
        <p:spPr>
          <a:xfrm>
            <a:off x="6337300" y="3365500"/>
            <a:ext cx="3505200" cy="228600"/>
          </a:xfrm>
          <a:prstGeom prst="rect">
            <a:avLst/>
          </a:prstGeom>
          <a:noFill/>
          <a:ln/>
        </p:spPr>
        <p:txBody>
          <a:bodyPr wrap="square" lIns="0" tIns="0" rIns="0" bIns="0" rtlCol="0" anchor="t"/>
          <a:lstStyle/>
          <a:p>
            <a:pPr algn="l" indent="0" marL="0">
              <a:lnSpc>
                <a:spcPct val="110000"/>
              </a:lnSpc>
              <a:buNone/>
            </a:pPr>
            <a:r>
              <a:rPr lang="en-US" sz="1400" b="1" dirty="0">
                <a:solidFill>
                  <a:srgbClr val="1E2761"/>
                </a:solidFill>
                <a:latin typeface="Arial" pitchFamily="34" charset="0"/>
                <a:ea typeface="Arial" pitchFamily="34" charset="-122"/>
                <a:cs typeface="Arial" pitchFamily="34" charset="-120"/>
              </a:rPr>
              <a:t>Cross-Attention</a:t>
            </a:r>
            <a:endParaRPr lang="en-US" sz="1400" dirty="0"/>
          </a:p>
        </p:txBody>
      </p:sp>
      <p:sp>
        <p:nvSpPr>
          <p:cNvPr id="26" name="Text 23"/>
          <p:cNvSpPr txBox="1"/>
          <p:nvPr/>
        </p:nvSpPr>
        <p:spPr>
          <a:xfrm>
            <a:off x="6337300" y="3594100"/>
            <a:ext cx="3505200" cy="4318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camada neural que aprende a consultar o que o encoder leu</a:t>
            </a:r>
            <a:endParaRPr lang="en-US" sz="1200" dirty="0"/>
          </a:p>
        </p:txBody>
      </p:sp>
      <p:sp>
        <p:nvSpPr>
          <p:cNvPr id="27" name="Shape 24"/>
          <p:cNvSpPr/>
          <p:nvPr/>
        </p:nvSpPr>
        <p:spPr>
          <a:xfrm>
            <a:off x="6210300" y="4140200"/>
            <a:ext cx="3759200" cy="762000"/>
          </a:xfrm>
          <a:prstGeom prst="roundRect">
            <a:avLst>
              <a:gd name="adj" fmla="val 10000"/>
            </a:avLst>
          </a:prstGeom>
          <a:solidFill>
            <a:srgbClr val="F0F4FC"/>
          </a:solidFill>
          <a:ln w="12700">
            <a:solidFill>
              <a:srgbClr val="D5DDF0"/>
            </a:solidFill>
            <a:prstDash val="solid"/>
          </a:ln>
        </p:spPr>
      </p:sp>
      <p:sp>
        <p:nvSpPr>
          <p:cNvPr id="28" name="Text 25"/>
          <p:cNvSpPr txBox="1"/>
          <p:nvPr/>
        </p:nvSpPr>
        <p:spPr>
          <a:xfrm>
            <a:off x="6337300" y="4216400"/>
            <a:ext cx="3505200" cy="228600"/>
          </a:xfrm>
          <a:prstGeom prst="rect">
            <a:avLst/>
          </a:prstGeom>
          <a:noFill/>
          <a:ln/>
        </p:spPr>
        <p:txBody>
          <a:bodyPr wrap="square" lIns="0" tIns="0" rIns="0" bIns="0" rtlCol="0" anchor="t"/>
          <a:lstStyle/>
          <a:p>
            <a:pPr algn="l" indent="0" marL="0">
              <a:lnSpc>
                <a:spcPct val="110000"/>
              </a:lnSpc>
              <a:buNone/>
            </a:pPr>
            <a:r>
              <a:rPr lang="en-US" sz="1400" b="1" dirty="0">
                <a:solidFill>
                  <a:srgbClr val="1E2761"/>
                </a:solidFill>
                <a:latin typeface="Arial" pitchFamily="34" charset="0"/>
                <a:ea typeface="Arial" pitchFamily="34" charset="-122"/>
                <a:cs typeface="Arial" pitchFamily="34" charset="-120"/>
              </a:rPr>
              <a:t>Feed-Forward</a:t>
            </a:r>
            <a:endParaRPr lang="en-US" sz="1400" dirty="0"/>
          </a:p>
        </p:txBody>
      </p:sp>
      <p:sp>
        <p:nvSpPr>
          <p:cNvPr id="29" name="Text 26"/>
          <p:cNvSpPr txBox="1"/>
          <p:nvPr/>
        </p:nvSpPr>
        <p:spPr>
          <a:xfrm>
            <a:off x="6337300" y="4445000"/>
            <a:ext cx="3505200" cy="4318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rede neural densa (2 camadas): processa cada posição sozinha, sem olhar as outras</a:t>
            </a:r>
            <a:endParaRPr lang="en-US" sz="1200" dirty="0"/>
          </a:p>
        </p:txBody>
      </p:sp>
      <p:sp>
        <p:nvSpPr>
          <p:cNvPr id="30" name="Text 27"/>
          <p:cNvSpPr txBox="1"/>
          <p:nvPr/>
        </p:nvSpPr>
        <p:spPr>
          <a:xfrm>
            <a:off x="6235700" y="5016500"/>
            <a:ext cx="3708400" cy="381000"/>
          </a:xfrm>
          <a:prstGeom prst="rect">
            <a:avLst/>
          </a:prstGeom>
          <a:noFill/>
          <a:ln/>
        </p:spPr>
        <p:txBody>
          <a:bodyPr wrap="square" lIns="0" tIns="0" rIns="0" bIns="0" rtlCol="0" anchor="t"/>
          <a:lstStyle/>
          <a:p>
            <a:pPr algn="l" indent="0" marL="0">
              <a:lnSpc>
                <a:spcPct val="110000"/>
              </a:lnSpc>
              <a:buNone/>
            </a:pPr>
            <a:r>
              <a:rPr lang="en-US" sz="1300" b="1" dirty="0">
                <a:solidFill>
                  <a:srgbClr val="3A4A8F"/>
                </a:solidFill>
                <a:latin typeface="Arial" pitchFamily="34" charset="0"/>
                <a:ea typeface="Arial" pitchFamily="34" charset="-122"/>
                <a:cs typeface="Arial" pitchFamily="34" charset="-120"/>
              </a:rPr>
              <a:t>Escreve a pergunta, um token de cada vez</a:t>
            </a:r>
            <a:endParaRPr lang="en-US" sz="1300" dirty="0"/>
          </a:p>
        </p:txBody>
      </p:sp>
      <p:sp>
        <p:nvSpPr>
          <p:cNvPr id="31" name="Shape 28"/>
          <p:cNvSpPr/>
          <p:nvPr/>
        </p:nvSpPr>
        <p:spPr>
          <a:xfrm>
            <a:off x="10147300" y="3556000"/>
            <a:ext cx="317500" cy="254000"/>
          </a:xfrm>
          <a:prstGeom prst="rightArrow">
            <a:avLst/>
          </a:prstGeom>
          <a:solidFill>
            <a:srgbClr val="E8A33D"/>
          </a:solidFill>
          <a:ln w="12700">
            <a:solidFill>
              <a:srgbClr val="E8A33D"/>
            </a:solidFill>
            <a:prstDash val="solid"/>
          </a:ln>
        </p:spPr>
      </p:sp>
      <p:sp>
        <p:nvSpPr>
          <p:cNvPr id="32" name="Shape 29"/>
          <p:cNvSpPr/>
          <p:nvPr/>
        </p:nvSpPr>
        <p:spPr>
          <a:xfrm>
            <a:off x="10426700" y="1905000"/>
            <a:ext cx="952500" cy="3556000"/>
          </a:xfrm>
          <a:prstGeom prst="roundRect">
            <a:avLst>
              <a:gd name="adj" fmla="val 10667"/>
            </a:avLst>
          </a:prstGeom>
          <a:solidFill>
            <a:srgbClr val="1E2761"/>
          </a:solidFill>
          <a:ln w="12700">
            <a:solidFill>
              <a:srgbClr val="1E2761"/>
            </a:solidFill>
            <a:prstDash val="solid"/>
          </a:ln>
        </p:spPr>
      </p:sp>
      <p:sp>
        <p:nvSpPr>
          <p:cNvPr id="33" name="Text 30"/>
          <p:cNvSpPr txBox="1"/>
          <p:nvPr/>
        </p:nvSpPr>
        <p:spPr>
          <a:xfrm>
            <a:off x="10426700" y="1905000"/>
            <a:ext cx="952500" cy="3556000"/>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Arial" pitchFamily="34" charset="0"/>
                <a:ea typeface="Arial" pitchFamily="34" charset="-122"/>
                <a:cs typeface="Arial" pitchFamily="34" charset="-120"/>
              </a:rPr>
              <a:t>Pergunta</a:t>
            </a:r>
            <a:endParaRPr lang="en-US" sz="1300" dirty="0"/>
          </a:p>
          <a:p>
            <a:pPr algn="ctr" indent="0" marL="0">
              <a:lnSpc>
                <a:spcPct val="110000"/>
              </a:lnSpc>
              <a:buNone/>
            </a:pPr>
            <a:r>
              <a:rPr lang="en-US" sz="1300" b="1" dirty="0">
                <a:solidFill>
                  <a:srgbClr val="FFFFFF"/>
                </a:solidFill>
                <a:latin typeface="Arial" pitchFamily="34" charset="0"/>
                <a:ea typeface="Arial" pitchFamily="34" charset="-122"/>
                <a:cs typeface="Arial" pitchFamily="34" charset="-120"/>
              </a:rPr>
              <a:t>gerada</a:t>
            </a:r>
            <a:endParaRPr lang="en-US" sz="1300" dirty="0"/>
          </a:p>
        </p:txBody>
      </p:sp>
      <p:sp>
        <p:nvSpPr>
          <p:cNvPr id="34" name="Text 31"/>
          <p:cNvSpPr txBox="1"/>
          <p:nvPr/>
        </p:nvSpPr>
        <p:spPr>
          <a:xfrm>
            <a:off x="812800" y="5619750"/>
            <a:ext cx="10566400" cy="317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~60M parâmetros · embeddings compartilhados — mesmo “dicionário” interno de palavras para ler e para escrever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13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ARQUITETURA DO MODELO</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Execução passo a passo — exemplo real</a:t>
            </a:r>
            <a:endParaRPr lang="en-US" sz="3000" dirty="0"/>
          </a:p>
        </p:txBody>
      </p:sp>
      <p:sp>
        <p:nvSpPr>
          <p:cNvPr id="6" name="Shape 3"/>
          <p:cNvSpPr/>
          <p:nvPr/>
        </p:nvSpPr>
        <p:spPr>
          <a:xfrm>
            <a:off x="812800" y="1841500"/>
            <a:ext cx="10566400" cy="1206500"/>
          </a:xfrm>
          <a:prstGeom prst="roundRect">
            <a:avLst>
              <a:gd name="adj" fmla="val 8421"/>
            </a:avLst>
          </a:prstGeom>
          <a:solidFill>
            <a:srgbClr val="FFFFFF"/>
          </a:solidFill>
          <a:ln w="12700">
            <a:solidFill>
              <a:srgbClr val="D5DDF0"/>
            </a:solidFill>
            <a:prstDash val="solid"/>
          </a:ln>
        </p:spPr>
      </p:sp>
      <p:sp>
        <p:nvSpPr>
          <p:cNvPr id="7" name="Text 4"/>
          <p:cNvSpPr txBox="1"/>
          <p:nvPr/>
        </p:nvSpPr>
        <p:spPr>
          <a:xfrm>
            <a:off x="1016000" y="1981200"/>
            <a:ext cx="3810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ENTRADA</a:t>
            </a:r>
            <a:endParaRPr lang="en-US" sz="1200" dirty="0"/>
          </a:p>
        </p:txBody>
      </p:sp>
      <p:sp>
        <p:nvSpPr>
          <p:cNvPr id="8" name="Text 5"/>
          <p:cNvSpPr txBox="1"/>
          <p:nvPr/>
        </p:nvSpPr>
        <p:spPr>
          <a:xfrm>
            <a:off x="1016000" y="2235200"/>
            <a:ext cx="10160000" cy="698500"/>
          </a:xfrm>
          <a:prstGeom prst="rect">
            <a:avLst/>
          </a:prstGeom>
          <a:noFill/>
          <a:ln/>
        </p:spPr>
        <p:txBody>
          <a:bodyPr wrap="square" lIns="0" tIns="0" rIns="0" bIns="0" rtlCol="0" anchor="t"/>
          <a:lstStyle/>
          <a:p>
            <a:pPr algn="l" indent="0" marL="0">
              <a:lnSpc>
                <a:spcPct val="110000"/>
              </a:lnSpc>
              <a:buNone/>
            </a:pPr>
            <a:r>
              <a:rPr lang="en-US" sz="1400" dirty="0">
                <a:solidFill>
                  <a:srgbClr val="1A1A2E"/>
                </a:solidFill>
                <a:latin typeface="Courier New" pitchFamily="34" charset="0"/>
                <a:ea typeface="Courier New" pitchFamily="34" charset="-122"/>
                <a:cs typeface="Courier New" pitchFamily="34" charset="-120"/>
              </a:rPr>
              <a:t>"generate question: Photosynthesis is a process used by plants to convert light energy into chemical energy..."</a:t>
            </a:r>
            <a:endParaRPr lang="en-US" sz="1400" dirty="0"/>
          </a:p>
        </p:txBody>
      </p:sp>
      <p:sp>
        <p:nvSpPr>
          <p:cNvPr id="9" name="Shape 6"/>
          <p:cNvSpPr/>
          <p:nvPr/>
        </p:nvSpPr>
        <p:spPr>
          <a:xfrm>
            <a:off x="812800" y="3302000"/>
            <a:ext cx="3390900" cy="2095500"/>
          </a:xfrm>
          <a:prstGeom prst="roundRect">
            <a:avLst>
              <a:gd name="adj" fmla="val 4848"/>
            </a:avLst>
          </a:prstGeom>
          <a:solidFill>
            <a:srgbClr val="FFFFFF"/>
          </a:solidFill>
          <a:ln w="12700">
            <a:solidFill>
              <a:srgbClr val="D5DDF0"/>
            </a:solidFill>
            <a:prstDash val="solid"/>
          </a:ln>
        </p:spPr>
      </p:sp>
      <p:sp>
        <p:nvSpPr>
          <p:cNvPr id="10" name="Text 7"/>
          <p:cNvSpPr txBox="1"/>
          <p:nvPr/>
        </p:nvSpPr>
        <p:spPr>
          <a:xfrm>
            <a:off x="1016000" y="3429000"/>
            <a:ext cx="635000" cy="444500"/>
          </a:xfrm>
          <a:prstGeom prst="rect">
            <a:avLst/>
          </a:prstGeom>
          <a:noFill/>
          <a:ln/>
        </p:spPr>
        <p:txBody>
          <a:bodyPr wrap="square" lIns="0" tIns="0" rIns="0" bIns="0" rtlCol="0" anchor="t"/>
          <a:lstStyle/>
          <a:p>
            <a:pPr algn="l" indent="0" marL="0">
              <a:lnSpc>
                <a:spcPct val="110000"/>
              </a:lnSpc>
              <a:buNone/>
            </a:pPr>
            <a:r>
              <a:rPr lang="en-US" sz="2800" b="1" dirty="0">
                <a:solidFill>
                  <a:srgbClr val="9A6410"/>
                </a:solidFill>
                <a:latin typeface="Georgia" pitchFamily="34" charset="0"/>
                <a:ea typeface="Georgia" pitchFamily="34" charset="-122"/>
                <a:cs typeface="Georgia" pitchFamily="34" charset="-120"/>
              </a:rPr>
              <a:t>1</a:t>
            </a:r>
            <a:endParaRPr lang="en-US" sz="2800" dirty="0"/>
          </a:p>
        </p:txBody>
      </p:sp>
      <p:sp>
        <p:nvSpPr>
          <p:cNvPr id="11" name="Text 8"/>
          <p:cNvSpPr txBox="1"/>
          <p:nvPr/>
        </p:nvSpPr>
        <p:spPr>
          <a:xfrm>
            <a:off x="1016000" y="4000500"/>
            <a:ext cx="2984500" cy="317500"/>
          </a:xfrm>
          <a:prstGeom prst="rect">
            <a:avLst/>
          </a:prstGeom>
          <a:noFill/>
          <a:ln/>
        </p:spPr>
        <p:txBody>
          <a:bodyPr wrap="square" lIns="0" tIns="0" rIns="0" bIns="0" rtlCol="0" anchor="t"/>
          <a:lstStyle/>
          <a:p>
            <a:pPr algn="l" indent="0" marL="0">
              <a:lnSpc>
                <a:spcPct val="110000"/>
              </a:lnSpc>
              <a:buNone/>
            </a:pPr>
            <a:r>
              <a:rPr lang="en-US" sz="1800" b="1" dirty="0">
                <a:solidFill>
                  <a:srgbClr val="1E2761"/>
                </a:solidFill>
                <a:latin typeface="Arial" pitchFamily="34" charset="0"/>
                <a:ea typeface="Arial" pitchFamily="34" charset="-122"/>
                <a:cs typeface="Arial" pitchFamily="34" charset="-120"/>
              </a:rPr>
              <a:t>Tokenização</a:t>
            </a:r>
            <a:endParaRPr lang="en-US" sz="1800" dirty="0"/>
          </a:p>
        </p:txBody>
      </p:sp>
      <p:sp>
        <p:nvSpPr>
          <p:cNvPr id="12" name="Text 9"/>
          <p:cNvSpPr txBox="1"/>
          <p:nvPr/>
        </p:nvSpPr>
        <p:spPr>
          <a:xfrm>
            <a:off x="1016000" y="4413250"/>
            <a:ext cx="2984500" cy="8890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56 tokens — pedaços de palavra, nem sempre a palavra inteira</a:t>
            </a:r>
            <a:endParaRPr lang="en-US" sz="1300" dirty="0"/>
          </a:p>
        </p:txBody>
      </p:sp>
      <p:sp>
        <p:nvSpPr>
          <p:cNvPr id="13" name="Shape 10"/>
          <p:cNvSpPr/>
          <p:nvPr/>
        </p:nvSpPr>
        <p:spPr>
          <a:xfrm>
            <a:off x="4400550" y="3302000"/>
            <a:ext cx="3390900" cy="2095500"/>
          </a:xfrm>
          <a:prstGeom prst="roundRect">
            <a:avLst>
              <a:gd name="adj" fmla="val 4848"/>
            </a:avLst>
          </a:prstGeom>
          <a:solidFill>
            <a:srgbClr val="FFFFFF"/>
          </a:solidFill>
          <a:ln w="12700">
            <a:solidFill>
              <a:srgbClr val="D5DDF0"/>
            </a:solidFill>
            <a:prstDash val="solid"/>
          </a:ln>
        </p:spPr>
      </p:sp>
      <p:sp>
        <p:nvSpPr>
          <p:cNvPr id="14" name="Text 11"/>
          <p:cNvSpPr txBox="1"/>
          <p:nvPr/>
        </p:nvSpPr>
        <p:spPr>
          <a:xfrm>
            <a:off x="4603750" y="3429000"/>
            <a:ext cx="635000" cy="444500"/>
          </a:xfrm>
          <a:prstGeom prst="rect">
            <a:avLst/>
          </a:prstGeom>
          <a:noFill/>
          <a:ln/>
        </p:spPr>
        <p:txBody>
          <a:bodyPr wrap="square" lIns="0" tIns="0" rIns="0" bIns="0" rtlCol="0" anchor="t"/>
          <a:lstStyle/>
          <a:p>
            <a:pPr algn="l" indent="0" marL="0">
              <a:lnSpc>
                <a:spcPct val="110000"/>
              </a:lnSpc>
              <a:buNone/>
            </a:pPr>
            <a:r>
              <a:rPr lang="en-US" sz="2800" b="1" dirty="0">
                <a:solidFill>
                  <a:srgbClr val="9A6410"/>
                </a:solidFill>
                <a:latin typeface="Georgia" pitchFamily="34" charset="0"/>
                <a:ea typeface="Georgia" pitchFamily="34" charset="-122"/>
                <a:cs typeface="Georgia" pitchFamily="34" charset="-120"/>
              </a:rPr>
              <a:t>2</a:t>
            </a:r>
            <a:endParaRPr lang="en-US" sz="2800" dirty="0"/>
          </a:p>
        </p:txBody>
      </p:sp>
      <p:sp>
        <p:nvSpPr>
          <p:cNvPr id="15" name="Text 12"/>
          <p:cNvSpPr txBox="1"/>
          <p:nvPr/>
        </p:nvSpPr>
        <p:spPr>
          <a:xfrm>
            <a:off x="4603750" y="4000500"/>
            <a:ext cx="2984500" cy="317500"/>
          </a:xfrm>
          <a:prstGeom prst="rect">
            <a:avLst/>
          </a:prstGeom>
          <a:noFill/>
          <a:ln/>
        </p:spPr>
        <p:txBody>
          <a:bodyPr wrap="square" lIns="0" tIns="0" rIns="0" bIns="0" rtlCol="0" anchor="t"/>
          <a:lstStyle/>
          <a:p>
            <a:pPr algn="l" indent="0" marL="0">
              <a:lnSpc>
                <a:spcPct val="110000"/>
              </a:lnSpc>
              <a:buNone/>
            </a:pPr>
            <a:r>
              <a:rPr lang="en-US" sz="1800" b="1" dirty="0">
                <a:solidFill>
                  <a:srgbClr val="1E2761"/>
                </a:solidFill>
                <a:latin typeface="Arial" pitchFamily="34" charset="0"/>
                <a:ea typeface="Arial" pitchFamily="34" charset="-122"/>
                <a:cs typeface="Arial" pitchFamily="34" charset="-120"/>
              </a:rPr>
              <a:t>Encoder</a:t>
            </a:r>
            <a:endParaRPr lang="en-US" sz="1800" dirty="0"/>
          </a:p>
        </p:txBody>
      </p:sp>
      <p:sp>
        <p:nvSpPr>
          <p:cNvPr id="16" name="Text 13"/>
          <p:cNvSpPr txBox="1"/>
          <p:nvPr/>
        </p:nvSpPr>
        <p:spPr>
          <a:xfrm>
            <a:off x="4603750" y="4413250"/>
            <a:ext cx="2984500" cy="8890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saída (1, 56, 512) — 56 posições × 512 dim</a:t>
            </a:r>
            <a:endParaRPr lang="en-US" sz="1300" dirty="0"/>
          </a:p>
        </p:txBody>
      </p:sp>
      <p:sp>
        <p:nvSpPr>
          <p:cNvPr id="17" name="Shape 14"/>
          <p:cNvSpPr/>
          <p:nvPr/>
        </p:nvSpPr>
        <p:spPr>
          <a:xfrm>
            <a:off x="7988300" y="3302000"/>
            <a:ext cx="3390900" cy="2095500"/>
          </a:xfrm>
          <a:prstGeom prst="roundRect">
            <a:avLst>
              <a:gd name="adj" fmla="val 4848"/>
            </a:avLst>
          </a:prstGeom>
          <a:solidFill>
            <a:srgbClr val="FFFFFF"/>
          </a:solidFill>
          <a:ln w="12700">
            <a:solidFill>
              <a:srgbClr val="D5DDF0"/>
            </a:solidFill>
            <a:prstDash val="solid"/>
          </a:ln>
        </p:spPr>
      </p:sp>
      <p:sp>
        <p:nvSpPr>
          <p:cNvPr id="18" name="Text 15"/>
          <p:cNvSpPr txBox="1"/>
          <p:nvPr/>
        </p:nvSpPr>
        <p:spPr>
          <a:xfrm>
            <a:off x="8191500" y="3429000"/>
            <a:ext cx="635000" cy="444500"/>
          </a:xfrm>
          <a:prstGeom prst="rect">
            <a:avLst/>
          </a:prstGeom>
          <a:noFill/>
          <a:ln/>
        </p:spPr>
        <p:txBody>
          <a:bodyPr wrap="square" lIns="0" tIns="0" rIns="0" bIns="0" rtlCol="0" anchor="t"/>
          <a:lstStyle/>
          <a:p>
            <a:pPr algn="l" indent="0" marL="0">
              <a:lnSpc>
                <a:spcPct val="110000"/>
              </a:lnSpc>
              <a:buNone/>
            </a:pPr>
            <a:r>
              <a:rPr lang="en-US" sz="2800" b="1" dirty="0">
                <a:solidFill>
                  <a:srgbClr val="9A6410"/>
                </a:solidFill>
                <a:latin typeface="Georgia" pitchFamily="34" charset="0"/>
                <a:ea typeface="Georgia" pitchFamily="34" charset="-122"/>
                <a:cs typeface="Georgia" pitchFamily="34" charset="-120"/>
              </a:rPr>
              <a:t>3</a:t>
            </a:r>
            <a:endParaRPr lang="en-US" sz="2800" dirty="0"/>
          </a:p>
        </p:txBody>
      </p:sp>
      <p:sp>
        <p:nvSpPr>
          <p:cNvPr id="19" name="Text 16"/>
          <p:cNvSpPr txBox="1"/>
          <p:nvPr/>
        </p:nvSpPr>
        <p:spPr>
          <a:xfrm>
            <a:off x="8191500" y="4000500"/>
            <a:ext cx="2984500" cy="317500"/>
          </a:xfrm>
          <a:prstGeom prst="rect">
            <a:avLst/>
          </a:prstGeom>
          <a:noFill/>
          <a:ln/>
        </p:spPr>
        <p:txBody>
          <a:bodyPr wrap="square" lIns="0" tIns="0" rIns="0" bIns="0" rtlCol="0" anchor="t"/>
          <a:lstStyle/>
          <a:p>
            <a:pPr algn="l" indent="0" marL="0">
              <a:lnSpc>
                <a:spcPct val="110000"/>
              </a:lnSpc>
              <a:buNone/>
            </a:pPr>
            <a:r>
              <a:rPr lang="en-US" sz="1800" b="1" dirty="0">
                <a:solidFill>
                  <a:srgbClr val="1E2761"/>
                </a:solidFill>
                <a:latin typeface="Arial" pitchFamily="34" charset="0"/>
                <a:ea typeface="Arial" pitchFamily="34" charset="-122"/>
                <a:cs typeface="Arial" pitchFamily="34" charset="-120"/>
              </a:rPr>
              <a:t>Decoder</a:t>
            </a:r>
            <a:endParaRPr lang="en-US" sz="1800" dirty="0"/>
          </a:p>
        </p:txBody>
      </p:sp>
      <p:sp>
        <p:nvSpPr>
          <p:cNvPr id="20" name="Text 17"/>
          <p:cNvSpPr txBox="1"/>
          <p:nvPr/>
        </p:nvSpPr>
        <p:spPr>
          <a:xfrm>
            <a:off x="8191500" y="4413250"/>
            <a:ext cx="2984500" cy="8890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gera 1 token por vez, autoregressivo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14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ARQUITETURA DO MODELO</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Geração token a token</a:t>
            </a:r>
            <a:endParaRPr lang="en-US" sz="3000" dirty="0"/>
          </a:p>
        </p:txBody>
      </p:sp>
      <p:sp>
        <p:nvSpPr>
          <p:cNvPr id="6" name="Text 3"/>
          <p:cNvSpPr txBox="1"/>
          <p:nvPr/>
        </p:nvSpPr>
        <p:spPr>
          <a:xfrm>
            <a:off x="812800" y="1619250"/>
            <a:ext cx="10566400" cy="254000"/>
          </a:xfrm>
          <a:prstGeom prst="rect">
            <a:avLst/>
          </a:prstGeom>
          <a:noFill/>
          <a:ln/>
        </p:spPr>
        <p:txBody>
          <a:bodyPr wrap="square" lIns="0" tIns="0" rIns="0" bIns="0" rtlCol="0" anchor="t"/>
          <a:lstStyle/>
          <a:p>
            <a:pPr algn="l" indent="0" marL="0">
              <a:lnSpc>
                <a:spcPct val="110000"/>
              </a:lnSpc>
              <a:buNone/>
            </a:pPr>
            <a:r>
              <a:rPr lang="en-US" sz="1400" dirty="0">
                <a:solidFill>
                  <a:srgbClr val="5C6B8A"/>
                </a:solidFill>
                <a:latin typeface="Arial" pitchFamily="34" charset="0"/>
                <a:ea typeface="Arial" pitchFamily="34" charset="-122"/>
                <a:cs typeface="Arial" pitchFamily="34" charset="-120"/>
              </a:rPr>
              <a:t>Greedy: cada passo escolhe o token mais provável</a:t>
            </a:r>
            <a:endParaRPr lang="en-US" sz="1400" dirty="0"/>
          </a:p>
        </p:txBody>
      </p:sp>
      <p:sp>
        <p:nvSpPr>
          <p:cNvPr id="7" name="Shape 4"/>
          <p:cNvSpPr/>
          <p:nvPr/>
        </p:nvSpPr>
        <p:spPr>
          <a:xfrm>
            <a:off x="812800" y="2032000"/>
            <a:ext cx="1238250" cy="762000"/>
          </a:xfrm>
          <a:prstGeom prst="roundRect">
            <a:avLst>
              <a:gd name="adj" fmla="val 11667"/>
            </a:avLst>
          </a:prstGeom>
          <a:solidFill>
            <a:srgbClr val="FFFFFF"/>
          </a:solidFill>
          <a:ln w="12700">
            <a:solidFill>
              <a:srgbClr val="D5DDF0"/>
            </a:solidFill>
            <a:prstDash val="solid"/>
          </a:ln>
        </p:spPr>
      </p:sp>
      <p:sp>
        <p:nvSpPr>
          <p:cNvPr id="8" name="Text 5"/>
          <p:cNvSpPr txBox="1"/>
          <p:nvPr/>
        </p:nvSpPr>
        <p:spPr>
          <a:xfrm>
            <a:off x="812800" y="2127250"/>
            <a:ext cx="1238250" cy="317500"/>
          </a:xfrm>
          <a:prstGeom prst="rect">
            <a:avLst/>
          </a:prstGeom>
          <a:noFill/>
          <a:ln/>
        </p:spPr>
        <p:txBody>
          <a:bodyPr wrap="square" lIns="0" tIns="0" rIns="0" bIns="0" rtlCol="0" anchor="t"/>
          <a:lstStyle/>
          <a:p>
            <a:pPr algn="ctr" indent="0" marL="0">
              <a:lnSpc>
                <a:spcPct val="110000"/>
              </a:lnSpc>
              <a:buNone/>
            </a:pPr>
            <a:r>
              <a:rPr lang="en-US" sz="1300" b="1" dirty="0">
                <a:solidFill>
                  <a:srgbClr val="1E2761"/>
                </a:solidFill>
                <a:latin typeface="Arial" pitchFamily="34" charset="0"/>
                <a:ea typeface="Arial" pitchFamily="34" charset="-122"/>
                <a:cs typeface="Arial" pitchFamily="34" charset="-120"/>
              </a:rPr>
              <a:t>What</a:t>
            </a:r>
            <a:endParaRPr lang="en-US" sz="1300" dirty="0"/>
          </a:p>
        </p:txBody>
      </p:sp>
      <p:sp>
        <p:nvSpPr>
          <p:cNvPr id="9" name="Text 6"/>
          <p:cNvSpPr txBox="1"/>
          <p:nvPr/>
        </p:nvSpPr>
        <p:spPr>
          <a:xfrm>
            <a:off x="812800" y="2463800"/>
            <a:ext cx="1238250" cy="254000"/>
          </a:xfrm>
          <a:prstGeom prst="rect">
            <a:avLst/>
          </a:prstGeom>
          <a:noFill/>
          <a:ln/>
        </p:spPr>
        <p:txBody>
          <a:bodyPr wrap="square" lIns="0" tIns="0" rIns="0" bIns="0" rtlCol="0" anchor="t"/>
          <a:lstStyle/>
          <a:p>
            <a:pPr algn="ctr" indent="0" marL="0">
              <a:lnSpc>
                <a:spcPct val="110000"/>
              </a:lnSpc>
              <a:buNone/>
            </a:pPr>
            <a:r>
              <a:rPr lang="en-US" sz="1200" dirty="0">
                <a:solidFill>
                  <a:srgbClr val="9A6410"/>
                </a:solidFill>
                <a:latin typeface="Arial" pitchFamily="34" charset="0"/>
                <a:ea typeface="Arial" pitchFamily="34" charset="-122"/>
                <a:cs typeface="Arial" pitchFamily="34" charset="-120"/>
              </a:rPr>
              <a:t>p=.80</a:t>
            </a:r>
            <a:endParaRPr lang="en-US" sz="1200" dirty="0"/>
          </a:p>
        </p:txBody>
      </p:sp>
      <p:sp>
        <p:nvSpPr>
          <p:cNvPr id="10" name="Shape 7"/>
          <p:cNvSpPr/>
          <p:nvPr/>
        </p:nvSpPr>
        <p:spPr>
          <a:xfrm>
            <a:off x="2139950" y="2032000"/>
            <a:ext cx="1238250" cy="762000"/>
          </a:xfrm>
          <a:prstGeom prst="roundRect">
            <a:avLst>
              <a:gd name="adj" fmla="val 11667"/>
            </a:avLst>
          </a:prstGeom>
          <a:solidFill>
            <a:srgbClr val="FFFFFF"/>
          </a:solidFill>
          <a:ln w="12700">
            <a:solidFill>
              <a:srgbClr val="D5DDF0"/>
            </a:solidFill>
            <a:prstDash val="solid"/>
          </a:ln>
        </p:spPr>
      </p:sp>
      <p:sp>
        <p:nvSpPr>
          <p:cNvPr id="11" name="Text 8"/>
          <p:cNvSpPr txBox="1"/>
          <p:nvPr/>
        </p:nvSpPr>
        <p:spPr>
          <a:xfrm>
            <a:off x="2139950" y="2127250"/>
            <a:ext cx="1238250" cy="317500"/>
          </a:xfrm>
          <a:prstGeom prst="rect">
            <a:avLst/>
          </a:prstGeom>
          <a:noFill/>
          <a:ln/>
        </p:spPr>
        <p:txBody>
          <a:bodyPr wrap="square" lIns="0" tIns="0" rIns="0" bIns="0" rtlCol="0" anchor="t"/>
          <a:lstStyle/>
          <a:p>
            <a:pPr algn="ctr" indent="0" marL="0">
              <a:lnSpc>
                <a:spcPct val="110000"/>
              </a:lnSpc>
              <a:buNone/>
            </a:pPr>
            <a:r>
              <a:rPr lang="en-US" sz="1300" b="1" dirty="0">
                <a:solidFill>
                  <a:srgbClr val="1E2761"/>
                </a:solidFill>
                <a:latin typeface="Arial" pitchFamily="34" charset="0"/>
                <a:ea typeface="Arial" pitchFamily="34" charset="-122"/>
                <a:cs typeface="Arial" pitchFamily="34" charset="-120"/>
              </a:rPr>
              <a:t>is</a:t>
            </a:r>
            <a:endParaRPr lang="en-US" sz="1300" dirty="0"/>
          </a:p>
        </p:txBody>
      </p:sp>
      <p:sp>
        <p:nvSpPr>
          <p:cNvPr id="12" name="Text 9"/>
          <p:cNvSpPr txBox="1"/>
          <p:nvPr/>
        </p:nvSpPr>
        <p:spPr>
          <a:xfrm>
            <a:off x="2139950" y="2463800"/>
            <a:ext cx="1238250" cy="254000"/>
          </a:xfrm>
          <a:prstGeom prst="rect">
            <a:avLst/>
          </a:prstGeom>
          <a:noFill/>
          <a:ln/>
        </p:spPr>
        <p:txBody>
          <a:bodyPr wrap="square" lIns="0" tIns="0" rIns="0" bIns="0" rtlCol="0" anchor="t"/>
          <a:lstStyle/>
          <a:p>
            <a:pPr algn="ctr" indent="0" marL="0">
              <a:lnSpc>
                <a:spcPct val="110000"/>
              </a:lnSpc>
              <a:buNone/>
            </a:pPr>
            <a:r>
              <a:rPr lang="en-US" sz="1200" dirty="0">
                <a:solidFill>
                  <a:srgbClr val="9A6410"/>
                </a:solidFill>
                <a:latin typeface="Arial" pitchFamily="34" charset="0"/>
                <a:ea typeface="Arial" pitchFamily="34" charset="-122"/>
                <a:cs typeface="Arial" pitchFamily="34" charset="-120"/>
              </a:rPr>
              <a:t>p=.54</a:t>
            </a:r>
            <a:endParaRPr lang="en-US" sz="1200" dirty="0"/>
          </a:p>
        </p:txBody>
      </p:sp>
      <p:sp>
        <p:nvSpPr>
          <p:cNvPr id="13" name="Shape 10"/>
          <p:cNvSpPr/>
          <p:nvPr/>
        </p:nvSpPr>
        <p:spPr>
          <a:xfrm>
            <a:off x="3467100" y="2032000"/>
            <a:ext cx="1238250" cy="762000"/>
          </a:xfrm>
          <a:prstGeom prst="roundRect">
            <a:avLst>
              <a:gd name="adj" fmla="val 11667"/>
            </a:avLst>
          </a:prstGeom>
          <a:solidFill>
            <a:srgbClr val="FFFFFF"/>
          </a:solidFill>
          <a:ln w="12700">
            <a:solidFill>
              <a:srgbClr val="D5DDF0"/>
            </a:solidFill>
            <a:prstDash val="solid"/>
          </a:ln>
        </p:spPr>
      </p:sp>
      <p:sp>
        <p:nvSpPr>
          <p:cNvPr id="14" name="Text 11"/>
          <p:cNvSpPr txBox="1"/>
          <p:nvPr/>
        </p:nvSpPr>
        <p:spPr>
          <a:xfrm>
            <a:off x="3467100" y="2127250"/>
            <a:ext cx="1238250" cy="317500"/>
          </a:xfrm>
          <a:prstGeom prst="rect">
            <a:avLst/>
          </a:prstGeom>
          <a:noFill/>
          <a:ln/>
        </p:spPr>
        <p:txBody>
          <a:bodyPr wrap="square" lIns="0" tIns="0" rIns="0" bIns="0" rtlCol="0" anchor="t"/>
          <a:lstStyle/>
          <a:p>
            <a:pPr algn="ctr" indent="0" marL="0">
              <a:lnSpc>
                <a:spcPct val="110000"/>
              </a:lnSpc>
              <a:buNone/>
            </a:pPr>
            <a:r>
              <a:rPr lang="en-US" sz="1300" b="1" dirty="0">
                <a:solidFill>
                  <a:srgbClr val="1E2761"/>
                </a:solidFill>
                <a:latin typeface="Arial" pitchFamily="34" charset="0"/>
                <a:ea typeface="Arial" pitchFamily="34" charset="-122"/>
                <a:cs typeface="Arial" pitchFamily="34" charset="-120"/>
              </a:rPr>
              <a:t>the</a:t>
            </a:r>
            <a:endParaRPr lang="en-US" sz="1300" dirty="0"/>
          </a:p>
        </p:txBody>
      </p:sp>
      <p:sp>
        <p:nvSpPr>
          <p:cNvPr id="15" name="Text 12"/>
          <p:cNvSpPr txBox="1"/>
          <p:nvPr/>
        </p:nvSpPr>
        <p:spPr>
          <a:xfrm>
            <a:off x="3467100" y="2463800"/>
            <a:ext cx="1238250" cy="254000"/>
          </a:xfrm>
          <a:prstGeom prst="rect">
            <a:avLst/>
          </a:prstGeom>
          <a:noFill/>
          <a:ln/>
        </p:spPr>
        <p:txBody>
          <a:bodyPr wrap="square" lIns="0" tIns="0" rIns="0" bIns="0" rtlCol="0" anchor="t"/>
          <a:lstStyle/>
          <a:p>
            <a:pPr algn="ctr" indent="0" marL="0">
              <a:lnSpc>
                <a:spcPct val="110000"/>
              </a:lnSpc>
              <a:buNone/>
            </a:pPr>
            <a:r>
              <a:rPr lang="en-US" sz="1200" dirty="0">
                <a:solidFill>
                  <a:srgbClr val="9A6410"/>
                </a:solidFill>
                <a:latin typeface="Arial" pitchFamily="34" charset="0"/>
                <a:ea typeface="Arial" pitchFamily="34" charset="-122"/>
                <a:cs typeface="Arial" pitchFamily="34" charset="-120"/>
              </a:rPr>
              <a:t>p=.37</a:t>
            </a:r>
            <a:endParaRPr lang="en-US" sz="1200" dirty="0"/>
          </a:p>
        </p:txBody>
      </p:sp>
      <p:sp>
        <p:nvSpPr>
          <p:cNvPr id="16" name="Shape 13"/>
          <p:cNvSpPr/>
          <p:nvPr/>
        </p:nvSpPr>
        <p:spPr>
          <a:xfrm>
            <a:off x="4794250" y="2032000"/>
            <a:ext cx="1238250" cy="762000"/>
          </a:xfrm>
          <a:prstGeom prst="roundRect">
            <a:avLst>
              <a:gd name="adj" fmla="val 11667"/>
            </a:avLst>
          </a:prstGeom>
          <a:solidFill>
            <a:srgbClr val="FFFFFF"/>
          </a:solidFill>
          <a:ln w="12700">
            <a:solidFill>
              <a:srgbClr val="D5DDF0"/>
            </a:solidFill>
            <a:prstDash val="solid"/>
          </a:ln>
        </p:spPr>
      </p:sp>
      <p:sp>
        <p:nvSpPr>
          <p:cNvPr id="17" name="Text 14"/>
          <p:cNvSpPr txBox="1"/>
          <p:nvPr/>
        </p:nvSpPr>
        <p:spPr>
          <a:xfrm>
            <a:off x="4794250" y="2127250"/>
            <a:ext cx="1238250" cy="317500"/>
          </a:xfrm>
          <a:prstGeom prst="rect">
            <a:avLst/>
          </a:prstGeom>
          <a:noFill/>
          <a:ln/>
        </p:spPr>
        <p:txBody>
          <a:bodyPr wrap="square" lIns="0" tIns="0" rIns="0" bIns="0" rtlCol="0" anchor="t"/>
          <a:lstStyle/>
          <a:p>
            <a:pPr algn="ctr" indent="0" marL="0">
              <a:lnSpc>
                <a:spcPct val="110000"/>
              </a:lnSpc>
              <a:buNone/>
            </a:pPr>
            <a:r>
              <a:rPr lang="en-US" sz="1300" b="1" dirty="0">
                <a:solidFill>
                  <a:srgbClr val="1E2761"/>
                </a:solidFill>
                <a:latin typeface="Arial" pitchFamily="34" charset="0"/>
                <a:ea typeface="Arial" pitchFamily="34" charset="-122"/>
                <a:cs typeface="Arial" pitchFamily="34" charset="-120"/>
              </a:rPr>
              <a:t>term</a:t>
            </a:r>
            <a:endParaRPr lang="en-US" sz="1300" dirty="0"/>
          </a:p>
        </p:txBody>
      </p:sp>
      <p:sp>
        <p:nvSpPr>
          <p:cNvPr id="18" name="Text 15"/>
          <p:cNvSpPr txBox="1"/>
          <p:nvPr/>
        </p:nvSpPr>
        <p:spPr>
          <a:xfrm>
            <a:off x="4794250" y="2463800"/>
            <a:ext cx="1238250" cy="254000"/>
          </a:xfrm>
          <a:prstGeom prst="rect">
            <a:avLst/>
          </a:prstGeom>
          <a:noFill/>
          <a:ln/>
        </p:spPr>
        <p:txBody>
          <a:bodyPr wrap="square" lIns="0" tIns="0" rIns="0" bIns="0" rtlCol="0" anchor="t"/>
          <a:lstStyle/>
          <a:p>
            <a:pPr algn="ctr" indent="0" marL="0">
              <a:lnSpc>
                <a:spcPct val="110000"/>
              </a:lnSpc>
              <a:buNone/>
            </a:pPr>
            <a:r>
              <a:rPr lang="en-US" sz="1200" dirty="0">
                <a:solidFill>
                  <a:srgbClr val="9A6410"/>
                </a:solidFill>
                <a:latin typeface="Arial" pitchFamily="34" charset="0"/>
                <a:ea typeface="Arial" pitchFamily="34" charset="-122"/>
                <a:cs typeface="Arial" pitchFamily="34" charset="-120"/>
              </a:rPr>
              <a:t>p=.16</a:t>
            </a:r>
            <a:endParaRPr lang="en-US" sz="1200" dirty="0"/>
          </a:p>
        </p:txBody>
      </p:sp>
      <p:sp>
        <p:nvSpPr>
          <p:cNvPr id="19" name="Shape 16"/>
          <p:cNvSpPr/>
          <p:nvPr/>
        </p:nvSpPr>
        <p:spPr>
          <a:xfrm>
            <a:off x="6121400" y="2032000"/>
            <a:ext cx="1238250" cy="762000"/>
          </a:xfrm>
          <a:prstGeom prst="roundRect">
            <a:avLst>
              <a:gd name="adj" fmla="val 11667"/>
            </a:avLst>
          </a:prstGeom>
          <a:solidFill>
            <a:srgbClr val="FFFFFF"/>
          </a:solidFill>
          <a:ln w="12700">
            <a:solidFill>
              <a:srgbClr val="D5DDF0"/>
            </a:solidFill>
            <a:prstDash val="solid"/>
          </a:ln>
        </p:spPr>
      </p:sp>
      <p:sp>
        <p:nvSpPr>
          <p:cNvPr id="20" name="Text 17"/>
          <p:cNvSpPr txBox="1"/>
          <p:nvPr/>
        </p:nvSpPr>
        <p:spPr>
          <a:xfrm>
            <a:off x="6121400" y="2127250"/>
            <a:ext cx="1238250" cy="317500"/>
          </a:xfrm>
          <a:prstGeom prst="rect">
            <a:avLst/>
          </a:prstGeom>
          <a:noFill/>
          <a:ln/>
        </p:spPr>
        <p:txBody>
          <a:bodyPr wrap="square" lIns="0" tIns="0" rIns="0" bIns="0" rtlCol="0" anchor="t"/>
          <a:lstStyle/>
          <a:p>
            <a:pPr algn="ctr" indent="0" marL="0">
              <a:lnSpc>
                <a:spcPct val="110000"/>
              </a:lnSpc>
              <a:buNone/>
            </a:pPr>
            <a:r>
              <a:rPr lang="en-US" sz="1300" b="1" dirty="0">
                <a:solidFill>
                  <a:srgbClr val="1E2761"/>
                </a:solidFill>
                <a:latin typeface="Arial" pitchFamily="34" charset="0"/>
                <a:ea typeface="Arial" pitchFamily="34" charset="-122"/>
                <a:cs typeface="Arial" pitchFamily="34" charset="-120"/>
              </a:rPr>
              <a:t>for</a:t>
            </a:r>
            <a:endParaRPr lang="en-US" sz="1300" dirty="0"/>
          </a:p>
        </p:txBody>
      </p:sp>
      <p:sp>
        <p:nvSpPr>
          <p:cNvPr id="21" name="Text 18"/>
          <p:cNvSpPr txBox="1"/>
          <p:nvPr/>
        </p:nvSpPr>
        <p:spPr>
          <a:xfrm>
            <a:off x="6121400" y="2463800"/>
            <a:ext cx="1238250" cy="254000"/>
          </a:xfrm>
          <a:prstGeom prst="rect">
            <a:avLst/>
          </a:prstGeom>
          <a:noFill/>
          <a:ln/>
        </p:spPr>
        <p:txBody>
          <a:bodyPr wrap="square" lIns="0" tIns="0" rIns="0" bIns="0" rtlCol="0" anchor="t"/>
          <a:lstStyle/>
          <a:p>
            <a:pPr algn="ctr" indent="0" marL="0">
              <a:lnSpc>
                <a:spcPct val="110000"/>
              </a:lnSpc>
              <a:buNone/>
            </a:pPr>
            <a:r>
              <a:rPr lang="en-US" sz="1200" dirty="0">
                <a:solidFill>
                  <a:srgbClr val="9A6410"/>
                </a:solidFill>
                <a:latin typeface="Arial" pitchFamily="34" charset="0"/>
                <a:ea typeface="Arial" pitchFamily="34" charset="-122"/>
                <a:cs typeface="Arial" pitchFamily="34" charset="-120"/>
              </a:rPr>
              <a:t>p=.82</a:t>
            </a:r>
            <a:endParaRPr lang="en-US" sz="1200" dirty="0"/>
          </a:p>
        </p:txBody>
      </p:sp>
      <p:sp>
        <p:nvSpPr>
          <p:cNvPr id="22" name="Shape 19"/>
          <p:cNvSpPr/>
          <p:nvPr/>
        </p:nvSpPr>
        <p:spPr>
          <a:xfrm>
            <a:off x="7448550" y="2032000"/>
            <a:ext cx="1238250" cy="762000"/>
          </a:xfrm>
          <a:prstGeom prst="roundRect">
            <a:avLst>
              <a:gd name="adj" fmla="val 11667"/>
            </a:avLst>
          </a:prstGeom>
          <a:solidFill>
            <a:srgbClr val="FFFFFF"/>
          </a:solidFill>
          <a:ln w="12700">
            <a:solidFill>
              <a:srgbClr val="D5DDF0"/>
            </a:solidFill>
            <a:prstDash val="solid"/>
          </a:ln>
        </p:spPr>
      </p:sp>
      <p:sp>
        <p:nvSpPr>
          <p:cNvPr id="23" name="Text 20"/>
          <p:cNvSpPr txBox="1"/>
          <p:nvPr/>
        </p:nvSpPr>
        <p:spPr>
          <a:xfrm>
            <a:off x="7448550" y="2127250"/>
            <a:ext cx="1238250" cy="317500"/>
          </a:xfrm>
          <a:prstGeom prst="rect">
            <a:avLst/>
          </a:prstGeom>
          <a:noFill/>
          <a:ln/>
        </p:spPr>
        <p:txBody>
          <a:bodyPr wrap="square" lIns="0" tIns="0" rIns="0" bIns="0" rtlCol="0" anchor="t"/>
          <a:lstStyle/>
          <a:p>
            <a:pPr algn="ctr" indent="0" marL="0">
              <a:lnSpc>
                <a:spcPct val="110000"/>
              </a:lnSpc>
              <a:buNone/>
            </a:pPr>
            <a:r>
              <a:rPr lang="en-US" sz="1300" b="1" dirty="0">
                <a:solidFill>
                  <a:srgbClr val="1E2761"/>
                </a:solidFill>
                <a:latin typeface="Arial" pitchFamily="34" charset="0"/>
                <a:ea typeface="Arial" pitchFamily="34" charset="-122"/>
                <a:cs typeface="Arial" pitchFamily="34" charset="-120"/>
              </a:rPr>
              <a:t>photo</a:t>
            </a:r>
            <a:endParaRPr lang="en-US" sz="1300" dirty="0"/>
          </a:p>
        </p:txBody>
      </p:sp>
      <p:sp>
        <p:nvSpPr>
          <p:cNvPr id="24" name="Text 21"/>
          <p:cNvSpPr txBox="1"/>
          <p:nvPr/>
        </p:nvSpPr>
        <p:spPr>
          <a:xfrm>
            <a:off x="7448550" y="2463800"/>
            <a:ext cx="1238250" cy="254000"/>
          </a:xfrm>
          <a:prstGeom prst="rect">
            <a:avLst/>
          </a:prstGeom>
          <a:noFill/>
          <a:ln/>
        </p:spPr>
        <p:txBody>
          <a:bodyPr wrap="square" lIns="0" tIns="0" rIns="0" bIns="0" rtlCol="0" anchor="t"/>
          <a:lstStyle/>
          <a:p>
            <a:pPr algn="ctr" indent="0" marL="0">
              <a:lnSpc>
                <a:spcPct val="110000"/>
              </a:lnSpc>
              <a:buNone/>
            </a:pPr>
            <a:r>
              <a:rPr lang="en-US" sz="1200" dirty="0">
                <a:solidFill>
                  <a:srgbClr val="9A6410"/>
                </a:solidFill>
                <a:latin typeface="Arial" pitchFamily="34" charset="0"/>
                <a:ea typeface="Arial" pitchFamily="34" charset="-122"/>
                <a:cs typeface="Arial" pitchFamily="34" charset="-120"/>
              </a:rPr>
              <a:t>p=.73</a:t>
            </a:r>
            <a:endParaRPr lang="en-US" sz="1200" dirty="0"/>
          </a:p>
        </p:txBody>
      </p:sp>
      <p:sp>
        <p:nvSpPr>
          <p:cNvPr id="25" name="Shape 22"/>
          <p:cNvSpPr/>
          <p:nvPr/>
        </p:nvSpPr>
        <p:spPr>
          <a:xfrm>
            <a:off x="8775700" y="2032000"/>
            <a:ext cx="1238250" cy="762000"/>
          </a:xfrm>
          <a:prstGeom prst="roundRect">
            <a:avLst>
              <a:gd name="adj" fmla="val 11667"/>
            </a:avLst>
          </a:prstGeom>
          <a:solidFill>
            <a:srgbClr val="FFFFFF"/>
          </a:solidFill>
          <a:ln w="12700">
            <a:solidFill>
              <a:srgbClr val="D5DDF0"/>
            </a:solidFill>
            <a:prstDash val="solid"/>
          </a:ln>
        </p:spPr>
      </p:sp>
      <p:sp>
        <p:nvSpPr>
          <p:cNvPr id="26" name="Text 23"/>
          <p:cNvSpPr txBox="1"/>
          <p:nvPr/>
        </p:nvSpPr>
        <p:spPr>
          <a:xfrm>
            <a:off x="8775700" y="2127250"/>
            <a:ext cx="1238250" cy="317500"/>
          </a:xfrm>
          <a:prstGeom prst="rect">
            <a:avLst/>
          </a:prstGeom>
          <a:noFill/>
          <a:ln/>
        </p:spPr>
        <p:txBody>
          <a:bodyPr wrap="square" lIns="0" tIns="0" rIns="0" bIns="0" rtlCol="0" anchor="t"/>
          <a:lstStyle/>
          <a:p>
            <a:pPr algn="ctr" indent="0" marL="0">
              <a:lnSpc>
                <a:spcPct val="110000"/>
              </a:lnSpc>
              <a:buNone/>
            </a:pPr>
            <a:r>
              <a:rPr lang="en-US" sz="1300" b="1" dirty="0">
                <a:solidFill>
                  <a:srgbClr val="1E2761"/>
                </a:solidFill>
                <a:latin typeface="Arial" pitchFamily="34" charset="0"/>
                <a:ea typeface="Arial" pitchFamily="34" charset="-122"/>
                <a:cs typeface="Arial" pitchFamily="34" charset="-120"/>
              </a:rPr>
              <a:t>synthesis</a:t>
            </a:r>
            <a:endParaRPr lang="en-US" sz="1300" dirty="0"/>
          </a:p>
        </p:txBody>
      </p:sp>
      <p:sp>
        <p:nvSpPr>
          <p:cNvPr id="27" name="Text 24"/>
          <p:cNvSpPr txBox="1"/>
          <p:nvPr/>
        </p:nvSpPr>
        <p:spPr>
          <a:xfrm>
            <a:off x="8775700" y="2463800"/>
            <a:ext cx="1238250" cy="254000"/>
          </a:xfrm>
          <a:prstGeom prst="rect">
            <a:avLst/>
          </a:prstGeom>
          <a:noFill/>
          <a:ln/>
        </p:spPr>
        <p:txBody>
          <a:bodyPr wrap="square" lIns="0" tIns="0" rIns="0" bIns="0" rtlCol="0" anchor="t"/>
          <a:lstStyle/>
          <a:p>
            <a:pPr algn="ctr" indent="0" marL="0">
              <a:lnSpc>
                <a:spcPct val="110000"/>
              </a:lnSpc>
              <a:buNone/>
            </a:pPr>
            <a:r>
              <a:rPr lang="en-US" sz="1200" dirty="0">
                <a:solidFill>
                  <a:srgbClr val="9A6410"/>
                </a:solidFill>
                <a:latin typeface="Arial" pitchFamily="34" charset="0"/>
                <a:ea typeface="Arial" pitchFamily="34" charset="-122"/>
                <a:cs typeface="Arial" pitchFamily="34" charset="-120"/>
              </a:rPr>
              <a:t>p=1.0</a:t>
            </a:r>
            <a:endParaRPr lang="en-US" sz="1200" dirty="0"/>
          </a:p>
        </p:txBody>
      </p:sp>
      <p:sp>
        <p:nvSpPr>
          <p:cNvPr id="28" name="Shape 25"/>
          <p:cNvSpPr/>
          <p:nvPr/>
        </p:nvSpPr>
        <p:spPr>
          <a:xfrm>
            <a:off x="10102850" y="2032000"/>
            <a:ext cx="1238250" cy="762000"/>
          </a:xfrm>
          <a:prstGeom prst="roundRect">
            <a:avLst>
              <a:gd name="adj" fmla="val 11667"/>
            </a:avLst>
          </a:prstGeom>
          <a:solidFill>
            <a:srgbClr val="FFFFFF"/>
          </a:solidFill>
          <a:ln w="12700">
            <a:solidFill>
              <a:srgbClr val="D5DDF0"/>
            </a:solidFill>
            <a:prstDash val="solid"/>
          </a:ln>
        </p:spPr>
      </p:sp>
      <p:sp>
        <p:nvSpPr>
          <p:cNvPr id="29" name="Text 26"/>
          <p:cNvSpPr txBox="1"/>
          <p:nvPr/>
        </p:nvSpPr>
        <p:spPr>
          <a:xfrm>
            <a:off x="10102850" y="2127250"/>
            <a:ext cx="1238250" cy="317500"/>
          </a:xfrm>
          <a:prstGeom prst="rect">
            <a:avLst/>
          </a:prstGeom>
          <a:noFill/>
          <a:ln/>
        </p:spPr>
        <p:txBody>
          <a:bodyPr wrap="square" lIns="0" tIns="0" rIns="0" bIns="0" rtlCol="0" anchor="t"/>
          <a:lstStyle/>
          <a:p>
            <a:pPr algn="ctr" indent="0" marL="0">
              <a:lnSpc>
                <a:spcPct val="110000"/>
              </a:lnSpc>
              <a:buNone/>
            </a:pPr>
            <a:r>
              <a:rPr lang="en-US" sz="1300" b="1" dirty="0">
                <a:solidFill>
                  <a:srgbClr val="1E2761"/>
                </a:solidFill>
                <a:latin typeface="Arial" pitchFamily="34" charset="0"/>
                <a:ea typeface="Arial" pitchFamily="34" charset="-122"/>
                <a:cs typeface="Arial" pitchFamily="34" charset="-120"/>
              </a:rPr>
              <a:t>?</a:t>
            </a:r>
            <a:endParaRPr lang="en-US" sz="1300" dirty="0"/>
          </a:p>
        </p:txBody>
      </p:sp>
      <p:sp>
        <p:nvSpPr>
          <p:cNvPr id="30" name="Text 27"/>
          <p:cNvSpPr txBox="1"/>
          <p:nvPr/>
        </p:nvSpPr>
        <p:spPr>
          <a:xfrm>
            <a:off x="10102850" y="2463800"/>
            <a:ext cx="1238250" cy="254000"/>
          </a:xfrm>
          <a:prstGeom prst="rect">
            <a:avLst/>
          </a:prstGeom>
          <a:noFill/>
          <a:ln/>
        </p:spPr>
        <p:txBody>
          <a:bodyPr wrap="square" lIns="0" tIns="0" rIns="0" bIns="0" rtlCol="0" anchor="t"/>
          <a:lstStyle/>
          <a:p>
            <a:pPr algn="ctr" indent="0" marL="0">
              <a:lnSpc>
                <a:spcPct val="110000"/>
              </a:lnSpc>
              <a:buNone/>
            </a:pPr>
            <a:r>
              <a:rPr lang="en-US" sz="1200" dirty="0">
                <a:solidFill>
                  <a:srgbClr val="9A6410"/>
                </a:solidFill>
                <a:latin typeface="Arial" pitchFamily="34" charset="0"/>
                <a:ea typeface="Arial" pitchFamily="34" charset="-122"/>
                <a:cs typeface="Arial" pitchFamily="34" charset="-120"/>
              </a:rPr>
              <a:t>p=.76</a:t>
            </a:r>
            <a:endParaRPr lang="en-US" sz="1200" dirty="0"/>
          </a:p>
        </p:txBody>
      </p:sp>
      <p:sp>
        <p:nvSpPr>
          <p:cNvPr id="31" name="Shape 28"/>
          <p:cNvSpPr/>
          <p:nvPr/>
        </p:nvSpPr>
        <p:spPr>
          <a:xfrm>
            <a:off x="812800" y="3048000"/>
            <a:ext cx="5207000" cy="2286000"/>
          </a:xfrm>
          <a:prstGeom prst="roundRect">
            <a:avLst>
              <a:gd name="adj" fmla="val 4444"/>
            </a:avLst>
          </a:prstGeom>
          <a:solidFill>
            <a:srgbClr val="FFFFFF"/>
          </a:solidFill>
          <a:ln w="12700">
            <a:solidFill>
              <a:srgbClr val="D5DDF0"/>
            </a:solidFill>
            <a:prstDash val="solid"/>
          </a:ln>
        </p:spPr>
      </p:sp>
      <p:sp>
        <p:nvSpPr>
          <p:cNvPr id="32" name="Text 29"/>
          <p:cNvSpPr txBox="1"/>
          <p:nvPr/>
        </p:nvSpPr>
        <p:spPr>
          <a:xfrm>
            <a:off x="1016000" y="3213100"/>
            <a:ext cx="4826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GREEDY — sempre a opção mais óbvia</a:t>
            </a:r>
            <a:endParaRPr lang="en-US" sz="1200" dirty="0"/>
          </a:p>
        </p:txBody>
      </p:sp>
      <p:sp>
        <p:nvSpPr>
          <p:cNvPr id="33" name="Text 30"/>
          <p:cNvSpPr txBox="1"/>
          <p:nvPr/>
        </p:nvSpPr>
        <p:spPr>
          <a:xfrm>
            <a:off x="1016000" y="3556000"/>
            <a:ext cx="4800600" cy="1270000"/>
          </a:xfrm>
          <a:prstGeom prst="rect">
            <a:avLst/>
          </a:prstGeom>
          <a:noFill/>
          <a:ln/>
        </p:spPr>
        <p:txBody>
          <a:bodyPr wrap="square" lIns="0" tIns="0" rIns="0" bIns="0" rtlCol="0" anchor="t"/>
          <a:lstStyle/>
          <a:p>
            <a:pPr algn="l" indent="0" marL="0">
              <a:lnSpc>
                <a:spcPct val="110000"/>
              </a:lnSpc>
              <a:buNone/>
            </a:pPr>
            <a:r>
              <a:rPr lang="en-US" sz="1700" b="1" dirty="0">
                <a:solidFill>
                  <a:srgbClr val="1E2761"/>
                </a:solidFill>
                <a:latin typeface="Georgia" pitchFamily="34" charset="0"/>
                <a:ea typeface="Georgia" pitchFamily="34" charset="-122"/>
                <a:cs typeface="Georgia" pitchFamily="34" charset="-120"/>
              </a:rPr>
              <a:t>“What is the term for photosynthesis?”</a:t>
            </a:r>
            <a:endParaRPr lang="en-US" sz="1700" dirty="0"/>
          </a:p>
        </p:txBody>
      </p:sp>
      <p:sp>
        <p:nvSpPr>
          <p:cNvPr id="34" name="Shape 31"/>
          <p:cNvSpPr/>
          <p:nvPr/>
        </p:nvSpPr>
        <p:spPr>
          <a:xfrm>
            <a:off x="6172200" y="3048000"/>
            <a:ext cx="5207000" cy="2286000"/>
          </a:xfrm>
          <a:prstGeom prst="roundRect">
            <a:avLst>
              <a:gd name="adj" fmla="val 4444"/>
            </a:avLst>
          </a:prstGeom>
          <a:solidFill>
            <a:srgbClr val="1E2761"/>
          </a:solidFill>
          <a:ln w="12700">
            <a:solidFill>
              <a:srgbClr val="1E2761"/>
            </a:solidFill>
            <a:prstDash val="solid"/>
          </a:ln>
        </p:spPr>
      </p:sp>
      <p:sp>
        <p:nvSpPr>
          <p:cNvPr id="35" name="Text 32"/>
          <p:cNvSpPr txBox="1"/>
          <p:nvPr/>
        </p:nvSpPr>
        <p:spPr>
          <a:xfrm>
            <a:off x="6375400" y="3213100"/>
            <a:ext cx="48260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E8A33D"/>
                </a:solidFill>
                <a:latin typeface="Arial" pitchFamily="34" charset="0"/>
                <a:ea typeface="Arial" pitchFamily="34" charset="-122"/>
                <a:cs typeface="Arial" pitchFamily="34" charset="-120"/>
              </a:rPr>
              <a:t>BEAM SEARCH — usado de fato pelo modelo</a:t>
            </a:r>
            <a:endParaRPr lang="en-US" sz="1200" dirty="0"/>
          </a:p>
        </p:txBody>
      </p:sp>
      <p:sp>
        <p:nvSpPr>
          <p:cNvPr id="36" name="Text 33"/>
          <p:cNvSpPr txBox="1"/>
          <p:nvPr/>
        </p:nvSpPr>
        <p:spPr>
          <a:xfrm>
            <a:off x="6375400" y="3556000"/>
            <a:ext cx="4800600" cy="1270000"/>
          </a:xfrm>
          <a:prstGeom prst="rect">
            <a:avLst/>
          </a:prstGeom>
          <a:noFill/>
          <a:ln/>
        </p:spPr>
        <p:txBody>
          <a:bodyPr wrap="square" lIns="0" tIns="0" rIns="0" bIns="0" rtlCol="0" anchor="t"/>
          <a:lstStyle/>
          <a:p>
            <a:pPr algn="l" indent="0" marL="0">
              <a:lnSpc>
                <a:spcPct val="110000"/>
              </a:lnSpc>
              <a:buNone/>
            </a:pPr>
            <a:r>
              <a:rPr lang="en-US" sz="1700" b="1" dirty="0">
                <a:solidFill>
                  <a:srgbClr val="FFFFFF"/>
                </a:solidFill>
                <a:latin typeface="Georgia" pitchFamily="34" charset="0"/>
                <a:ea typeface="Georgia" pitchFamily="34" charset="-122"/>
                <a:cs typeface="Georgia" pitchFamily="34" charset="-120"/>
              </a:rPr>
              <a:t>“What is a process used by plants to convert light energy into chemical energy?”</a:t>
            </a:r>
            <a:endParaRPr lang="en-US" sz="1700" dirty="0"/>
          </a:p>
        </p:txBody>
      </p:sp>
      <p:sp>
        <p:nvSpPr>
          <p:cNvPr id="37" name="Text 34"/>
          <p:cNvSpPr txBox="1"/>
          <p:nvPr/>
        </p:nvSpPr>
        <p:spPr>
          <a:xfrm>
            <a:off x="6375400" y="4889500"/>
            <a:ext cx="4800600" cy="254000"/>
          </a:xfrm>
          <a:prstGeom prst="rect">
            <a:avLst/>
          </a:prstGeom>
          <a:noFill/>
          <a:ln/>
        </p:spPr>
        <p:txBody>
          <a:bodyPr wrap="square" lIns="0" tIns="0" rIns="0" bIns="0" rtlCol="0" anchor="t"/>
          <a:lstStyle/>
          <a:p>
            <a:pPr algn="l" indent="0" marL="0">
              <a:lnSpc>
                <a:spcPct val="110000"/>
              </a:lnSpc>
              <a:buNone/>
            </a:pPr>
            <a:r>
              <a:rPr lang="en-US" sz="1200" dirty="0">
                <a:solidFill>
                  <a:srgbClr val="B9C6E8"/>
                </a:solidFill>
                <a:latin typeface="Arial" pitchFamily="34" charset="0"/>
                <a:ea typeface="Arial" pitchFamily="34" charset="-122"/>
                <a:cs typeface="Arial" pitchFamily="34" charset="-120"/>
              </a:rPr>
              <a:t>testa várias opções antes de decidir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15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METODOLOGIA DE AVALIAÇÃO</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O que cada métrica mede</a:t>
            </a:r>
            <a:endParaRPr lang="en-US" sz="3000" dirty="0"/>
          </a:p>
        </p:txBody>
      </p:sp>
      <p:sp>
        <p:nvSpPr>
          <p:cNvPr id="6" name="Shape 3"/>
          <p:cNvSpPr/>
          <p:nvPr/>
        </p:nvSpPr>
        <p:spPr>
          <a:xfrm>
            <a:off x="812800" y="1841500"/>
            <a:ext cx="5181600" cy="1524000"/>
          </a:xfrm>
          <a:prstGeom prst="roundRect">
            <a:avLst>
              <a:gd name="adj" fmla="val 6667"/>
            </a:avLst>
          </a:prstGeom>
          <a:solidFill>
            <a:srgbClr val="FFFFFF"/>
          </a:solidFill>
          <a:ln w="12700">
            <a:solidFill>
              <a:srgbClr val="D5DDF0"/>
            </a:solidFill>
            <a:prstDash val="solid"/>
          </a:ln>
        </p:spPr>
      </p:sp>
      <p:sp>
        <p:nvSpPr>
          <p:cNvPr id="7" name="Text 4"/>
          <p:cNvSpPr txBox="1"/>
          <p:nvPr/>
        </p:nvSpPr>
        <p:spPr>
          <a:xfrm>
            <a:off x="1016000" y="1993900"/>
            <a:ext cx="4762500" cy="381000"/>
          </a:xfrm>
          <a:prstGeom prst="rect">
            <a:avLst/>
          </a:prstGeom>
          <a:noFill/>
          <a:ln/>
        </p:spPr>
        <p:txBody>
          <a:bodyPr wrap="square" lIns="0" tIns="0" rIns="0" bIns="0" rtlCol="0" anchor="t"/>
          <a:lstStyle/>
          <a:p>
            <a:pPr algn="l" indent="0" marL="0">
              <a:lnSpc>
                <a:spcPct val="110000"/>
              </a:lnSpc>
              <a:buNone/>
            </a:pPr>
            <a:r>
              <a:rPr lang="en-US" sz="2200" b="1" dirty="0">
                <a:solidFill>
                  <a:srgbClr val="1E2761"/>
                </a:solidFill>
                <a:latin typeface="Georgia" pitchFamily="34" charset="0"/>
                <a:ea typeface="Georgia" pitchFamily="34" charset="-122"/>
                <a:cs typeface="Georgia" pitchFamily="34" charset="-120"/>
              </a:rPr>
              <a:t>BLEU</a:t>
            </a:r>
            <a:endParaRPr lang="en-US" sz="2200" dirty="0"/>
          </a:p>
        </p:txBody>
      </p:sp>
      <p:sp>
        <p:nvSpPr>
          <p:cNvPr id="8" name="Text 5"/>
          <p:cNvSpPr txBox="1"/>
          <p:nvPr/>
        </p:nvSpPr>
        <p:spPr>
          <a:xfrm>
            <a:off x="1016000" y="2476500"/>
            <a:ext cx="4762500" cy="825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Precisão de n-gramas entre a pergunta gerada e a referência, com penalidade por frases curtas demais.</a:t>
            </a:r>
            <a:endParaRPr lang="en-US" sz="1300" dirty="0"/>
          </a:p>
        </p:txBody>
      </p:sp>
      <p:sp>
        <p:nvSpPr>
          <p:cNvPr id="9" name="Shape 6"/>
          <p:cNvSpPr/>
          <p:nvPr/>
        </p:nvSpPr>
        <p:spPr>
          <a:xfrm>
            <a:off x="6197600" y="1841500"/>
            <a:ext cx="5181600" cy="1524000"/>
          </a:xfrm>
          <a:prstGeom prst="roundRect">
            <a:avLst>
              <a:gd name="adj" fmla="val 6667"/>
            </a:avLst>
          </a:prstGeom>
          <a:solidFill>
            <a:srgbClr val="FFFFFF"/>
          </a:solidFill>
          <a:ln w="12700">
            <a:solidFill>
              <a:srgbClr val="D5DDF0"/>
            </a:solidFill>
            <a:prstDash val="solid"/>
          </a:ln>
        </p:spPr>
      </p:sp>
      <p:sp>
        <p:nvSpPr>
          <p:cNvPr id="10" name="Text 7"/>
          <p:cNvSpPr txBox="1"/>
          <p:nvPr/>
        </p:nvSpPr>
        <p:spPr>
          <a:xfrm>
            <a:off x="6400800" y="1993900"/>
            <a:ext cx="4762500" cy="381000"/>
          </a:xfrm>
          <a:prstGeom prst="rect">
            <a:avLst/>
          </a:prstGeom>
          <a:noFill/>
          <a:ln/>
        </p:spPr>
        <p:txBody>
          <a:bodyPr wrap="square" lIns="0" tIns="0" rIns="0" bIns="0" rtlCol="0" anchor="t"/>
          <a:lstStyle/>
          <a:p>
            <a:pPr algn="l" indent="0" marL="0">
              <a:lnSpc>
                <a:spcPct val="110000"/>
              </a:lnSpc>
              <a:buNone/>
            </a:pPr>
            <a:r>
              <a:rPr lang="en-US" sz="2200" b="1" dirty="0">
                <a:solidFill>
                  <a:srgbClr val="1E2761"/>
                </a:solidFill>
                <a:latin typeface="Georgia" pitchFamily="34" charset="0"/>
                <a:ea typeface="Georgia" pitchFamily="34" charset="-122"/>
                <a:cs typeface="Georgia" pitchFamily="34" charset="-120"/>
              </a:rPr>
              <a:t>ROUGE-1 / 2 / L</a:t>
            </a:r>
            <a:endParaRPr lang="en-US" sz="2200" dirty="0"/>
          </a:p>
        </p:txBody>
      </p:sp>
      <p:sp>
        <p:nvSpPr>
          <p:cNvPr id="11" name="Text 8"/>
          <p:cNvSpPr txBox="1"/>
          <p:nvPr/>
        </p:nvSpPr>
        <p:spPr>
          <a:xfrm>
            <a:off x="6400800" y="2476500"/>
            <a:ext cx="4762500" cy="825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Sobreposição de unigramas, bigramas e da maior subsequência comum com a referência (foco em recall).</a:t>
            </a:r>
            <a:endParaRPr lang="en-US" sz="1300" dirty="0"/>
          </a:p>
        </p:txBody>
      </p:sp>
      <p:sp>
        <p:nvSpPr>
          <p:cNvPr id="12" name="Shape 9"/>
          <p:cNvSpPr/>
          <p:nvPr/>
        </p:nvSpPr>
        <p:spPr>
          <a:xfrm>
            <a:off x="812800" y="3556000"/>
            <a:ext cx="5181600" cy="1524000"/>
          </a:xfrm>
          <a:prstGeom prst="roundRect">
            <a:avLst>
              <a:gd name="adj" fmla="val 6667"/>
            </a:avLst>
          </a:prstGeom>
          <a:solidFill>
            <a:srgbClr val="FFFFFF"/>
          </a:solidFill>
          <a:ln w="12700">
            <a:solidFill>
              <a:srgbClr val="D5DDF0"/>
            </a:solidFill>
            <a:prstDash val="solid"/>
          </a:ln>
        </p:spPr>
      </p:sp>
      <p:sp>
        <p:nvSpPr>
          <p:cNvPr id="13" name="Text 10"/>
          <p:cNvSpPr txBox="1"/>
          <p:nvPr/>
        </p:nvSpPr>
        <p:spPr>
          <a:xfrm>
            <a:off x="1016000" y="3708400"/>
            <a:ext cx="4762500" cy="381000"/>
          </a:xfrm>
          <a:prstGeom prst="rect">
            <a:avLst/>
          </a:prstGeom>
          <a:noFill/>
          <a:ln/>
        </p:spPr>
        <p:txBody>
          <a:bodyPr wrap="square" lIns="0" tIns="0" rIns="0" bIns="0" rtlCol="0" anchor="t"/>
          <a:lstStyle/>
          <a:p>
            <a:pPr algn="l" indent="0" marL="0">
              <a:lnSpc>
                <a:spcPct val="110000"/>
              </a:lnSpc>
              <a:buNone/>
            </a:pPr>
            <a:r>
              <a:rPr lang="en-US" sz="2200" b="1" dirty="0">
                <a:solidFill>
                  <a:srgbClr val="1E2761"/>
                </a:solidFill>
                <a:latin typeface="Georgia" pitchFamily="34" charset="0"/>
                <a:ea typeface="Georgia" pitchFamily="34" charset="-122"/>
                <a:cs typeface="Georgia" pitchFamily="34" charset="-120"/>
              </a:rPr>
              <a:t>METEOR</a:t>
            </a:r>
            <a:endParaRPr lang="en-US" sz="2200" dirty="0"/>
          </a:p>
        </p:txBody>
      </p:sp>
      <p:sp>
        <p:nvSpPr>
          <p:cNvPr id="14" name="Text 11"/>
          <p:cNvSpPr txBox="1"/>
          <p:nvPr/>
        </p:nvSpPr>
        <p:spPr>
          <a:xfrm>
            <a:off x="1016000" y="4191000"/>
            <a:ext cx="4762500" cy="825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Como o BLEU, mas alinha sinônimos e variações morfológicas — mais tolerante a paráfrases.</a:t>
            </a:r>
            <a:endParaRPr lang="en-US" sz="1300" dirty="0"/>
          </a:p>
        </p:txBody>
      </p:sp>
      <p:sp>
        <p:nvSpPr>
          <p:cNvPr id="15" name="Shape 12"/>
          <p:cNvSpPr/>
          <p:nvPr/>
        </p:nvSpPr>
        <p:spPr>
          <a:xfrm>
            <a:off x="6197600" y="3556000"/>
            <a:ext cx="5181600" cy="1524000"/>
          </a:xfrm>
          <a:prstGeom prst="roundRect">
            <a:avLst>
              <a:gd name="adj" fmla="val 6667"/>
            </a:avLst>
          </a:prstGeom>
          <a:solidFill>
            <a:srgbClr val="FFFFFF"/>
          </a:solidFill>
          <a:ln w="12700">
            <a:solidFill>
              <a:srgbClr val="D5DDF0"/>
            </a:solidFill>
            <a:prstDash val="solid"/>
          </a:ln>
        </p:spPr>
      </p:sp>
      <p:sp>
        <p:nvSpPr>
          <p:cNvPr id="16" name="Text 13"/>
          <p:cNvSpPr txBox="1"/>
          <p:nvPr/>
        </p:nvSpPr>
        <p:spPr>
          <a:xfrm>
            <a:off x="6400800" y="3708400"/>
            <a:ext cx="4762500" cy="381000"/>
          </a:xfrm>
          <a:prstGeom prst="rect">
            <a:avLst/>
          </a:prstGeom>
          <a:noFill/>
          <a:ln/>
        </p:spPr>
        <p:txBody>
          <a:bodyPr wrap="square" lIns="0" tIns="0" rIns="0" bIns="0" rtlCol="0" anchor="t"/>
          <a:lstStyle/>
          <a:p>
            <a:pPr algn="l" indent="0" marL="0">
              <a:lnSpc>
                <a:spcPct val="110000"/>
              </a:lnSpc>
              <a:buNone/>
            </a:pPr>
            <a:r>
              <a:rPr lang="en-US" sz="2200" b="1" dirty="0">
                <a:solidFill>
                  <a:srgbClr val="1E2761"/>
                </a:solidFill>
                <a:latin typeface="Georgia" pitchFamily="34" charset="0"/>
                <a:ea typeface="Georgia" pitchFamily="34" charset="-122"/>
                <a:cs typeface="Georgia" pitchFamily="34" charset="-120"/>
              </a:rPr>
              <a:t>F1 (palavra)</a:t>
            </a:r>
            <a:endParaRPr lang="en-US" sz="2200" dirty="0"/>
          </a:p>
        </p:txBody>
      </p:sp>
      <p:sp>
        <p:nvSpPr>
          <p:cNvPr id="17" name="Text 14"/>
          <p:cNvSpPr txBox="1"/>
          <p:nvPr/>
        </p:nvSpPr>
        <p:spPr>
          <a:xfrm>
            <a:off x="6400800" y="4191000"/>
            <a:ext cx="4762500" cy="825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Média harmônica entre precisão e recall de palavras em comum, mesmo cálculo usado no SQuAD oficial.</a:t>
            </a:r>
            <a:endParaRPr lang="en-US" sz="1300" dirty="0"/>
          </a:p>
        </p:txBody>
      </p:sp>
      <p:sp>
        <p:nvSpPr>
          <p:cNvPr id="18" name="Text 15"/>
          <p:cNvSpPr txBox="1"/>
          <p:nvPr/>
        </p:nvSpPr>
        <p:spPr>
          <a:xfrm>
            <a:off x="812800" y="5397500"/>
            <a:ext cx="10566400" cy="317500"/>
          </a:xfrm>
          <a:prstGeom prst="rect">
            <a:avLst/>
          </a:prstGeom>
          <a:noFill/>
          <a:ln/>
        </p:spPr>
        <p:txBody>
          <a:bodyPr wrap="square" lIns="0" tIns="0" rIns="0" bIns="0" rtlCol="0" anchor="t"/>
          <a:lstStyle/>
          <a:p>
            <a:pPr algn="l" indent="0" marL="0">
              <a:lnSpc>
                <a:spcPct val="110000"/>
              </a:lnSpc>
              <a:buNone/>
            </a:pPr>
            <a:r>
              <a:rPr lang="en-US" sz="1400" b="1" dirty="0">
                <a:solidFill>
                  <a:srgbClr val="9A6410"/>
                </a:solidFill>
                <a:latin typeface="Arial" pitchFamily="34" charset="0"/>
                <a:ea typeface="Arial" pitchFamily="34" charset="-122"/>
                <a:cs typeface="Arial" pitchFamily="34" charset="-120"/>
              </a:rPr>
              <a:t>Mesmas métricas do artigo; BERTScore/WikiSemRel entram com o TopicQG</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16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METODOLOGIA DE AVALIAÇÃO</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Como avaliamos a qualidade das perguntas</a:t>
            </a:r>
            <a:endParaRPr lang="en-US" sz="3000" dirty="0"/>
          </a:p>
        </p:txBody>
      </p:sp>
      <p:sp>
        <p:nvSpPr>
          <p:cNvPr id="6" name="Shape 3"/>
          <p:cNvSpPr/>
          <p:nvPr/>
        </p:nvSpPr>
        <p:spPr>
          <a:xfrm>
            <a:off x="812800" y="1841500"/>
            <a:ext cx="5181600" cy="1555750"/>
          </a:xfrm>
          <a:prstGeom prst="roundRect">
            <a:avLst>
              <a:gd name="adj" fmla="val 6531"/>
            </a:avLst>
          </a:prstGeom>
          <a:solidFill>
            <a:srgbClr val="1E2761"/>
          </a:solidFill>
          <a:ln w="12700">
            <a:solidFill>
              <a:srgbClr val="1E2761"/>
            </a:solidFill>
            <a:prstDash val="solid"/>
          </a:ln>
        </p:spPr>
      </p:sp>
      <p:sp>
        <p:nvSpPr>
          <p:cNvPr id="7" name="Text 4"/>
          <p:cNvSpPr txBox="1"/>
          <p:nvPr/>
        </p:nvSpPr>
        <p:spPr>
          <a:xfrm>
            <a:off x="1016000" y="1968500"/>
            <a:ext cx="47625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E8A33D"/>
                </a:solidFill>
                <a:latin typeface="Arial" pitchFamily="34" charset="0"/>
                <a:ea typeface="Arial" pitchFamily="34" charset="-122"/>
                <a:cs typeface="Arial" pitchFamily="34" charset="-120"/>
              </a:rPr>
              <a:t>1 · FEITO</a:t>
            </a:r>
            <a:endParaRPr lang="en-US" sz="1200" dirty="0"/>
          </a:p>
        </p:txBody>
      </p:sp>
      <p:sp>
        <p:nvSpPr>
          <p:cNvPr id="8" name="Text 5"/>
          <p:cNvSpPr txBox="1"/>
          <p:nvPr/>
        </p:nvSpPr>
        <p:spPr>
          <a:xfrm>
            <a:off x="1016000" y="2222500"/>
            <a:ext cx="4762500" cy="317500"/>
          </a:xfrm>
          <a:prstGeom prst="rect">
            <a:avLst/>
          </a:prstGeom>
          <a:noFill/>
          <a:ln/>
        </p:spPr>
        <p:txBody>
          <a:bodyPr wrap="square" lIns="0" tIns="0" rIns="0" bIns="0" rtlCol="0" anchor="t"/>
          <a:lstStyle/>
          <a:p>
            <a:pPr algn="l" indent="0" marL="0">
              <a:lnSpc>
                <a:spcPct val="110000"/>
              </a:lnSpc>
              <a:buNone/>
            </a:pPr>
            <a:r>
              <a:rPr lang="en-US" sz="1700" b="1" dirty="0">
                <a:solidFill>
                  <a:srgbClr val="FFFFFF"/>
                </a:solidFill>
                <a:latin typeface="Georgia" pitchFamily="34" charset="0"/>
                <a:ea typeface="Georgia" pitchFamily="34" charset="-122"/>
                <a:cs typeface="Georgia" pitchFamily="34" charset="-120"/>
              </a:rPr>
              <a:t>Métricas contra a referência</a:t>
            </a:r>
            <a:endParaRPr lang="en-US" sz="1700" dirty="0"/>
          </a:p>
        </p:txBody>
      </p:sp>
      <p:sp>
        <p:nvSpPr>
          <p:cNvPr id="9" name="Text 6"/>
          <p:cNvSpPr txBox="1"/>
          <p:nvPr/>
        </p:nvSpPr>
        <p:spPr>
          <a:xfrm>
            <a:off x="1016000" y="2603500"/>
            <a:ext cx="4762500" cy="730250"/>
          </a:xfrm>
          <a:prstGeom prst="rect">
            <a:avLst/>
          </a:prstGeom>
          <a:noFill/>
          <a:ln/>
        </p:spPr>
        <p:txBody>
          <a:bodyPr wrap="square" lIns="0" tIns="0" rIns="0" bIns="0" rtlCol="0" anchor="t"/>
          <a:lstStyle/>
          <a:p>
            <a:pPr algn="l" indent="0" marL="0">
              <a:lnSpc>
                <a:spcPct val="110000"/>
              </a:lnSpc>
              <a:buNone/>
            </a:pPr>
            <a:r>
              <a:rPr lang="en-US" sz="1200" dirty="0">
                <a:solidFill>
                  <a:srgbClr val="B9C6E8"/>
                </a:solidFill>
                <a:latin typeface="Arial" pitchFamily="34" charset="0"/>
                <a:ea typeface="Arial" pitchFamily="34" charset="-122"/>
                <a:cs typeface="Arial" pitchFamily="34" charset="-120"/>
              </a:rPr>
              <a:t>BLEU, ROUGE, METEOR e F1 no SQuAD validation (10.570 exemplos). Medem sobreposição de palavras, não qualidade de fato.</a:t>
            </a:r>
            <a:endParaRPr lang="en-US" sz="1200" dirty="0"/>
          </a:p>
        </p:txBody>
      </p:sp>
      <p:sp>
        <p:nvSpPr>
          <p:cNvPr id="10" name="Shape 7"/>
          <p:cNvSpPr/>
          <p:nvPr/>
        </p:nvSpPr>
        <p:spPr>
          <a:xfrm>
            <a:off x="6197600" y="1841500"/>
            <a:ext cx="5181600" cy="1555750"/>
          </a:xfrm>
          <a:prstGeom prst="roundRect">
            <a:avLst>
              <a:gd name="adj" fmla="val 6531"/>
            </a:avLst>
          </a:prstGeom>
          <a:solidFill>
            <a:srgbClr val="FFFFFF"/>
          </a:solidFill>
          <a:ln w="12700">
            <a:solidFill>
              <a:srgbClr val="D5DDF0"/>
            </a:solidFill>
            <a:prstDash val="solid"/>
          </a:ln>
        </p:spPr>
      </p:sp>
      <p:sp>
        <p:nvSpPr>
          <p:cNvPr id="11" name="Text 8"/>
          <p:cNvSpPr txBox="1"/>
          <p:nvPr/>
        </p:nvSpPr>
        <p:spPr>
          <a:xfrm>
            <a:off x="6400800" y="1968500"/>
            <a:ext cx="47625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2 · COM O TOPICQG</a:t>
            </a:r>
            <a:endParaRPr lang="en-US" sz="1200" dirty="0"/>
          </a:p>
        </p:txBody>
      </p:sp>
      <p:sp>
        <p:nvSpPr>
          <p:cNvPr id="12" name="Text 9"/>
          <p:cNvSpPr txBox="1"/>
          <p:nvPr/>
        </p:nvSpPr>
        <p:spPr>
          <a:xfrm>
            <a:off x="6400800" y="2222500"/>
            <a:ext cx="4762500" cy="317500"/>
          </a:xfrm>
          <a:prstGeom prst="rect">
            <a:avLst/>
          </a:prstGeom>
          <a:noFill/>
          <a:ln/>
        </p:spPr>
        <p:txBody>
          <a:bodyPr wrap="square" lIns="0" tIns="0" rIns="0" bIns="0" rtlCol="0" anchor="t"/>
          <a:lstStyle/>
          <a:p>
            <a:pPr algn="l" indent="0" marL="0">
              <a:lnSpc>
                <a:spcPct val="110000"/>
              </a:lnSpc>
              <a:buNone/>
            </a:pPr>
            <a:r>
              <a:rPr lang="en-US" sz="1700" b="1" dirty="0">
                <a:solidFill>
                  <a:srgbClr val="1E2761"/>
                </a:solidFill>
                <a:latin typeface="Georgia" pitchFamily="34" charset="0"/>
                <a:ea typeface="Georgia" pitchFamily="34" charset="-122"/>
                <a:cs typeface="Georgia" pitchFamily="34" charset="-120"/>
              </a:rPr>
              <a:t>Relevância ao tópico</a:t>
            </a:r>
            <a:endParaRPr lang="en-US" sz="1700" dirty="0"/>
          </a:p>
        </p:txBody>
      </p:sp>
      <p:sp>
        <p:nvSpPr>
          <p:cNvPr id="13" name="Text 10"/>
          <p:cNvSpPr txBox="1"/>
          <p:nvPr/>
        </p:nvSpPr>
        <p:spPr>
          <a:xfrm>
            <a:off x="6400800" y="2603500"/>
            <a:ext cx="4762500" cy="73025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BERTScore e WikiSemRel, como no artigo: a pergunta é sobre o tópico pedido?</a:t>
            </a:r>
            <a:endParaRPr lang="en-US" sz="1200" dirty="0"/>
          </a:p>
        </p:txBody>
      </p:sp>
      <p:sp>
        <p:nvSpPr>
          <p:cNvPr id="14" name="Shape 11"/>
          <p:cNvSpPr/>
          <p:nvPr/>
        </p:nvSpPr>
        <p:spPr>
          <a:xfrm>
            <a:off x="812800" y="3556000"/>
            <a:ext cx="5181600" cy="1555750"/>
          </a:xfrm>
          <a:prstGeom prst="roundRect">
            <a:avLst>
              <a:gd name="adj" fmla="val 6531"/>
            </a:avLst>
          </a:prstGeom>
          <a:solidFill>
            <a:srgbClr val="FFFFFF"/>
          </a:solidFill>
          <a:ln w="12700">
            <a:solidFill>
              <a:srgbClr val="D5DDF0"/>
            </a:solidFill>
            <a:prstDash val="solid"/>
          </a:ln>
        </p:spPr>
      </p:sp>
      <p:sp>
        <p:nvSpPr>
          <p:cNvPr id="15" name="Text 12"/>
          <p:cNvSpPr txBox="1"/>
          <p:nvPr/>
        </p:nvSpPr>
        <p:spPr>
          <a:xfrm>
            <a:off x="1016000" y="3683000"/>
            <a:ext cx="47625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3 · PROPOSTA</a:t>
            </a:r>
            <a:endParaRPr lang="en-US" sz="1200" dirty="0"/>
          </a:p>
        </p:txBody>
      </p:sp>
      <p:sp>
        <p:nvSpPr>
          <p:cNvPr id="16" name="Text 13"/>
          <p:cNvSpPr txBox="1"/>
          <p:nvPr/>
        </p:nvSpPr>
        <p:spPr>
          <a:xfrm>
            <a:off x="1016000" y="3937000"/>
            <a:ext cx="4762500" cy="317500"/>
          </a:xfrm>
          <a:prstGeom prst="rect">
            <a:avLst/>
          </a:prstGeom>
          <a:noFill/>
          <a:ln/>
        </p:spPr>
        <p:txBody>
          <a:bodyPr wrap="square" lIns="0" tIns="0" rIns="0" bIns="0" rtlCol="0" anchor="t"/>
          <a:lstStyle/>
          <a:p>
            <a:pPr algn="l" indent="0" marL="0">
              <a:lnSpc>
                <a:spcPct val="110000"/>
              </a:lnSpc>
              <a:buNone/>
            </a:pPr>
            <a:r>
              <a:rPr lang="en-US" sz="1700" b="1" dirty="0">
                <a:solidFill>
                  <a:srgbClr val="1E2761"/>
                </a:solidFill>
                <a:latin typeface="Georgia" pitchFamily="34" charset="0"/>
                <a:ea typeface="Georgia" pitchFamily="34" charset="-122"/>
                <a:cs typeface="Georgia" pitchFamily="34" charset="-120"/>
              </a:rPr>
              <a:t>Respondibilidade automática</a:t>
            </a:r>
            <a:endParaRPr lang="en-US" sz="1700" dirty="0"/>
          </a:p>
        </p:txBody>
      </p:sp>
      <p:sp>
        <p:nvSpPr>
          <p:cNvPr id="17" name="Text 14"/>
          <p:cNvSpPr txBox="1"/>
          <p:nvPr/>
        </p:nvSpPr>
        <p:spPr>
          <a:xfrm>
            <a:off x="1016000" y="4318000"/>
            <a:ext cx="4762500" cy="73025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Um modelo de QA treinado no SQuAD tenta responder a pergunta gerada a partir do contexto. Se não consegue, a pergunta é suspeita.</a:t>
            </a:r>
            <a:endParaRPr lang="en-US" sz="1200" dirty="0"/>
          </a:p>
        </p:txBody>
      </p:sp>
      <p:sp>
        <p:nvSpPr>
          <p:cNvPr id="18" name="Shape 15"/>
          <p:cNvSpPr/>
          <p:nvPr/>
        </p:nvSpPr>
        <p:spPr>
          <a:xfrm>
            <a:off x="6197600" y="3556000"/>
            <a:ext cx="5181600" cy="1555750"/>
          </a:xfrm>
          <a:prstGeom prst="roundRect">
            <a:avLst>
              <a:gd name="adj" fmla="val 6531"/>
            </a:avLst>
          </a:prstGeom>
          <a:solidFill>
            <a:srgbClr val="FFFFFF"/>
          </a:solidFill>
          <a:ln w="12700">
            <a:solidFill>
              <a:srgbClr val="D5DDF0"/>
            </a:solidFill>
            <a:prstDash val="solid"/>
          </a:ln>
        </p:spPr>
      </p:sp>
      <p:sp>
        <p:nvSpPr>
          <p:cNvPr id="19" name="Text 16"/>
          <p:cNvSpPr txBox="1"/>
          <p:nvPr/>
        </p:nvSpPr>
        <p:spPr>
          <a:xfrm>
            <a:off x="6400800" y="3683000"/>
            <a:ext cx="4762500" cy="190500"/>
          </a:xfrm>
          <a:prstGeom prst="rect">
            <a:avLst/>
          </a:prstGeom>
          <a:noFill/>
          <a:ln/>
        </p:spPr>
        <p:txBody>
          <a:bodyPr wrap="square" lIns="0" tIns="0" rIns="0" bIns="0" rtlCol="0" anchor="t"/>
          <a:lstStyle/>
          <a:p>
            <a:pPr algn="l" indent="0" marL="0">
              <a:lnSpc>
                <a:spcPct val="110000"/>
              </a:lnSpc>
              <a:buNone/>
            </a:pPr>
            <a:r>
              <a:rPr lang="en-US" sz="1200" b="1" spc="200" kern="0" dirty="0">
                <a:solidFill>
                  <a:srgbClr val="9A6410"/>
                </a:solidFill>
                <a:latin typeface="Arial" pitchFamily="34" charset="0"/>
                <a:ea typeface="Arial" pitchFamily="34" charset="-122"/>
                <a:cs typeface="Arial" pitchFamily="34" charset="-120"/>
              </a:rPr>
              <a:t>4 · PROPOSTA</a:t>
            </a:r>
            <a:endParaRPr lang="en-US" sz="1200" dirty="0"/>
          </a:p>
        </p:txBody>
      </p:sp>
      <p:sp>
        <p:nvSpPr>
          <p:cNvPr id="20" name="Text 17"/>
          <p:cNvSpPr txBox="1"/>
          <p:nvPr/>
        </p:nvSpPr>
        <p:spPr>
          <a:xfrm>
            <a:off x="6400800" y="3937000"/>
            <a:ext cx="4762500" cy="317500"/>
          </a:xfrm>
          <a:prstGeom prst="rect">
            <a:avLst/>
          </a:prstGeom>
          <a:noFill/>
          <a:ln/>
        </p:spPr>
        <p:txBody>
          <a:bodyPr wrap="square" lIns="0" tIns="0" rIns="0" bIns="0" rtlCol="0" anchor="t"/>
          <a:lstStyle/>
          <a:p>
            <a:pPr algn="l" indent="0" marL="0">
              <a:lnSpc>
                <a:spcPct val="110000"/>
              </a:lnSpc>
              <a:buNone/>
            </a:pPr>
            <a:r>
              <a:rPr lang="en-US" sz="1700" b="1" dirty="0">
                <a:solidFill>
                  <a:srgbClr val="1E2761"/>
                </a:solidFill>
                <a:latin typeface="Georgia" pitchFamily="34" charset="0"/>
                <a:ea typeface="Georgia" pitchFamily="34" charset="-122"/>
                <a:cs typeface="Georgia" pitchFamily="34" charset="-120"/>
              </a:rPr>
              <a:t>LLM juiz + amostra humana</a:t>
            </a:r>
            <a:endParaRPr lang="en-US" sz="1700" dirty="0"/>
          </a:p>
        </p:txBody>
      </p:sp>
      <p:sp>
        <p:nvSpPr>
          <p:cNvPr id="21" name="Text 18"/>
          <p:cNvSpPr txBox="1"/>
          <p:nvPr/>
        </p:nvSpPr>
        <p:spPr>
          <a:xfrm>
            <a:off x="6400800" y="4318000"/>
            <a:ext cx="4762500" cy="73025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Rubrica fixa (fluência, respondível, relevante) aplicada por um LLM e calibrada com 30–50 perguntas avaliadas por pessoas.</a:t>
            </a:r>
            <a:endParaRPr lang="en-US" sz="1200" dirty="0"/>
          </a:p>
        </p:txBody>
      </p:sp>
      <p:sp>
        <p:nvSpPr>
          <p:cNvPr id="22" name="Text 19"/>
          <p:cNvSpPr txBox="1"/>
          <p:nvPr/>
        </p:nvSpPr>
        <p:spPr>
          <a:xfrm>
            <a:off x="812800" y="5397500"/>
            <a:ext cx="10566400" cy="571500"/>
          </a:xfrm>
          <a:prstGeom prst="rect">
            <a:avLst/>
          </a:prstGeom>
          <a:noFill/>
          <a:ln/>
        </p:spPr>
        <p:txBody>
          <a:bodyPr wrap="square" lIns="0" tIns="0" rIns="0" bIns="0" rtlCol="0" anchor="t"/>
          <a:lstStyle/>
          <a:p>
            <a:pPr algn="l" indent="0" marL="0">
              <a:lnSpc>
                <a:spcPct val="110000"/>
              </a:lnSpc>
              <a:buNone/>
            </a:pPr>
            <a:r>
              <a:rPr lang="en-US" sz="1400" b="1" dirty="0">
                <a:solidFill>
                  <a:srgbClr val="9A6410"/>
                </a:solidFill>
                <a:latin typeface="Arial" pitchFamily="34" charset="0"/>
                <a:ea typeface="Arial" pitchFamily="34" charset="-122"/>
                <a:cs typeface="Arial" pitchFamily="34" charset="-120"/>
              </a:rPr>
              <a:t>Domínio de computação: LearningQ filtrado por palavras-chave (em análise) — pouca gente para anotar, por isso as camadas 3 e 4</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17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TREINAMENTO · SEM TÓPICO AINDA</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Ajuste fino (fine-tuning) do baseline</a:t>
            </a:r>
            <a:endParaRPr lang="en-US" sz="3000" dirty="0"/>
          </a:p>
        </p:txBody>
      </p:sp>
      <p:sp>
        <p:nvSpPr>
          <p:cNvPr id="6" name="Shape 3"/>
          <p:cNvSpPr/>
          <p:nvPr/>
        </p:nvSpPr>
        <p:spPr>
          <a:xfrm>
            <a:off x="812800" y="1841500"/>
            <a:ext cx="5181600" cy="1397000"/>
          </a:xfrm>
          <a:prstGeom prst="roundRect">
            <a:avLst>
              <a:gd name="adj" fmla="val 7273"/>
            </a:avLst>
          </a:prstGeom>
          <a:solidFill>
            <a:srgbClr val="FFFFFF"/>
          </a:solidFill>
          <a:ln w="12700">
            <a:solidFill>
              <a:srgbClr val="D5DDF0"/>
            </a:solidFill>
            <a:prstDash val="solid"/>
          </a:ln>
        </p:spPr>
      </p:sp>
      <p:sp>
        <p:nvSpPr>
          <p:cNvPr id="7" name="Text 4"/>
          <p:cNvSpPr txBox="1"/>
          <p:nvPr/>
        </p:nvSpPr>
        <p:spPr>
          <a:xfrm>
            <a:off x="990600" y="1981200"/>
            <a:ext cx="4826000" cy="528320"/>
          </a:xfrm>
          <a:prstGeom prst="rect">
            <a:avLst/>
          </a:prstGeom>
          <a:noFill/>
          <a:ln/>
        </p:spPr>
        <p:txBody>
          <a:bodyPr wrap="square" lIns="0" tIns="0" rIns="0" bIns="0" rtlCol="0" anchor="t"/>
          <a:lstStyle/>
          <a:p>
            <a:pPr algn="l" indent="0" marL="0">
              <a:lnSpc>
                <a:spcPct val="110000"/>
              </a:lnSpc>
              <a:buNone/>
            </a:pPr>
            <a:r>
              <a:rPr lang="en-US" sz="3200" b="1" dirty="0">
                <a:solidFill>
                  <a:srgbClr val="1E2761"/>
                </a:solidFill>
                <a:latin typeface="Georgia" pitchFamily="34" charset="0"/>
                <a:ea typeface="Georgia" pitchFamily="34" charset="-122"/>
                <a:cs typeface="Georgia" pitchFamily="34" charset="-120"/>
              </a:rPr>
              <a:t>1e-3</a:t>
            </a:r>
            <a:endParaRPr lang="en-US" sz="3200" dirty="0"/>
          </a:p>
        </p:txBody>
      </p:sp>
      <p:sp>
        <p:nvSpPr>
          <p:cNvPr id="8" name="Text 5"/>
          <p:cNvSpPr txBox="1"/>
          <p:nvPr/>
        </p:nvSpPr>
        <p:spPr>
          <a:xfrm>
            <a:off x="990600" y="2529840"/>
            <a:ext cx="4826000" cy="59436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Taxa de aprendizado (learning rate)</a:t>
            </a:r>
            <a:endParaRPr lang="en-US" sz="1200" dirty="0"/>
          </a:p>
        </p:txBody>
      </p:sp>
      <p:sp>
        <p:nvSpPr>
          <p:cNvPr id="9" name="Shape 6"/>
          <p:cNvSpPr/>
          <p:nvPr/>
        </p:nvSpPr>
        <p:spPr>
          <a:xfrm>
            <a:off x="6197600" y="1841500"/>
            <a:ext cx="5181600" cy="1397000"/>
          </a:xfrm>
          <a:prstGeom prst="roundRect">
            <a:avLst>
              <a:gd name="adj" fmla="val 7273"/>
            </a:avLst>
          </a:prstGeom>
          <a:solidFill>
            <a:srgbClr val="FFFFFF"/>
          </a:solidFill>
          <a:ln w="12700">
            <a:solidFill>
              <a:srgbClr val="D5DDF0"/>
            </a:solidFill>
            <a:prstDash val="solid"/>
          </a:ln>
        </p:spPr>
      </p:sp>
      <p:sp>
        <p:nvSpPr>
          <p:cNvPr id="10" name="Text 7"/>
          <p:cNvSpPr txBox="1"/>
          <p:nvPr/>
        </p:nvSpPr>
        <p:spPr>
          <a:xfrm>
            <a:off x="6375400" y="1981200"/>
            <a:ext cx="4826000" cy="528320"/>
          </a:xfrm>
          <a:prstGeom prst="rect">
            <a:avLst/>
          </a:prstGeom>
          <a:noFill/>
          <a:ln/>
        </p:spPr>
        <p:txBody>
          <a:bodyPr wrap="square" lIns="0" tIns="0" rIns="0" bIns="0" rtlCol="0" anchor="t"/>
          <a:lstStyle/>
          <a:p>
            <a:pPr algn="l" indent="0" marL="0">
              <a:lnSpc>
                <a:spcPct val="110000"/>
              </a:lnSpc>
              <a:buNone/>
            </a:pPr>
            <a:r>
              <a:rPr lang="en-US" sz="3200" b="1" dirty="0">
                <a:solidFill>
                  <a:srgbClr val="1E2761"/>
                </a:solidFill>
                <a:latin typeface="Georgia" pitchFamily="34" charset="0"/>
                <a:ea typeface="Georgia" pitchFamily="34" charset="-122"/>
                <a:cs typeface="Georgia" pitchFamily="34" charset="-120"/>
              </a:rPr>
              <a:t>64</a:t>
            </a:r>
            <a:endParaRPr lang="en-US" sz="3200" dirty="0"/>
          </a:p>
        </p:txBody>
      </p:sp>
      <p:sp>
        <p:nvSpPr>
          <p:cNvPr id="11" name="Text 8"/>
          <p:cNvSpPr txBox="1"/>
          <p:nvPr/>
        </p:nvSpPr>
        <p:spPr>
          <a:xfrm>
            <a:off x="6375400" y="2529840"/>
            <a:ext cx="4826000" cy="59436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Batch efetivo</a:t>
            </a:r>
            <a:endParaRPr lang="en-US" sz="1200" dirty="0"/>
          </a:p>
        </p:txBody>
      </p:sp>
      <p:sp>
        <p:nvSpPr>
          <p:cNvPr id="12" name="Shape 9"/>
          <p:cNvSpPr/>
          <p:nvPr/>
        </p:nvSpPr>
        <p:spPr>
          <a:xfrm>
            <a:off x="812800" y="3429000"/>
            <a:ext cx="5181600" cy="1397000"/>
          </a:xfrm>
          <a:prstGeom prst="roundRect">
            <a:avLst>
              <a:gd name="adj" fmla="val 7273"/>
            </a:avLst>
          </a:prstGeom>
          <a:solidFill>
            <a:srgbClr val="FFFFFF"/>
          </a:solidFill>
          <a:ln w="12700">
            <a:solidFill>
              <a:srgbClr val="D5DDF0"/>
            </a:solidFill>
            <a:prstDash val="solid"/>
          </a:ln>
        </p:spPr>
      </p:sp>
      <p:sp>
        <p:nvSpPr>
          <p:cNvPr id="13" name="Text 10"/>
          <p:cNvSpPr txBox="1"/>
          <p:nvPr/>
        </p:nvSpPr>
        <p:spPr>
          <a:xfrm>
            <a:off x="990600" y="3568700"/>
            <a:ext cx="4826000" cy="528320"/>
          </a:xfrm>
          <a:prstGeom prst="rect">
            <a:avLst/>
          </a:prstGeom>
          <a:noFill/>
          <a:ln/>
        </p:spPr>
        <p:txBody>
          <a:bodyPr wrap="square" lIns="0" tIns="0" rIns="0" bIns="0" rtlCol="0" anchor="t"/>
          <a:lstStyle/>
          <a:p>
            <a:pPr algn="l" indent="0" marL="0">
              <a:lnSpc>
                <a:spcPct val="110000"/>
              </a:lnSpc>
              <a:buNone/>
            </a:pPr>
            <a:r>
              <a:rPr lang="en-US" sz="3200" b="1" dirty="0">
                <a:solidFill>
                  <a:srgbClr val="1E2761"/>
                </a:solidFill>
                <a:latin typeface="Georgia" pitchFamily="34" charset="0"/>
                <a:ea typeface="Georgia" pitchFamily="34" charset="-122"/>
                <a:cs typeface="Georgia" pitchFamily="34" charset="-120"/>
              </a:rPr>
              <a:t>512 / 128</a:t>
            </a:r>
            <a:endParaRPr lang="en-US" sz="3200" dirty="0"/>
          </a:p>
        </p:txBody>
      </p:sp>
      <p:sp>
        <p:nvSpPr>
          <p:cNvPr id="14" name="Text 11"/>
          <p:cNvSpPr txBox="1"/>
          <p:nvPr/>
        </p:nvSpPr>
        <p:spPr>
          <a:xfrm>
            <a:off x="990600" y="4117340"/>
            <a:ext cx="4826000" cy="59436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Tokens encoder / decoder</a:t>
            </a:r>
            <a:endParaRPr lang="en-US" sz="1200" dirty="0"/>
          </a:p>
        </p:txBody>
      </p:sp>
      <p:sp>
        <p:nvSpPr>
          <p:cNvPr id="15" name="Shape 12"/>
          <p:cNvSpPr/>
          <p:nvPr/>
        </p:nvSpPr>
        <p:spPr>
          <a:xfrm>
            <a:off x="6197600" y="3429000"/>
            <a:ext cx="5181600" cy="1397000"/>
          </a:xfrm>
          <a:prstGeom prst="roundRect">
            <a:avLst>
              <a:gd name="adj" fmla="val 7273"/>
            </a:avLst>
          </a:prstGeom>
          <a:solidFill>
            <a:srgbClr val="FFFFFF"/>
          </a:solidFill>
          <a:ln w="12700">
            <a:solidFill>
              <a:srgbClr val="D5DDF0"/>
            </a:solidFill>
            <a:prstDash val="solid"/>
          </a:ln>
        </p:spPr>
      </p:sp>
      <p:sp>
        <p:nvSpPr>
          <p:cNvPr id="16" name="Text 13"/>
          <p:cNvSpPr txBox="1"/>
          <p:nvPr/>
        </p:nvSpPr>
        <p:spPr>
          <a:xfrm>
            <a:off x="6375400" y="3568700"/>
            <a:ext cx="4826000" cy="528320"/>
          </a:xfrm>
          <a:prstGeom prst="rect">
            <a:avLst/>
          </a:prstGeom>
          <a:noFill/>
          <a:ln/>
        </p:spPr>
        <p:txBody>
          <a:bodyPr wrap="square" lIns="0" tIns="0" rIns="0" bIns="0" rtlCol="0" anchor="t"/>
          <a:lstStyle/>
          <a:p>
            <a:pPr algn="l" indent="0" marL="0">
              <a:lnSpc>
                <a:spcPct val="110000"/>
              </a:lnSpc>
              <a:buNone/>
            </a:pPr>
            <a:r>
              <a:rPr lang="en-US" sz="3200" b="1" dirty="0">
                <a:solidFill>
                  <a:srgbClr val="1E2761"/>
                </a:solidFill>
                <a:latin typeface="Georgia" pitchFamily="34" charset="0"/>
                <a:ea typeface="Georgia" pitchFamily="34" charset="-122"/>
                <a:cs typeface="Georgia" pitchFamily="34" charset="-120"/>
              </a:rPr>
              <a:t>≤ 5</a:t>
            </a:r>
            <a:endParaRPr lang="en-US" sz="3200" dirty="0"/>
          </a:p>
        </p:txBody>
      </p:sp>
      <p:sp>
        <p:nvSpPr>
          <p:cNvPr id="17" name="Text 14"/>
          <p:cNvSpPr txBox="1"/>
          <p:nvPr/>
        </p:nvSpPr>
        <p:spPr>
          <a:xfrm>
            <a:off x="6375400" y="4117340"/>
            <a:ext cx="4826000" cy="59436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Épocas — early stopping</a:t>
            </a:r>
            <a:endParaRPr lang="en-US" sz="1200" dirty="0"/>
          </a:p>
        </p:txBody>
      </p:sp>
      <p:sp>
        <p:nvSpPr>
          <p:cNvPr id="18" name="Shape 15"/>
          <p:cNvSpPr/>
          <p:nvPr/>
        </p:nvSpPr>
        <p:spPr>
          <a:xfrm>
            <a:off x="812800" y="5080000"/>
            <a:ext cx="10566400" cy="635000"/>
          </a:xfrm>
          <a:prstGeom prst="roundRect">
            <a:avLst>
              <a:gd name="adj" fmla="val 16000"/>
            </a:avLst>
          </a:prstGeom>
          <a:solidFill>
            <a:srgbClr val="1E2761"/>
          </a:solidFill>
          <a:ln w="12700">
            <a:solidFill>
              <a:srgbClr val="1E2761"/>
            </a:solidFill>
            <a:prstDash val="solid"/>
          </a:ln>
        </p:spPr>
      </p:sp>
      <p:sp>
        <p:nvSpPr>
          <p:cNvPr id="19" name="Text 16"/>
          <p:cNvSpPr txBox="1"/>
          <p:nvPr/>
        </p:nvSpPr>
        <p:spPr>
          <a:xfrm>
            <a:off x="1016000" y="5080000"/>
            <a:ext cx="10160000" cy="635000"/>
          </a:xfrm>
          <a:prstGeom prst="rect">
            <a:avLst/>
          </a:prstGeom>
          <a:noFill/>
          <a:ln/>
        </p:spPr>
        <p:txBody>
          <a:bodyPr wrap="square" lIns="0" tIns="0" rIns="0" bIns="0" rtlCol="0" anchor="ctr"/>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Desvio documentado, não erro de reprodução</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18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TREINAMENTO · 1/2</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Hiperparâmetros: como o modelo aprende</a:t>
            </a:r>
            <a:endParaRPr lang="en-US" sz="3000" dirty="0"/>
          </a:p>
        </p:txBody>
      </p:sp>
      <p:sp>
        <p:nvSpPr>
          <p:cNvPr id="6" name="Shape 3"/>
          <p:cNvSpPr/>
          <p:nvPr/>
        </p:nvSpPr>
        <p:spPr>
          <a:xfrm>
            <a:off x="812800" y="1841500"/>
            <a:ext cx="3556000" cy="635000"/>
          </a:xfrm>
          <a:prstGeom prst="roundRect">
            <a:avLst>
              <a:gd name="adj" fmla="val 16000"/>
            </a:avLst>
          </a:prstGeom>
          <a:solidFill>
            <a:srgbClr val="1E2761"/>
          </a:solidFill>
          <a:ln w="12700">
            <a:solidFill>
              <a:srgbClr val="1E2761"/>
            </a:solidFill>
            <a:prstDash val="solid"/>
          </a:ln>
        </p:spPr>
      </p:sp>
      <p:sp>
        <p:nvSpPr>
          <p:cNvPr id="7" name="Text 4"/>
          <p:cNvSpPr txBox="1"/>
          <p:nvPr/>
        </p:nvSpPr>
        <p:spPr>
          <a:xfrm>
            <a:off x="1016000" y="1930400"/>
            <a:ext cx="3175000" cy="22860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Otimizador</a:t>
            </a:r>
            <a:endParaRPr lang="en-US" sz="1400" dirty="0"/>
          </a:p>
        </p:txBody>
      </p:sp>
      <p:sp>
        <p:nvSpPr>
          <p:cNvPr id="8" name="Text 5"/>
          <p:cNvSpPr txBox="1"/>
          <p:nvPr/>
        </p:nvSpPr>
        <p:spPr>
          <a:xfrm>
            <a:off x="1016000" y="2171700"/>
            <a:ext cx="3175000" cy="254000"/>
          </a:xfrm>
          <a:prstGeom prst="rect">
            <a:avLst/>
          </a:prstGeom>
          <a:noFill/>
          <a:ln/>
        </p:spPr>
        <p:txBody>
          <a:bodyPr wrap="square" lIns="0" tIns="0" rIns="0" bIns="0" rtlCol="0" anchor="t"/>
          <a:lstStyle/>
          <a:p>
            <a:pPr algn="l" indent="0" marL="0">
              <a:lnSpc>
                <a:spcPct val="110000"/>
              </a:lnSpc>
              <a:buNone/>
            </a:pPr>
            <a:r>
              <a:rPr lang="en-US" sz="1500" b="1" dirty="0">
                <a:solidFill>
                  <a:srgbClr val="E8A33D"/>
                </a:solidFill>
                <a:latin typeface="Georgia" pitchFamily="34" charset="0"/>
                <a:ea typeface="Georgia" pitchFamily="34" charset="-122"/>
                <a:cs typeface="Georgia" pitchFamily="34" charset="-120"/>
              </a:rPr>
              <a:t>AdamW</a:t>
            </a:r>
            <a:endParaRPr lang="en-US" sz="1500" dirty="0"/>
          </a:p>
        </p:txBody>
      </p:sp>
      <p:sp>
        <p:nvSpPr>
          <p:cNvPr id="9" name="Shape 6"/>
          <p:cNvSpPr/>
          <p:nvPr/>
        </p:nvSpPr>
        <p:spPr>
          <a:xfrm>
            <a:off x="4521200" y="1841500"/>
            <a:ext cx="6858000" cy="635000"/>
          </a:xfrm>
          <a:prstGeom prst="roundRect">
            <a:avLst>
              <a:gd name="adj" fmla="val 16000"/>
            </a:avLst>
          </a:prstGeom>
          <a:solidFill>
            <a:srgbClr val="FFFFFF"/>
          </a:solidFill>
          <a:ln w="12700">
            <a:solidFill>
              <a:srgbClr val="D5DDF0"/>
            </a:solidFill>
            <a:prstDash val="solid"/>
          </a:ln>
        </p:spPr>
      </p:sp>
      <p:sp>
        <p:nvSpPr>
          <p:cNvPr id="10" name="Text 7"/>
          <p:cNvSpPr txBox="1"/>
          <p:nvPr/>
        </p:nvSpPr>
        <p:spPr>
          <a:xfrm>
            <a:off x="4724400" y="1841500"/>
            <a:ext cx="6451600" cy="635000"/>
          </a:xfrm>
          <a:prstGeom prst="rect">
            <a:avLst/>
          </a:prstGeom>
          <a:noFill/>
          <a:ln/>
        </p:spPr>
        <p:txBody>
          <a:bodyPr wrap="square" lIns="0" tIns="0" rIns="0" bIns="0" rtlCol="0" anchor="ctr"/>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Cada peso do modelo aprende no seu próprio ritmo, ajustando o tamanho do passo conforme o histórico recente.</a:t>
            </a:r>
            <a:endParaRPr lang="en-US" sz="1300" dirty="0"/>
          </a:p>
        </p:txBody>
      </p:sp>
      <p:sp>
        <p:nvSpPr>
          <p:cNvPr id="11" name="Shape 8"/>
          <p:cNvSpPr/>
          <p:nvPr/>
        </p:nvSpPr>
        <p:spPr>
          <a:xfrm>
            <a:off x="812800" y="2628900"/>
            <a:ext cx="3556000" cy="635000"/>
          </a:xfrm>
          <a:prstGeom prst="roundRect">
            <a:avLst>
              <a:gd name="adj" fmla="val 16000"/>
            </a:avLst>
          </a:prstGeom>
          <a:solidFill>
            <a:srgbClr val="1E2761"/>
          </a:solidFill>
          <a:ln w="12700">
            <a:solidFill>
              <a:srgbClr val="1E2761"/>
            </a:solidFill>
            <a:prstDash val="solid"/>
          </a:ln>
        </p:spPr>
      </p:sp>
      <p:sp>
        <p:nvSpPr>
          <p:cNvPr id="12" name="Text 9"/>
          <p:cNvSpPr txBox="1"/>
          <p:nvPr/>
        </p:nvSpPr>
        <p:spPr>
          <a:xfrm>
            <a:off x="1016000" y="2717800"/>
            <a:ext cx="3175000" cy="22860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Taxa de aprendizado</a:t>
            </a:r>
            <a:endParaRPr lang="en-US" sz="1400" dirty="0"/>
          </a:p>
        </p:txBody>
      </p:sp>
      <p:sp>
        <p:nvSpPr>
          <p:cNvPr id="13" name="Text 10"/>
          <p:cNvSpPr txBox="1"/>
          <p:nvPr/>
        </p:nvSpPr>
        <p:spPr>
          <a:xfrm>
            <a:off x="1016000" y="2959100"/>
            <a:ext cx="3175000" cy="254000"/>
          </a:xfrm>
          <a:prstGeom prst="rect">
            <a:avLst/>
          </a:prstGeom>
          <a:noFill/>
          <a:ln/>
        </p:spPr>
        <p:txBody>
          <a:bodyPr wrap="square" lIns="0" tIns="0" rIns="0" bIns="0" rtlCol="0" anchor="t"/>
          <a:lstStyle/>
          <a:p>
            <a:pPr algn="l" indent="0" marL="0">
              <a:lnSpc>
                <a:spcPct val="110000"/>
              </a:lnSpc>
              <a:buNone/>
            </a:pPr>
            <a:r>
              <a:rPr lang="en-US" sz="1500" b="1" dirty="0">
                <a:solidFill>
                  <a:srgbClr val="E8A33D"/>
                </a:solidFill>
                <a:latin typeface="Georgia" pitchFamily="34" charset="0"/>
                <a:ea typeface="Georgia" pitchFamily="34" charset="-122"/>
                <a:cs typeface="Georgia" pitchFamily="34" charset="-120"/>
              </a:rPr>
              <a:t>1e-3</a:t>
            </a:r>
            <a:endParaRPr lang="en-US" sz="1500" dirty="0"/>
          </a:p>
        </p:txBody>
      </p:sp>
      <p:sp>
        <p:nvSpPr>
          <p:cNvPr id="14" name="Shape 11"/>
          <p:cNvSpPr/>
          <p:nvPr/>
        </p:nvSpPr>
        <p:spPr>
          <a:xfrm>
            <a:off x="4521200" y="2628900"/>
            <a:ext cx="6858000" cy="635000"/>
          </a:xfrm>
          <a:prstGeom prst="roundRect">
            <a:avLst>
              <a:gd name="adj" fmla="val 16000"/>
            </a:avLst>
          </a:prstGeom>
          <a:solidFill>
            <a:srgbClr val="FFFFFF"/>
          </a:solidFill>
          <a:ln w="12700">
            <a:solidFill>
              <a:srgbClr val="D5DDF0"/>
            </a:solidFill>
            <a:prstDash val="solid"/>
          </a:ln>
        </p:spPr>
      </p:sp>
      <p:sp>
        <p:nvSpPr>
          <p:cNvPr id="15" name="Text 12"/>
          <p:cNvSpPr txBox="1"/>
          <p:nvPr/>
        </p:nvSpPr>
        <p:spPr>
          <a:xfrm>
            <a:off x="4724400" y="2628900"/>
            <a:ext cx="6451600" cy="635000"/>
          </a:xfrm>
          <a:prstGeom prst="rect">
            <a:avLst/>
          </a:prstGeom>
          <a:noFill/>
          <a:ln/>
        </p:spPr>
        <p:txBody>
          <a:bodyPr wrap="square" lIns="0" tIns="0" rIns="0" bIns="0" rtlCol="0" anchor="ctr"/>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O tamanho de cada passo do aprendizado. O T5 foi feito para passos grandes; o valor usado no BERT seria lento demais.</a:t>
            </a:r>
            <a:endParaRPr lang="en-US" sz="1300" dirty="0"/>
          </a:p>
        </p:txBody>
      </p:sp>
      <p:sp>
        <p:nvSpPr>
          <p:cNvPr id="16" name="Shape 13"/>
          <p:cNvSpPr/>
          <p:nvPr/>
        </p:nvSpPr>
        <p:spPr>
          <a:xfrm>
            <a:off x="812800" y="3416300"/>
            <a:ext cx="3556000" cy="635000"/>
          </a:xfrm>
          <a:prstGeom prst="roundRect">
            <a:avLst>
              <a:gd name="adj" fmla="val 16000"/>
            </a:avLst>
          </a:prstGeom>
          <a:solidFill>
            <a:srgbClr val="1E2761"/>
          </a:solidFill>
          <a:ln w="12700">
            <a:solidFill>
              <a:srgbClr val="1E2761"/>
            </a:solidFill>
            <a:prstDash val="solid"/>
          </a:ln>
        </p:spPr>
      </p:sp>
      <p:sp>
        <p:nvSpPr>
          <p:cNvPr id="17" name="Text 14"/>
          <p:cNvSpPr txBox="1"/>
          <p:nvPr/>
        </p:nvSpPr>
        <p:spPr>
          <a:xfrm>
            <a:off x="1016000" y="3505200"/>
            <a:ext cx="3175000" cy="22860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Precisão</a:t>
            </a:r>
            <a:endParaRPr lang="en-US" sz="1400" dirty="0"/>
          </a:p>
        </p:txBody>
      </p:sp>
      <p:sp>
        <p:nvSpPr>
          <p:cNvPr id="18" name="Text 15"/>
          <p:cNvSpPr txBox="1"/>
          <p:nvPr/>
        </p:nvSpPr>
        <p:spPr>
          <a:xfrm>
            <a:off x="1016000" y="3746500"/>
            <a:ext cx="3175000" cy="254000"/>
          </a:xfrm>
          <a:prstGeom prst="rect">
            <a:avLst/>
          </a:prstGeom>
          <a:noFill/>
          <a:ln/>
        </p:spPr>
        <p:txBody>
          <a:bodyPr wrap="square" lIns="0" tIns="0" rIns="0" bIns="0" rtlCol="0" anchor="t"/>
          <a:lstStyle/>
          <a:p>
            <a:pPr algn="l" indent="0" marL="0">
              <a:lnSpc>
                <a:spcPct val="110000"/>
              </a:lnSpc>
              <a:buNone/>
            </a:pPr>
            <a:r>
              <a:rPr lang="en-US" sz="1500" b="1" dirty="0">
                <a:solidFill>
                  <a:srgbClr val="E8A33D"/>
                </a:solidFill>
                <a:latin typeface="Georgia" pitchFamily="34" charset="0"/>
                <a:ea typeface="Georgia" pitchFamily="34" charset="-122"/>
                <a:cs typeface="Georgia" pitchFamily="34" charset="-120"/>
              </a:rPr>
              <a:t>fp16</a:t>
            </a:r>
            <a:endParaRPr lang="en-US" sz="1500" dirty="0"/>
          </a:p>
        </p:txBody>
      </p:sp>
      <p:sp>
        <p:nvSpPr>
          <p:cNvPr id="19" name="Shape 16"/>
          <p:cNvSpPr/>
          <p:nvPr/>
        </p:nvSpPr>
        <p:spPr>
          <a:xfrm>
            <a:off x="4521200" y="3416300"/>
            <a:ext cx="6858000" cy="635000"/>
          </a:xfrm>
          <a:prstGeom prst="roundRect">
            <a:avLst>
              <a:gd name="adj" fmla="val 16000"/>
            </a:avLst>
          </a:prstGeom>
          <a:solidFill>
            <a:srgbClr val="FFFFFF"/>
          </a:solidFill>
          <a:ln w="12700">
            <a:solidFill>
              <a:srgbClr val="D5DDF0"/>
            </a:solidFill>
            <a:prstDash val="solid"/>
          </a:ln>
        </p:spPr>
      </p:sp>
      <p:sp>
        <p:nvSpPr>
          <p:cNvPr id="20" name="Text 17"/>
          <p:cNvSpPr txBox="1"/>
          <p:nvPr/>
        </p:nvSpPr>
        <p:spPr>
          <a:xfrm>
            <a:off x="4724400" y="3416300"/>
            <a:ext cx="6451600" cy="635000"/>
          </a:xfrm>
          <a:prstGeom prst="rect">
            <a:avLst/>
          </a:prstGeom>
          <a:noFill/>
          <a:ln/>
        </p:spPr>
        <p:txBody>
          <a:bodyPr wrap="square" lIns="0" tIns="0" rIns="0" bIns="0" rtlCol="0" anchor="ctr"/>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Contas com números mais leves: o treino fica mais rápido e cabe na GPU de 4 GB.</a:t>
            </a:r>
            <a:endParaRPr lang="en-US" sz="1300" dirty="0"/>
          </a:p>
        </p:txBody>
      </p:sp>
      <p:sp>
        <p:nvSpPr>
          <p:cNvPr id="21" name="Shape 18"/>
          <p:cNvSpPr/>
          <p:nvPr/>
        </p:nvSpPr>
        <p:spPr>
          <a:xfrm>
            <a:off x="812800" y="4203700"/>
            <a:ext cx="3556000" cy="635000"/>
          </a:xfrm>
          <a:prstGeom prst="roundRect">
            <a:avLst>
              <a:gd name="adj" fmla="val 16000"/>
            </a:avLst>
          </a:prstGeom>
          <a:solidFill>
            <a:srgbClr val="1E2761"/>
          </a:solidFill>
          <a:ln w="12700">
            <a:solidFill>
              <a:srgbClr val="1E2761"/>
            </a:solidFill>
            <a:prstDash val="solid"/>
          </a:ln>
        </p:spPr>
      </p:sp>
      <p:sp>
        <p:nvSpPr>
          <p:cNvPr id="22" name="Text 19"/>
          <p:cNvSpPr txBox="1"/>
          <p:nvPr/>
        </p:nvSpPr>
        <p:spPr>
          <a:xfrm>
            <a:off x="1016000" y="4292600"/>
            <a:ext cx="3175000" cy="22860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Warm-up</a:t>
            </a:r>
            <a:endParaRPr lang="en-US" sz="1400" dirty="0"/>
          </a:p>
        </p:txBody>
      </p:sp>
      <p:sp>
        <p:nvSpPr>
          <p:cNvPr id="23" name="Text 20"/>
          <p:cNvSpPr txBox="1"/>
          <p:nvPr/>
        </p:nvSpPr>
        <p:spPr>
          <a:xfrm>
            <a:off x="1016000" y="4533900"/>
            <a:ext cx="3175000" cy="254000"/>
          </a:xfrm>
          <a:prstGeom prst="rect">
            <a:avLst/>
          </a:prstGeom>
          <a:noFill/>
          <a:ln/>
        </p:spPr>
        <p:txBody>
          <a:bodyPr wrap="square" lIns="0" tIns="0" rIns="0" bIns="0" rtlCol="0" anchor="t"/>
          <a:lstStyle/>
          <a:p>
            <a:pPr algn="l" indent="0" marL="0">
              <a:lnSpc>
                <a:spcPct val="110000"/>
              </a:lnSpc>
              <a:buNone/>
            </a:pPr>
            <a:r>
              <a:rPr lang="en-US" sz="1500" b="1" dirty="0">
                <a:solidFill>
                  <a:srgbClr val="E8A33D"/>
                </a:solidFill>
                <a:latin typeface="Georgia" pitchFamily="34" charset="0"/>
                <a:ea typeface="Georgia" pitchFamily="34" charset="-122"/>
                <a:cs typeface="Georgia" pitchFamily="34" charset="-120"/>
              </a:rPr>
              <a:t>10% dos passos</a:t>
            </a:r>
            <a:endParaRPr lang="en-US" sz="1500" dirty="0"/>
          </a:p>
        </p:txBody>
      </p:sp>
      <p:sp>
        <p:nvSpPr>
          <p:cNvPr id="24" name="Shape 21"/>
          <p:cNvSpPr/>
          <p:nvPr/>
        </p:nvSpPr>
        <p:spPr>
          <a:xfrm>
            <a:off x="4521200" y="4203700"/>
            <a:ext cx="6858000" cy="635000"/>
          </a:xfrm>
          <a:prstGeom prst="roundRect">
            <a:avLst>
              <a:gd name="adj" fmla="val 16000"/>
            </a:avLst>
          </a:prstGeom>
          <a:solidFill>
            <a:srgbClr val="FFFFFF"/>
          </a:solidFill>
          <a:ln w="12700">
            <a:solidFill>
              <a:srgbClr val="D5DDF0"/>
            </a:solidFill>
            <a:prstDash val="solid"/>
          </a:ln>
        </p:spPr>
      </p:sp>
      <p:sp>
        <p:nvSpPr>
          <p:cNvPr id="25" name="Text 22"/>
          <p:cNvSpPr txBox="1"/>
          <p:nvPr/>
        </p:nvSpPr>
        <p:spPr>
          <a:xfrm>
            <a:off x="4724400" y="4203700"/>
            <a:ext cx="6451600" cy="635000"/>
          </a:xfrm>
          <a:prstGeom prst="rect">
            <a:avLst/>
          </a:prstGeom>
          <a:noFill/>
          <a:ln/>
        </p:spPr>
        <p:txBody>
          <a:bodyPr wrap="square" lIns="0" tIns="0" rIns="0" bIns="0" rtlCol="0" anchor="ctr"/>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Começa com passos pequenos e aumenta aos poucos, para o treino não desandar no início.</a:t>
            </a:r>
            <a:endParaRPr lang="en-US" sz="1300" dirty="0"/>
          </a:p>
        </p:txBody>
      </p:sp>
      <p:sp>
        <p:nvSpPr>
          <p:cNvPr id="26" name="Shape 23"/>
          <p:cNvSpPr/>
          <p:nvPr/>
        </p:nvSpPr>
        <p:spPr>
          <a:xfrm>
            <a:off x="812800" y="4991100"/>
            <a:ext cx="3556000" cy="635000"/>
          </a:xfrm>
          <a:prstGeom prst="roundRect">
            <a:avLst>
              <a:gd name="adj" fmla="val 16000"/>
            </a:avLst>
          </a:prstGeom>
          <a:solidFill>
            <a:srgbClr val="1E2761"/>
          </a:solidFill>
          <a:ln w="12700">
            <a:solidFill>
              <a:srgbClr val="1E2761"/>
            </a:solidFill>
            <a:prstDash val="solid"/>
          </a:ln>
        </p:spPr>
      </p:sp>
      <p:sp>
        <p:nvSpPr>
          <p:cNvPr id="27" name="Text 24"/>
          <p:cNvSpPr txBox="1"/>
          <p:nvPr/>
        </p:nvSpPr>
        <p:spPr>
          <a:xfrm>
            <a:off x="1016000" y="5080000"/>
            <a:ext cx="3175000" cy="22860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Batch efetivo</a:t>
            </a:r>
            <a:endParaRPr lang="en-US" sz="1400" dirty="0"/>
          </a:p>
        </p:txBody>
      </p:sp>
      <p:sp>
        <p:nvSpPr>
          <p:cNvPr id="28" name="Text 25"/>
          <p:cNvSpPr txBox="1"/>
          <p:nvPr/>
        </p:nvSpPr>
        <p:spPr>
          <a:xfrm>
            <a:off x="1016000" y="5321300"/>
            <a:ext cx="3175000" cy="254000"/>
          </a:xfrm>
          <a:prstGeom prst="rect">
            <a:avLst/>
          </a:prstGeom>
          <a:noFill/>
          <a:ln/>
        </p:spPr>
        <p:txBody>
          <a:bodyPr wrap="square" lIns="0" tIns="0" rIns="0" bIns="0" rtlCol="0" anchor="t"/>
          <a:lstStyle/>
          <a:p>
            <a:pPr algn="l" indent="0" marL="0">
              <a:lnSpc>
                <a:spcPct val="110000"/>
              </a:lnSpc>
              <a:buNone/>
            </a:pPr>
            <a:r>
              <a:rPr lang="en-US" sz="1500" b="1" dirty="0">
                <a:solidFill>
                  <a:srgbClr val="E8A33D"/>
                </a:solidFill>
                <a:latin typeface="Georgia" pitchFamily="34" charset="0"/>
                <a:ea typeface="Georgia" pitchFamily="34" charset="-122"/>
                <a:cs typeface="Georgia" pitchFamily="34" charset="-120"/>
              </a:rPr>
              <a:t>64 (16 × 4)</a:t>
            </a:r>
            <a:endParaRPr lang="en-US" sz="1500" dirty="0"/>
          </a:p>
        </p:txBody>
      </p:sp>
      <p:sp>
        <p:nvSpPr>
          <p:cNvPr id="29" name="Shape 26"/>
          <p:cNvSpPr/>
          <p:nvPr/>
        </p:nvSpPr>
        <p:spPr>
          <a:xfrm>
            <a:off x="4521200" y="4991100"/>
            <a:ext cx="6858000" cy="635000"/>
          </a:xfrm>
          <a:prstGeom prst="roundRect">
            <a:avLst>
              <a:gd name="adj" fmla="val 16000"/>
            </a:avLst>
          </a:prstGeom>
          <a:solidFill>
            <a:srgbClr val="FFFFFF"/>
          </a:solidFill>
          <a:ln w="12700">
            <a:solidFill>
              <a:srgbClr val="D5DDF0"/>
            </a:solidFill>
            <a:prstDash val="solid"/>
          </a:ln>
        </p:spPr>
      </p:sp>
      <p:sp>
        <p:nvSpPr>
          <p:cNvPr id="30" name="Text 27"/>
          <p:cNvSpPr txBox="1"/>
          <p:nvPr/>
        </p:nvSpPr>
        <p:spPr>
          <a:xfrm>
            <a:off x="4724400" y="4991100"/>
            <a:ext cx="6451600" cy="635000"/>
          </a:xfrm>
          <a:prstGeom prst="rect">
            <a:avLst/>
          </a:prstGeom>
          <a:noFill/>
          <a:ln/>
        </p:spPr>
        <p:txBody>
          <a:bodyPr wrap="square" lIns="0" tIns="0" rIns="0" bIns="0" rtlCol="0" anchor="ctr"/>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O modelo vê 64 exemplos antes de ajustar os pesos. A GPU só aguenta 16 por vez, então juntamos 4 rodadas.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19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TREINAMENTO · 2/2</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Hiperparâmetros: orçamento e repetibilidade</a:t>
            </a:r>
            <a:endParaRPr lang="en-US" sz="3000" dirty="0"/>
          </a:p>
        </p:txBody>
      </p:sp>
      <p:sp>
        <p:nvSpPr>
          <p:cNvPr id="6" name="Shape 3"/>
          <p:cNvSpPr/>
          <p:nvPr/>
        </p:nvSpPr>
        <p:spPr>
          <a:xfrm>
            <a:off x="812800" y="1841500"/>
            <a:ext cx="3556000" cy="635000"/>
          </a:xfrm>
          <a:prstGeom prst="roundRect">
            <a:avLst>
              <a:gd name="adj" fmla="val 16000"/>
            </a:avLst>
          </a:prstGeom>
          <a:solidFill>
            <a:srgbClr val="1E2761"/>
          </a:solidFill>
          <a:ln w="12700">
            <a:solidFill>
              <a:srgbClr val="1E2761"/>
            </a:solidFill>
            <a:prstDash val="solid"/>
          </a:ln>
        </p:spPr>
      </p:sp>
      <p:sp>
        <p:nvSpPr>
          <p:cNvPr id="7" name="Text 4"/>
          <p:cNvSpPr txBox="1"/>
          <p:nvPr/>
        </p:nvSpPr>
        <p:spPr>
          <a:xfrm>
            <a:off x="1016000" y="1930400"/>
            <a:ext cx="3175000" cy="22860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Tokens encoder / decoder</a:t>
            </a:r>
            <a:endParaRPr lang="en-US" sz="1400" dirty="0"/>
          </a:p>
        </p:txBody>
      </p:sp>
      <p:sp>
        <p:nvSpPr>
          <p:cNvPr id="8" name="Text 5"/>
          <p:cNvSpPr txBox="1"/>
          <p:nvPr/>
        </p:nvSpPr>
        <p:spPr>
          <a:xfrm>
            <a:off x="1016000" y="2171700"/>
            <a:ext cx="3175000" cy="254000"/>
          </a:xfrm>
          <a:prstGeom prst="rect">
            <a:avLst/>
          </a:prstGeom>
          <a:noFill/>
          <a:ln/>
        </p:spPr>
        <p:txBody>
          <a:bodyPr wrap="square" lIns="0" tIns="0" rIns="0" bIns="0" rtlCol="0" anchor="t"/>
          <a:lstStyle/>
          <a:p>
            <a:pPr algn="l" indent="0" marL="0">
              <a:lnSpc>
                <a:spcPct val="110000"/>
              </a:lnSpc>
              <a:buNone/>
            </a:pPr>
            <a:r>
              <a:rPr lang="en-US" sz="1500" b="1" dirty="0">
                <a:solidFill>
                  <a:srgbClr val="E8A33D"/>
                </a:solidFill>
                <a:latin typeface="Georgia" pitchFamily="34" charset="0"/>
                <a:ea typeface="Georgia" pitchFamily="34" charset="-122"/>
                <a:cs typeface="Georgia" pitchFamily="34" charset="-120"/>
              </a:rPr>
              <a:t>512 / 128</a:t>
            </a:r>
            <a:endParaRPr lang="en-US" sz="1500" dirty="0"/>
          </a:p>
        </p:txBody>
      </p:sp>
      <p:sp>
        <p:nvSpPr>
          <p:cNvPr id="9" name="Shape 6"/>
          <p:cNvSpPr/>
          <p:nvPr/>
        </p:nvSpPr>
        <p:spPr>
          <a:xfrm>
            <a:off x="4521200" y="1841500"/>
            <a:ext cx="6858000" cy="635000"/>
          </a:xfrm>
          <a:prstGeom prst="roundRect">
            <a:avLst>
              <a:gd name="adj" fmla="val 16000"/>
            </a:avLst>
          </a:prstGeom>
          <a:solidFill>
            <a:srgbClr val="FFFFFF"/>
          </a:solidFill>
          <a:ln w="12700">
            <a:solidFill>
              <a:srgbClr val="D5DDF0"/>
            </a:solidFill>
            <a:prstDash val="solid"/>
          </a:ln>
        </p:spPr>
      </p:sp>
      <p:sp>
        <p:nvSpPr>
          <p:cNvPr id="10" name="Text 7"/>
          <p:cNvSpPr txBox="1"/>
          <p:nvPr/>
        </p:nvSpPr>
        <p:spPr>
          <a:xfrm>
            <a:off x="4724400" y="1841500"/>
            <a:ext cx="6451600" cy="635000"/>
          </a:xfrm>
          <a:prstGeom prst="rect">
            <a:avLst/>
          </a:prstGeom>
          <a:noFill/>
          <a:ln/>
        </p:spPr>
        <p:txBody>
          <a:bodyPr wrap="square" lIns="0" tIns="0" rIns="0" bIns="0" rtlCol="0" anchor="ctr"/>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Tamanho máximo do texto de entrada e da pergunta gerada. O que passa disso é cortado.</a:t>
            </a:r>
            <a:endParaRPr lang="en-US" sz="1300" dirty="0"/>
          </a:p>
        </p:txBody>
      </p:sp>
      <p:sp>
        <p:nvSpPr>
          <p:cNvPr id="11" name="Shape 8"/>
          <p:cNvSpPr/>
          <p:nvPr/>
        </p:nvSpPr>
        <p:spPr>
          <a:xfrm>
            <a:off x="812800" y="2628900"/>
            <a:ext cx="3556000" cy="635000"/>
          </a:xfrm>
          <a:prstGeom prst="roundRect">
            <a:avLst>
              <a:gd name="adj" fmla="val 16000"/>
            </a:avLst>
          </a:prstGeom>
          <a:solidFill>
            <a:srgbClr val="1E2761"/>
          </a:solidFill>
          <a:ln w="12700">
            <a:solidFill>
              <a:srgbClr val="1E2761"/>
            </a:solidFill>
            <a:prstDash val="solid"/>
          </a:ln>
        </p:spPr>
      </p:sp>
      <p:sp>
        <p:nvSpPr>
          <p:cNvPr id="12" name="Text 9"/>
          <p:cNvSpPr txBox="1"/>
          <p:nvPr/>
        </p:nvSpPr>
        <p:spPr>
          <a:xfrm>
            <a:off x="1016000" y="2717800"/>
            <a:ext cx="3175000" cy="22860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Épocas</a:t>
            </a:r>
            <a:endParaRPr lang="en-US" sz="1400" dirty="0"/>
          </a:p>
        </p:txBody>
      </p:sp>
      <p:sp>
        <p:nvSpPr>
          <p:cNvPr id="13" name="Text 10"/>
          <p:cNvSpPr txBox="1"/>
          <p:nvPr/>
        </p:nvSpPr>
        <p:spPr>
          <a:xfrm>
            <a:off x="1016000" y="2959100"/>
            <a:ext cx="3175000" cy="254000"/>
          </a:xfrm>
          <a:prstGeom prst="rect">
            <a:avLst/>
          </a:prstGeom>
          <a:noFill/>
          <a:ln/>
        </p:spPr>
        <p:txBody>
          <a:bodyPr wrap="square" lIns="0" tIns="0" rIns="0" bIns="0" rtlCol="0" anchor="t"/>
          <a:lstStyle/>
          <a:p>
            <a:pPr algn="l" indent="0" marL="0">
              <a:lnSpc>
                <a:spcPct val="110000"/>
              </a:lnSpc>
              <a:buNone/>
            </a:pPr>
            <a:r>
              <a:rPr lang="en-US" sz="1500" b="1" dirty="0">
                <a:solidFill>
                  <a:srgbClr val="E8A33D"/>
                </a:solidFill>
                <a:latin typeface="Georgia" pitchFamily="34" charset="0"/>
                <a:ea typeface="Georgia" pitchFamily="34" charset="-122"/>
                <a:cs typeface="Georgia" pitchFamily="34" charset="-120"/>
              </a:rPr>
              <a:t>até 5, com early stopping</a:t>
            </a:r>
            <a:endParaRPr lang="en-US" sz="1500" dirty="0"/>
          </a:p>
        </p:txBody>
      </p:sp>
      <p:sp>
        <p:nvSpPr>
          <p:cNvPr id="14" name="Shape 11"/>
          <p:cNvSpPr/>
          <p:nvPr/>
        </p:nvSpPr>
        <p:spPr>
          <a:xfrm>
            <a:off x="4521200" y="2628900"/>
            <a:ext cx="6858000" cy="635000"/>
          </a:xfrm>
          <a:prstGeom prst="roundRect">
            <a:avLst>
              <a:gd name="adj" fmla="val 16000"/>
            </a:avLst>
          </a:prstGeom>
          <a:solidFill>
            <a:srgbClr val="FFFFFF"/>
          </a:solidFill>
          <a:ln w="12700">
            <a:solidFill>
              <a:srgbClr val="D5DDF0"/>
            </a:solidFill>
            <a:prstDash val="solid"/>
          </a:ln>
        </p:spPr>
      </p:sp>
      <p:sp>
        <p:nvSpPr>
          <p:cNvPr id="15" name="Text 12"/>
          <p:cNvSpPr txBox="1"/>
          <p:nvPr/>
        </p:nvSpPr>
        <p:spPr>
          <a:xfrm>
            <a:off x="4724400" y="2628900"/>
            <a:ext cx="6451600" cy="635000"/>
          </a:xfrm>
          <a:prstGeom prst="rect">
            <a:avLst/>
          </a:prstGeom>
          <a:noFill/>
          <a:ln/>
        </p:spPr>
        <p:txBody>
          <a:bodyPr wrap="square" lIns="0" tIns="0" rIns="0" bIns="0" rtlCol="0" anchor="ctr"/>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Uma época é uma passada completa pelos dados. Paramos antes se o modelo parar de melhorar, para ele não decorar o treino.</a:t>
            </a:r>
            <a:endParaRPr lang="en-US" sz="1300" dirty="0"/>
          </a:p>
        </p:txBody>
      </p:sp>
      <p:sp>
        <p:nvSpPr>
          <p:cNvPr id="16" name="Shape 13"/>
          <p:cNvSpPr/>
          <p:nvPr/>
        </p:nvSpPr>
        <p:spPr>
          <a:xfrm>
            <a:off x="812800" y="3416300"/>
            <a:ext cx="3556000" cy="635000"/>
          </a:xfrm>
          <a:prstGeom prst="roundRect">
            <a:avLst>
              <a:gd name="adj" fmla="val 16000"/>
            </a:avLst>
          </a:prstGeom>
          <a:solidFill>
            <a:srgbClr val="1E2761"/>
          </a:solidFill>
          <a:ln w="12700">
            <a:solidFill>
              <a:srgbClr val="1E2761"/>
            </a:solidFill>
            <a:prstDash val="solid"/>
          </a:ln>
        </p:spPr>
      </p:sp>
      <p:sp>
        <p:nvSpPr>
          <p:cNvPr id="17" name="Text 14"/>
          <p:cNvSpPr txBox="1"/>
          <p:nvPr/>
        </p:nvSpPr>
        <p:spPr>
          <a:xfrm>
            <a:off x="1016000" y="3505200"/>
            <a:ext cx="3175000" cy="22860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Critério de parada</a:t>
            </a:r>
            <a:endParaRPr lang="en-US" sz="1400" dirty="0"/>
          </a:p>
        </p:txBody>
      </p:sp>
      <p:sp>
        <p:nvSpPr>
          <p:cNvPr id="18" name="Text 15"/>
          <p:cNvSpPr txBox="1"/>
          <p:nvPr/>
        </p:nvSpPr>
        <p:spPr>
          <a:xfrm>
            <a:off x="1016000" y="3746500"/>
            <a:ext cx="3175000" cy="254000"/>
          </a:xfrm>
          <a:prstGeom prst="rect">
            <a:avLst/>
          </a:prstGeom>
          <a:noFill/>
          <a:ln/>
        </p:spPr>
        <p:txBody>
          <a:bodyPr wrap="square" lIns="0" tIns="0" rIns="0" bIns="0" rtlCol="0" anchor="t"/>
          <a:lstStyle/>
          <a:p>
            <a:pPr algn="l" indent="0" marL="0">
              <a:lnSpc>
                <a:spcPct val="110000"/>
              </a:lnSpc>
              <a:buNone/>
            </a:pPr>
            <a:r>
              <a:rPr lang="en-US" sz="1500" b="1" dirty="0">
                <a:solidFill>
                  <a:srgbClr val="E8A33D"/>
                </a:solidFill>
                <a:latin typeface="Georgia" pitchFamily="34" charset="0"/>
                <a:ea typeface="Georgia" pitchFamily="34" charset="-122"/>
                <a:cs typeface="Georgia" pitchFamily="34" charset="-120"/>
              </a:rPr>
              <a:t>eval_loss, paciência 3</a:t>
            </a:r>
            <a:endParaRPr lang="en-US" sz="1500" dirty="0"/>
          </a:p>
        </p:txBody>
      </p:sp>
      <p:sp>
        <p:nvSpPr>
          <p:cNvPr id="19" name="Shape 16"/>
          <p:cNvSpPr/>
          <p:nvPr/>
        </p:nvSpPr>
        <p:spPr>
          <a:xfrm>
            <a:off x="4521200" y="3416300"/>
            <a:ext cx="6858000" cy="635000"/>
          </a:xfrm>
          <a:prstGeom prst="roundRect">
            <a:avLst>
              <a:gd name="adj" fmla="val 16000"/>
            </a:avLst>
          </a:prstGeom>
          <a:solidFill>
            <a:srgbClr val="FFFFFF"/>
          </a:solidFill>
          <a:ln w="12700">
            <a:solidFill>
              <a:srgbClr val="D5DDF0"/>
            </a:solidFill>
            <a:prstDash val="solid"/>
          </a:ln>
        </p:spPr>
      </p:sp>
      <p:sp>
        <p:nvSpPr>
          <p:cNvPr id="20" name="Text 17"/>
          <p:cNvSpPr txBox="1"/>
          <p:nvPr/>
        </p:nvSpPr>
        <p:spPr>
          <a:xfrm>
            <a:off x="4724400" y="3416300"/>
            <a:ext cx="6451600" cy="635000"/>
          </a:xfrm>
          <a:prstGeom prst="rect">
            <a:avLst/>
          </a:prstGeom>
          <a:noFill/>
          <a:ln/>
        </p:spPr>
        <p:txBody>
          <a:bodyPr wrap="square" lIns="0" tIns="0" rIns="0" bIns="0" rtlCol="0" anchor="ctr"/>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Medimos o erro em exemplos que o modelo nunca viu. Se não melhorar em 3 épocas seguidas, paramos.</a:t>
            </a:r>
            <a:endParaRPr lang="en-US" sz="1300" dirty="0"/>
          </a:p>
        </p:txBody>
      </p:sp>
      <p:sp>
        <p:nvSpPr>
          <p:cNvPr id="21" name="Shape 18"/>
          <p:cNvSpPr/>
          <p:nvPr/>
        </p:nvSpPr>
        <p:spPr>
          <a:xfrm>
            <a:off x="812800" y="4203700"/>
            <a:ext cx="3556000" cy="635000"/>
          </a:xfrm>
          <a:prstGeom prst="roundRect">
            <a:avLst>
              <a:gd name="adj" fmla="val 16000"/>
            </a:avLst>
          </a:prstGeom>
          <a:solidFill>
            <a:srgbClr val="1E2761"/>
          </a:solidFill>
          <a:ln w="12700">
            <a:solidFill>
              <a:srgbClr val="1E2761"/>
            </a:solidFill>
            <a:prstDash val="solid"/>
          </a:ln>
        </p:spPr>
      </p:sp>
      <p:sp>
        <p:nvSpPr>
          <p:cNvPr id="22" name="Text 19"/>
          <p:cNvSpPr txBox="1"/>
          <p:nvPr/>
        </p:nvSpPr>
        <p:spPr>
          <a:xfrm>
            <a:off x="1016000" y="4292600"/>
            <a:ext cx="3175000" cy="22860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Semente (seed)</a:t>
            </a:r>
            <a:endParaRPr lang="en-US" sz="1400" dirty="0"/>
          </a:p>
        </p:txBody>
      </p:sp>
      <p:sp>
        <p:nvSpPr>
          <p:cNvPr id="23" name="Text 20"/>
          <p:cNvSpPr txBox="1"/>
          <p:nvPr/>
        </p:nvSpPr>
        <p:spPr>
          <a:xfrm>
            <a:off x="1016000" y="4533900"/>
            <a:ext cx="3175000" cy="254000"/>
          </a:xfrm>
          <a:prstGeom prst="rect">
            <a:avLst/>
          </a:prstGeom>
          <a:noFill/>
          <a:ln/>
        </p:spPr>
        <p:txBody>
          <a:bodyPr wrap="square" lIns="0" tIns="0" rIns="0" bIns="0" rtlCol="0" anchor="t"/>
          <a:lstStyle/>
          <a:p>
            <a:pPr algn="l" indent="0" marL="0">
              <a:lnSpc>
                <a:spcPct val="110000"/>
              </a:lnSpc>
              <a:buNone/>
            </a:pPr>
            <a:r>
              <a:rPr lang="en-US" sz="1500" b="1" dirty="0">
                <a:solidFill>
                  <a:srgbClr val="E8A33D"/>
                </a:solidFill>
                <a:latin typeface="Georgia" pitchFamily="34" charset="0"/>
                <a:ea typeface="Georgia" pitchFamily="34" charset="-122"/>
                <a:cs typeface="Georgia" pitchFamily="34" charset="-120"/>
              </a:rPr>
              <a:t>42</a:t>
            </a:r>
            <a:endParaRPr lang="en-US" sz="1500" dirty="0"/>
          </a:p>
        </p:txBody>
      </p:sp>
      <p:sp>
        <p:nvSpPr>
          <p:cNvPr id="24" name="Shape 21"/>
          <p:cNvSpPr/>
          <p:nvPr/>
        </p:nvSpPr>
        <p:spPr>
          <a:xfrm>
            <a:off x="4521200" y="4203700"/>
            <a:ext cx="6858000" cy="635000"/>
          </a:xfrm>
          <a:prstGeom prst="roundRect">
            <a:avLst>
              <a:gd name="adj" fmla="val 16000"/>
            </a:avLst>
          </a:prstGeom>
          <a:solidFill>
            <a:srgbClr val="FFFFFF"/>
          </a:solidFill>
          <a:ln w="12700">
            <a:solidFill>
              <a:srgbClr val="D5DDF0"/>
            </a:solidFill>
            <a:prstDash val="solid"/>
          </a:ln>
        </p:spPr>
      </p:sp>
      <p:sp>
        <p:nvSpPr>
          <p:cNvPr id="25" name="Text 22"/>
          <p:cNvSpPr txBox="1"/>
          <p:nvPr/>
        </p:nvSpPr>
        <p:spPr>
          <a:xfrm>
            <a:off x="4724400" y="4203700"/>
            <a:ext cx="6451600" cy="635000"/>
          </a:xfrm>
          <a:prstGeom prst="rect">
            <a:avLst/>
          </a:prstGeom>
          <a:noFill/>
          <a:ln/>
        </p:spPr>
        <p:txBody>
          <a:bodyPr wrap="square" lIns="0" tIns="0" rIns="0" bIns="0" rtlCol="0" anchor="ctr"/>
          <a:lstStyle/>
          <a:p>
            <a:pPr algn="l" indent="0" marL="0">
              <a:lnSpc>
                <a:spcPct val="110000"/>
              </a:lnSpc>
              <a:buNone/>
            </a:pPr>
            <a:r>
              <a:rPr lang="en-US" sz="1300" dirty="0">
                <a:solidFill>
                  <a:srgbClr val="1A1A2E"/>
                </a:solidFill>
                <a:latin typeface="Arial" pitchFamily="34" charset="0"/>
                <a:ea typeface="Arial" pitchFamily="34" charset="-122"/>
                <a:cs typeface="Arial" pitchFamily="34" charset="-120"/>
              </a:rPr>
              <a:t>Fixa o sorteio dos dados e dos pesos iniciais, para repetir o treino e obter o mesmo resultado.</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20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AVALIAÇÃO</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Resultados preliminares</a:t>
            </a:r>
            <a:endParaRPr lang="en-US" sz="3000" dirty="0"/>
          </a:p>
        </p:txBody>
      </p:sp>
      <p:sp>
        <p:nvSpPr>
          <p:cNvPr id="6" name="Shape 3"/>
          <p:cNvSpPr/>
          <p:nvPr/>
        </p:nvSpPr>
        <p:spPr>
          <a:xfrm>
            <a:off x="812800" y="1841500"/>
            <a:ext cx="3810000" cy="2540000"/>
          </a:xfrm>
          <a:prstGeom prst="roundRect">
            <a:avLst>
              <a:gd name="adj" fmla="val 4000"/>
            </a:avLst>
          </a:prstGeom>
          <a:solidFill>
            <a:srgbClr val="FFFFFF"/>
          </a:solidFill>
          <a:ln w="12700">
            <a:solidFill>
              <a:srgbClr val="D5DDF0"/>
            </a:solidFill>
            <a:prstDash val="solid"/>
          </a:ln>
        </p:spPr>
      </p:sp>
      <p:sp>
        <p:nvSpPr>
          <p:cNvPr id="7" name="Text 4"/>
          <p:cNvSpPr txBox="1"/>
          <p:nvPr/>
        </p:nvSpPr>
        <p:spPr>
          <a:xfrm>
            <a:off x="1016000" y="1968500"/>
            <a:ext cx="3429000" cy="254000"/>
          </a:xfrm>
          <a:prstGeom prst="rect">
            <a:avLst/>
          </a:prstGeom>
          <a:noFill/>
          <a:ln/>
        </p:spPr>
        <p:txBody>
          <a:bodyPr wrap="square" lIns="0" tIns="0" rIns="0" bIns="0" rtlCol="0" anchor="t"/>
          <a:lstStyle/>
          <a:p>
            <a:pPr algn="l" indent="0" marL="0">
              <a:lnSpc>
                <a:spcPct val="110000"/>
              </a:lnSpc>
              <a:buNone/>
            </a:pPr>
            <a:r>
              <a:rPr lang="en-US" sz="1300" b="1" dirty="0">
                <a:solidFill>
                  <a:srgbClr val="1E2761"/>
                </a:solidFill>
                <a:latin typeface="Arial" pitchFamily="34" charset="0"/>
                <a:ea typeface="Arial" pitchFamily="34" charset="-122"/>
                <a:cs typeface="Arial" pitchFamily="34" charset="-120"/>
              </a:rPr>
              <a:t>Perda de validação por época</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1016000" y="2286000"/>
          <a:ext cx="3403600" cy="914400"/>
        </p:xfrm>
        <a:graphic>
          <a:graphicData uri="http://schemas.openxmlformats.org/drawingml/2006/table">
            <a:tbl>
              <a:tblPr/>
              <a:tblGrid>
                <a:gridCol w="1701800"/>
                <a:gridCol w="1701800"/>
              </a:tblGrid>
              <a:tr h="355600">
                <a:tc>
                  <a:txBody>
                    <a:bodyPr/>
                    <a:lstStyle/>
                    <a:p>
                      <a:pPr indent="0" marL="0">
                        <a:buNone/>
                      </a:pPr>
                      <a:r>
                        <a:rPr lang="en-US" sz="1400" b="1" dirty="0">
                          <a:solidFill>
                            <a:srgbClr val="1E2761"/>
                          </a:solidFill>
                          <a:latin typeface="Arial" pitchFamily="34" charset="0"/>
                          <a:ea typeface="Arial" pitchFamily="34" charset="-122"/>
                          <a:cs typeface="Arial" pitchFamily="34" charset="-120"/>
                        </a:rPr>
                        <a:t>Época</a:t>
                      </a:r>
                      <a:endParaRPr lang="en-US" sz="1400" dirty="0">
                        <a:latin typeface="Arial" charset="0"/>
                        <a:ea typeface="Arial" charset="0"/>
                        <a:cs typeface="Arial" charset="0"/>
                      </a:endParaRPr>
                    </a:p>
                  </a:txBody>
                  <a:tcPr marL="91440" marR="91440" marT="45720" marB="45720">
                    <a:lnL w="12700" cap="flat" cmpd="sng" algn="ctr">
                      <a:solidFill>
                        <a:srgbClr val="D5DDF0"/>
                      </a:solidFill>
                      <a:prstDash val="solid"/>
                      <a:round/>
                      <a:headEnd type="none" w="med" len="med"/>
                      <a:tailEnd type="none" w="med" len="med"/>
                    </a:lnL>
                    <a:lnR w="12700" cap="flat" cmpd="sng" algn="ctr">
                      <a:solidFill>
                        <a:srgbClr val="D5DDF0"/>
                      </a:solidFill>
                      <a:prstDash val="solid"/>
                      <a:round/>
                      <a:headEnd type="none" w="med" len="med"/>
                      <a:tailEnd type="none" w="med" len="med"/>
                    </a:lnR>
                    <a:lnT w="12700" cap="flat" cmpd="sng" algn="ctr">
                      <a:solidFill>
                        <a:srgbClr val="D5DDF0"/>
                      </a:solidFill>
                      <a:prstDash val="solid"/>
                      <a:round/>
                      <a:headEnd type="none" w="med" len="med"/>
                      <a:tailEnd type="none" w="med" len="med"/>
                    </a:lnT>
                    <a:lnB w="12700" cap="flat" cmpd="sng" algn="ctr">
                      <a:solidFill>
                        <a:srgbClr val="D5DDF0"/>
                      </a:solidFill>
                      <a:prstDash val="solid"/>
                      <a:round/>
                      <a:headEnd type="none" w="med" len="med"/>
                      <a:tailEnd type="none" w="med" len="med"/>
                    </a:lnB>
                  </a:tcPr>
                </a:tc>
                <a:tc>
                  <a:txBody>
                    <a:bodyPr/>
                    <a:lstStyle/>
                    <a:p>
                      <a:pPr algn="r" indent="0" marL="0">
                        <a:buNone/>
                      </a:pPr>
                      <a:r>
                        <a:rPr lang="en-US" sz="1400" b="1" dirty="0">
                          <a:solidFill>
                            <a:srgbClr val="1E2761"/>
                          </a:solidFill>
                          <a:latin typeface="Arial" pitchFamily="34" charset="0"/>
                          <a:ea typeface="Arial" pitchFamily="34" charset="-122"/>
                          <a:cs typeface="Arial" pitchFamily="34" charset="-120"/>
                        </a:rPr>
                        <a:t>eval_loss</a:t>
                      </a:r>
                      <a:endParaRPr lang="en-US" sz="1400" dirty="0">
                        <a:latin typeface="Arial" charset="0"/>
                        <a:ea typeface="Arial" charset="0"/>
                        <a:cs typeface="Arial" charset="0"/>
                      </a:endParaRPr>
                    </a:p>
                  </a:txBody>
                  <a:tcPr marL="91440" marR="91440" marT="45720" marB="45720">
                    <a:lnL w="12700" cap="flat" cmpd="sng" algn="ctr">
                      <a:solidFill>
                        <a:srgbClr val="D5DDF0"/>
                      </a:solidFill>
                      <a:prstDash val="solid"/>
                      <a:round/>
                      <a:headEnd type="none" w="med" len="med"/>
                      <a:tailEnd type="none" w="med" len="med"/>
                    </a:lnL>
                    <a:lnR w="12700" cap="flat" cmpd="sng" algn="ctr">
                      <a:solidFill>
                        <a:srgbClr val="D5DDF0"/>
                      </a:solidFill>
                      <a:prstDash val="solid"/>
                      <a:round/>
                      <a:headEnd type="none" w="med" len="med"/>
                      <a:tailEnd type="none" w="med" len="med"/>
                    </a:lnR>
                    <a:lnT w="12700" cap="flat" cmpd="sng" algn="ctr">
                      <a:solidFill>
                        <a:srgbClr val="D5DDF0"/>
                      </a:solidFill>
                      <a:prstDash val="solid"/>
                      <a:round/>
                      <a:headEnd type="none" w="med" len="med"/>
                      <a:tailEnd type="none" w="med" len="med"/>
                    </a:lnT>
                    <a:lnB w="12700" cap="flat" cmpd="sng" algn="ctr">
                      <a:solidFill>
                        <a:srgbClr val="D5DDF0"/>
                      </a:solidFill>
                      <a:prstDash val="solid"/>
                      <a:round/>
                      <a:headEnd type="none" w="med" len="med"/>
                      <a:tailEnd type="none" w="med" len="med"/>
                    </a:lnB>
                  </a:tcPr>
                </a:tc>
              </a:tr>
              <a:tr h="355600">
                <a:tc>
                  <a:txBody>
                    <a:bodyPr/>
                    <a:lstStyle/>
                    <a:p>
                      <a:pPr indent="0" marL="0">
                        <a:buNone/>
                      </a:pPr>
                      <a:r>
                        <a:rPr lang="en-US" sz="1400" dirty="0">
                          <a:solidFill>
                            <a:srgbClr val="1A1A2E"/>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91440" marR="91440" marT="45720" marB="45720">
                    <a:lnL w="12700" cap="flat" cmpd="sng" algn="ctr">
                      <a:solidFill>
                        <a:srgbClr val="D5DDF0"/>
                      </a:solidFill>
                      <a:prstDash val="solid"/>
                      <a:round/>
                      <a:headEnd type="none" w="med" len="med"/>
                      <a:tailEnd type="none" w="med" len="med"/>
                    </a:lnL>
                    <a:lnR w="12700" cap="flat" cmpd="sng" algn="ctr">
                      <a:solidFill>
                        <a:srgbClr val="D5DDF0"/>
                      </a:solidFill>
                      <a:prstDash val="solid"/>
                      <a:round/>
                      <a:headEnd type="none" w="med" len="med"/>
                      <a:tailEnd type="none" w="med" len="med"/>
                    </a:lnR>
                    <a:lnT w="12700" cap="flat" cmpd="sng" algn="ctr">
                      <a:solidFill>
                        <a:srgbClr val="D5DDF0"/>
                      </a:solidFill>
                      <a:prstDash val="solid"/>
                      <a:round/>
                      <a:headEnd type="none" w="med" len="med"/>
                      <a:tailEnd type="none" w="med" len="med"/>
                    </a:lnT>
                    <a:lnB w="12700" cap="flat" cmpd="sng" algn="ctr">
                      <a:solidFill>
                        <a:srgbClr val="D5DDF0"/>
                      </a:solidFill>
                      <a:prstDash val="solid"/>
                      <a:round/>
                      <a:headEnd type="none" w="med" len="med"/>
                      <a:tailEnd type="none" w="med" len="med"/>
                    </a:lnB>
                  </a:tcPr>
                </a:tc>
                <a:tc>
                  <a:txBody>
                    <a:bodyPr/>
                    <a:lstStyle/>
                    <a:p>
                      <a:pPr algn="r" indent="0" marL="0">
                        <a:buNone/>
                      </a:pPr>
                      <a:r>
                        <a:rPr lang="en-US" sz="1400" dirty="0">
                          <a:solidFill>
                            <a:srgbClr val="1A1A2E"/>
                          </a:solidFill>
                          <a:latin typeface="Arial" pitchFamily="34" charset="0"/>
                          <a:ea typeface="Arial" pitchFamily="34" charset="-122"/>
                          <a:cs typeface="Arial" pitchFamily="34" charset="-120"/>
                        </a:rPr>
                        <a:t>2,005</a:t>
                      </a:r>
                      <a:endParaRPr lang="en-US" sz="1400" dirty="0">
                        <a:latin typeface="Arial" charset="0"/>
                        <a:ea typeface="Arial" charset="0"/>
                        <a:cs typeface="Arial" charset="0"/>
                      </a:endParaRPr>
                    </a:p>
                  </a:txBody>
                  <a:tcPr marL="91440" marR="91440" marT="45720" marB="45720">
                    <a:lnL w="12700" cap="flat" cmpd="sng" algn="ctr">
                      <a:solidFill>
                        <a:srgbClr val="D5DDF0"/>
                      </a:solidFill>
                      <a:prstDash val="solid"/>
                      <a:round/>
                      <a:headEnd type="none" w="med" len="med"/>
                      <a:tailEnd type="none" w="med" len="med"/>
                    </a:lnL>
                    <a:lnR w="12700" cap="flat" cmpd="sng" algn="ctr">
                      <a:solidFill>
                        <a:srgbClr val="D5DDF0"/>
                      </a:solidFill>
                      <a:prstDash val="solid"/>
                      <a:round/>
                      <a:headEnd type="none" w="med" len="med"/>
                      <a:tailEnd type="none" w="med" len="med"/>
                    </a:lnR>
                    <a:lnT w="12700" cap="flat" cmpd="sng" algn="ctr">
                      <a:solidFill>
                        <a:srgbClr val="D5DDF0"/>
                      </a:solidFill>
                      <a:prstDash val="solid"/>
                      <a:round/>
                      <a:headEnd type="none" w="med" len="med"/>
                      <a:tailEnd type="none" w="med" len="med"/>
                    </a:lnT>
                    <a:lnB w="12700" cap="flat" cmpd="sng" algn="ctr">
                      <a:solidFill>
                        <a:srgbClr val="D5DDF0"/>
                      </a:solidFill>
                      <a:prstDash val="solid"/>
                      <a:round/>
                      <a:headEnd type="none" w="med" len="med"/>
                      <a:tailEnd type="none" w="med" len="med"/>
                    </a:lnB>
                  </a:tcPr>
                </a:tc>
              </a:tr>
              <a:tr h="355600">
                <a:tc>
                  <a:txBody>
                    <a:bodyPr/>
                    <a:lstStyle/>
                    <a:p>
                      <a:pPr indent="0" marL="0">
                        <a:buNone/>
                      </a:pPr>
                      <a:r>
                        <a:rPr lang="en-US" sz="1400" dirty="0">
                          <a:solidFill>
                            <a:srgbClr val="1A1A2E"/>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45720" marB="45720">
                    <a:lnL w="12700" cap="flat" cmpd="sng" algn="ctr">
                      <a:solidFill>
                        <a:srgbClr val="D5DDF0"/>
                      </a:solidFill>
                      <a:prstDash val="solid"/>
                      <a:round/>
                      <a:headEnd type="none" w="med" len="med"/>
                      <a:tailEnd type="none" w="med" len="med"/>
                    </a:lnL>
                    <a:lnR w="12700" cap="flat" cmpd="sng" algn="ctr">
                      <a:solidFill>
                        <a:srgbClr val="D5DDF0"/>
                      </a:solidFill>
                      <a:prstDash val="solid"/>
                      <a:round/>
                      <a:headEnd type="none" w="med" len="med"/>
                      <a:tailEnd type="none" w="med" len="med"/>
                    </a:lnR>
                    <a:lnT w="12700" cap="flat" cmpd="sng" algn="ctr">
                      <a:solidFill>
                        <a:srgbClr val="D5DDF0"/>
                      </a:solidFill>
                      <a:prstDash val="solid"/>
                      <a:round/>
                      <a:headEnd type="none" w="med" len="med"/>
                      <a:tailEnd type="none" w="med" len="med"/>
                    </a:lnT>
                    <a:lnB w="12700" cap="flat" cmpd="sng" algn="ctr">
                      <a:solidFill>
                        <a:srgbClr val="D5DDF0"/>
                      </a:solidFill>
                      <a:prstDash val="solid"/>
                      <a:round/>
                      <a:headEnd type="none" w="med" len="med"/>
                      <a:tailEnd type="none" w="med" len="med"/>
                    </a:lnB>
                  </a:tcPr>
                </a:tc>
                <a:tc>
                  <a:txBody>
                    <a:bodyPr/>
                    <a:lstStyle/>
                    <a:p>
                      <a:pPr algn="r" indent="0" marL="0">
                        <a:buNone/>
                      </a:pPr>
                      <a:r>
                        <a:rPr lang="en-US" sz="1400" dirty="0">
                          <a:solidFill>
                            <a:srgbClr val="1A1A2E"/>
                          </a:solidFill>
                          <a:latin typeface="Arial" pitchFamily="34" charset="0"/>
                          <a:ea typeface="Arial" pitchFamily="34" charset="-122"/>
                          <a:cs typeface="Arial" pitchFamily="34" charset="-120"/>
                        </a:rPr>
                        <a:t>1,935</a:t>
                      </a:r>
                      <a:endParaRPr lang="en-US" sz="1400" dirty="0">
                        <a:latin typeface="Arial" charset="0"/>
                        <a:ea typeface="Arial" charset="0"/>
                        <a:cs typeface="Arial" charset="0"/>
                      </a:endParaRPr>
                    </a:p>
                  </a:txBody>
                  <a:tcPr marL="91440" marR="91440" marT="45720" marB="45720">
                    <a:lnL w="12700" cap="flat" cmpd="sng" algn="ctr">
                      <a:solidFill>
                        <a:srgbClr val="D5DDF0"/>
                      </a:solidFill>
                      <a:prstDash val="solid"/>
                      <a:round/>
                      <a:headEnd type="none" w="med" len="med"/>
                      <a:tailEnd type="none" w="med" len="med"/>
                    </a:lnL>
                    <a:lnR w="12700" cap="flat" cmpd="sng" algn="ctr">
                      <a:solidFill>
                        <a:srgbClr val="D5DDF0"/>
                      </a:solidFill>
                      <a:prstDash val="solid"/>
                      <a:round/>
                      <a:headEnd type="none" w="med" len="med"/>
                      <a:tailEnd type="none" w="med" len="med"/>
                    </a:lnR>
                    <a:lnT w="12700" cap="flat" cmpd="sng" algn="ctr">
                      <a:solidFill>
                        <a:srgbClr val="D5DDF0"/>
                      </a:solidFill>
                      <a:prstDash val="solid"/>
                      <a:round/>
                      <a:headEnd type="none" w="med" len="med"/>
                      <a:tailEnd type="none" w="med" len="med"/>
                    </a:lnT>
                    <a:lnB w="12700" cap="flat" cmpd="sng" algn="ctr">
                      <a:solidFill>
                        <a:srgbClr val="D5DDF0"/>
                      </a:solidFill>
                      <a:prstDash val="solid"/>
                      <a:round/>
                      <a:headEnd type="none" w="med" len="med"/>
                      <a:tailEnd type="none" w="med" len="med"/>
                    </a:lnB>
                  </a:tcPr>
                </a:tc>
              </a:tr>
              <a:tr h="355600">
                <a:tc>
                  <a:txBody>
                    <a:bodyPr/>
                    <a:lstStyle/>
                    <a:p>
                      <a:pPr indent="0" marL="0">
                        <a:buNone/>
                      </a:pPr>
                      <a:r>
                        <a:rPr lang="en-US" sz="1400" dirty="0">
                          <a:solidFill>
                            <a:srgbClr val="1A1A2E"/>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91440" marR="91440" marT="45720" marB="45720">
                    <a:lnL w="12700" cap="flat" cmpd="sng" algn="ctr">
                      <a:solidFill>
                        <a:srgbClr val="D5DDF0"/>
                      </a:solidFill>
                      <a:prstDash val="solid"/>
                      <a:round/>
                      <a:headEnd type="none" w="med" len="med"/>
                      <a:tailEnd type="none" w="med" len="med"/>
                    </a:lnL>
                    <a:lnR w="12700" cap="flat" cmpd="sng" algn="ctr">
                      <a:solidFill>
                        <a:srgbClr val="D5DDF0"/>
                      </a:solidFill>
                      <a:prstDash val="solid"/>
                      <a:round/>
                      <a:headEnd type="none" w="med" len="med"/>
                      <a:tailEnd type="none" w="med" len="med"/>
                    </a:lnR>
                    <a:lnT w="12700" cap="flat" cmpd="sng" algn="ctr">
                      <a:solidFill>
                        <a:srgbClr val="D5DDF0"/>
                      </a:solidFill>
                      <a:prstDash val="solid"/>
                      <a:round/>
                      <a:headEnd type="none" w="med" len="med"/>
                      <a:tailEnd type="none" w="med" len="med"/>
                    </a:lnT>
                    <a:lnB w="12700" cap="flat" cmpd="sng" algn="ctr">
                      <a:solidFill>
                        <a:srgbClr val="D5DDF0"/>
                      </a:solidFill>
                      <a:prstDash val="solid"/>
                      <a:round/>
                      <a:headEnd type="none" w="med" len="med"/>
                      <a:tailEnd type="none" w="med" len="med"/>
                    </a:lnB>
                  </a:tcPr>
                </a:tc>
                <a:tc>
                  <a:txBody>
                    <a:bodyPr/>
                    <a:lstStyle/>
                    <a:p>
                      <a:pPr algn="r" indent="0" marL="0">
                        <a:buNone/>
                      </a:pPr>
                      <a:r>
                        <a:rPr lang="en-US" sz="1400" dirty="0">
                          <a:solidFill>
                            <a:srgbClr val="1A1A2E"/>
                          </a:solidFill>
                          <a:latin typeface="Arial" pitchFamily="34" charset="0"/>
                          <a:ea typeface="Arial" pitchFamily="34" charset="-122"/>
                          <a:cs typeface="Arial" pitchFamily="34" charset="-120"/>
                        </a:rPr>
                        <a:t>1,929</a:t>
                      </a:r>
                      <a:endParaRPr lang="en-US" sz="1400" dirty="0">
                        <a:latin typeface="Arial" charset="0"/>
                        <a:ea typeface="Arial" charset="0"/>
                        <a:cs typeface="Arial" charset="0"/>
                      </a:endParaRPr>
                    </a:p>
                  </a:txBody>
                  <a:tcPr marL="91440" marR="91440" marT="45720" marB="45720">
                    <a:lnL w="12700" cap="flat" cmpd="sng" algn="ctr">
                      <a:solidFill>
                        <a:srgbClr val="D5DDF0"/>
                      </a:solidFill>
                      <a:prstDash val="solid"/>
                      <a:round/>
                      <a:headEnd type="none" w="med" len="med"/>
                      <a:tailEnd type="none" w="med" len="med"/>
                    </a:lnL>
                    <a:lnR w="12700" cap="flat" cmpd="sng" algn="ctr">
                      <a:solidFill>
                        <a:srgbClr val="D5DDF0"/>
                      </a:solidFill>
                      <a:prstDash val="solid"/>
                      <a:round/>
                      <a:headEnd type="none" w="med" len="med"/>
                      <a:tailEnd type="none" w="med" len="med"/>
                    </a:lnR>
                    <a:lnT w="12700" cap="flat" cmpd="sng" algn="ctr">
                      <a:solidFill>
                        <a:srgbClr val="D5DDF0"/>
                      </a:solidFill>
                      <a:prstDash val="solid"/>
                      <a:round/>
                      <a:headEnd type="none" w="med" len="med"/>
                      <a:tailEnd type="none" w="med" len="med"/>
                    </a:lnT>
                    <a:lnB w="12700" cap="flat" cmpd="sng" algn="ctr">
                      <a:solidFill>
                        <a:srgbClr val="D5DDF0"/>
                      </a:solidFill>
                      <a:prstDash val="solid"/>
                      <a:round/>
                      <a:headEnd type="none" w="med" len="med"/>
                      <a:tailEnd type="none" w="med" len="med"/>
                    </a:lnB>
                  </a:tcPr>
                </a:tc>
              </a:tr>
            </a:tbl>
          </a:graphicData>
        </a:graphic>
      </p:graphicFrame>
      <p:sp>
        <p:nvSpPr>
          <p:cNvPr id="9" name="Text 5"/>
          <p:cNvSpPr txBox="1"/>
          <p:nvPr/>
        </p:nvSpPr>
        <p:spPr>
          <a:xfrm>
            <a:off x="1016000" y="3810000"/>
            <a:ext cx="3403600" cy="5080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Treino completo (87.599 exemplos) em andamento no momento desta apresentação</a:t>
            </a:r>
            <a:endParaRPr lang="en-US" sz="1200" dirty="0"/>
          </a:p>
        </p:txBody>
      </p:sp>
      <p:sp>
        <p:nvSpPr>
          <p:cNvPr id="10" name="Shape 6"/>
          <p:cNvSpPr/>
          <p:nvPr/>
        </p:nvSpPr>
        <p:spPr>
          <a:xfrm>
            <a:off x="4876800" y="1841500"/>
            <a:ext cx="1498600" cy="1270000"/>
          </a:xfrm>
          <a:prstGeom prst="roundRect">
            <a:avLst>
              <a:gd name="adj" fmla="val 8000"/>
            </a:avLst>
          </a:prstGeom>
          <a:solidFill>
            <a:srgbClr val="FFFFFF"/>
          </a:solidFill>
          <a:ln w="12700">
            <a:solidFill>
              <a:srgbClr val="D5DDF0"/>
            </a:solidFill>
            <a:prstDash val="solid"/>
          </a:ln>
        </p:spPr>
      </p:sp>
      <p:sp>
        <p:nvSpPr>
          <p:cNvPr id="11" name="Text 7"/>
          <p:cNvSpPr txBox="1"/>
          <p:nvPr/>
        </p:nvSpPr>
        <p:spPr>
          <a:xfrm>
            <a:off x="5054600" y="1981200"/>
            <a:ext cx="1143000" cy="363220"/>
          </a:xfrm>
          <a:prstGeom prst="rect">
            <a:avLst/>
          </a:prstGeom>
          <a:noFill/>
          <a:ln/>
        </p:spPr>
        <p:txBody>
          <a:bodyPr wrap="square" lIns="0" tIns="0" rIns="0" bIns="0" rtlCol="0" anchor="t"/>
          <a:lstStyle/>
          <a:p>
            <a:pPr algn="l" indent="0" marL="0">
              <a:lnSpc>
                <a:spcPct val="110000"/>
              </a:lnSpc>
              <a:buNone/>
            </a:pPr>
            <a:r>
              <a:rPr lang="en-US" sz="2200" b="1" dirty="0">
                <a:solidFill>
                  <a:srgbClr val="9A6410"/>
                </a:solidFill>
                <a:latin typeface="Georgia" pitchFamily="34" charset="0"/>
                <a:ea typeface="Georgia" pitchFamily="34" charset="-122"/>
                <a:cs typeface="Georgia" pitchFamily="34" charset="-120"/>
              </a:rPr>
              <a:t>6,76</a:t>
            </a:r>
            <a:endParaRPr lang="en-US" sz="2200" dirty="0"/>
          </a:p>
        </p:txBody>
      </p:sp>
      <p:sp>
        <p:nvSpPr>
          <p:cNvPr id="12" name="Text 8"/>
          <p:cNvSpPr txBox="1"/>
          <p:nvPr/>
        </p:nvSpPr>
        <p:spPr>
          <a:xfrm>
            <a:off x="5054600" y="2358390"/>
            <a:ext cx="1143000" cy="63881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BLEU</a:t>
            </a:r>
            <a:endParaRPr lang="en-US" sz="1200" dirty="0"/>
          </a:p>
        </p:txBody>
      </p:sp>
      <p:sp>
        <p:nvSpPr>
          <p:cNvPr id="13" name="Shape 9"/>
          <p:cNvSpPr/>
          <p:nvPr/>
        </p:nvSpPr>
        <p:spPr>
          <a:xfrm>
            <a:off x="6502400" y="1841500"/>
            <a:ext cx="1498600" cy="1270000"/>
          </a:xfrm>
          <a:prstGeom prst="roundRect">
            <a:avLst>
              <a:gd name="adj" fmla="val 8000"/>
            </a:avLst>
          </a:prstGeom>
          <a:solidFill>
            <a:srgbClr val="FFFFFF"/>
          </a:solidFill>
          <a:ln w="12700">
            <a:solidFill>
              <a:srgbClr val="D5DDF0"/>
            </a:solidFill>
            <a:prstDash val="solid"/>
          </a:ln>
        </p:spPr>
      </p:sp>
      <p:sp>
        <p:nvSpPr>
          <p:cNvPr id="14" name="Text 10"/>
          <p:cNvSpPr txBox="1"/>
          <p:nvPr/>
        </p:nvSpPr>
        <p:spPr>
          <a:xfrm>
            <a:off x="6680200" y="1981200"/>
            <a:ext cx="1143000" cy="363220"/>
          </a:xfrm>
          <a:prstGeom prst="rect">
            <a:avLst/>
          </a:prstGeom>
          <a:noFill/>
          <a:ln/>
        </p:spPr>
        <p:txBody>
          <a:bodyPr wrap="square" lIns="0" tIns="0" rIns="0" bIns="0" rtlCol="0" anchor="t"/>
          <a:lstStyle/>
          <a:p>
            <a:pPr algn="l" indent="0" marL="0">
              <a:lnSpc>
                <a:spcPct val="110000"/>
              </a:lnSpc>
              <a:buNone/>
            </a:pPr>
            <a:r>
              <a:rPr lang="en-US" sz="2200" b="1" dirty="0">
                <a:solidFill>
                  <a:srgbClr val="1E2761"/>
                </a:solidFill>
                <a:latin typeface="Georgia" pitchFamily="34" charset="0"/>
                <a:ea typeface="Georgia" pitchFamily="34" charset="-122"/>
                <a:cs typeface="Georgia" pitchFamily="34" charset="-120"/>
              </a:rPr>
              <a:t>24,5%</a:t>
            </a:r>
            <a:endParaRPr lang="en-US" sz="2200" dirty="0"/>
          </a:p>
        </p:txBody>
      </p:sp>
      <p:sp>
        <p:nvSpPr>
          <p:cNvPr id="15" name="Text 11"/>
          <p:cNvSpPr txBox="1"/>
          <p:nvPr/>
        </p:nvSpPr>
        <p:spPr>
          <a:xfrm>
            <a:off x="6680200" y="2358390"/>
            <a:ext cx="1143000" cy="63881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ROUGE-L</a:t>
            </a:r>
            <a:endParaRPr lang="en-US" sz="1200" dirty="0"/>
          </a:p>
        </p:txBody>
      </p:sp>
      <p:sp>
        <p:nvSpPr>
          <p:cNvPr id="16" name="Shape 12"/>
          <p:cNvSpPr/>
          <p:nvPr/>
        </p:nvSpPr>
        <p:spPr>
          <a:xfrm>
            <a:off x="8128000" y="1841500"/>
            <a:ext cx="1498600" cy="1270000"/>
          </a:xfrm>
          <a:prstGeom prst="roundRect">
            <a:avLst>
              <a:gd name="adj" fmla="val 8000"/>
            </a:avLst>
          </a:prstGeom>
          <a:solidFill>
            <a:srgbClr val="FFFFFF"/>
          </a:solidFill>
          <a:ln w="12700">
            <a:solidFill>
              <a:srgbClr val="D5DDF0"/>
            </a:solidFill>
            <a:prstDash val="solid"/>
          </a:ln>
        </p:spPr>
      </p:sp>
      <p:sp>
        <p:nvSpPr>
          <p:cNvPr id="17" name="Text 13"/>
          <p:cNvSpPr txBox="1"/>
          <p:nvPr/>
        </p:nvSpPr>
        <p:spPr>
          <a:xfrm>
            <a:off x="8305800" y="1981200"/>
            <a:ext cx="1143000" cy="363220"/>
          </a:xfrm>
          <a:prstGeom prst="rect">
            <a:avLst/>
          </a:prstGeom>
          <a:noFill/>
          <a:ln/>
        </p:spPr>
        <p:txBody>
          <a:bodyPr wrap="square" lIns="0" tIns="0" rIns="0" bIns="0" rtlCol="0" anchor="t"/>
          <a:lstStyle/>
          <a:p>
            <a:pPr algn="l" indent="0" marL="0">
              <a:lnSpc>
                <a:spcPct val="110000"/>
              </a:lnSpc>
              <a:buNone/>
            </a:pPr>
            <a:r>
              <a:rPr lang="en-US" sz="2200" b="1" dirty="0">
                <a:solidFill>
                  <a:srgbClr val="1E2761"/>
                </a:solidFill>
                <a:latin typeface="Georgia" pitchFamily="34" charset="0"/>
                <a:ea typeface="Georgia" pitchFamily="34" charset="-122"/>
                <a:cs typeface="Georgia" pitchFamily="34" charset="-120"/>
              </a:rPr>
              <a:t>25,4%</a:t>
            </a:r>
            <a:endParaRPr lang="en-US" sz="2200" dirty="0"/>
          </a:p>
        </p:txBody>
      </p:sp>
      <p:sp>
        <p:nvSpPr>
          <p:cNvPr id="18" name="Text 14"/>
          <p:cNvSpPr txBox="1"/>
          <p:nvPr/>
        </p:nvSpPr>
        <p:spPr>
          <a:xfrm>
            <a:off x="8305800" y="2358390"/>
            <a:ext cx="1143000" cy="63881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METEOR</a:t>
            </a:r>
            <a:endParaRPr lang="en-US" sz="1200" dirty="0"/>
          </a:p>
        </p:txBody>
      </p:sp>
      <p:sp>
        <p:nvSpPr>
          <p:cNvPr id="19" name="Shape 15"/>
          <p:cNvSpPr/>
          <p:nvPr/>
        </p:nvSpPr>
        <p:spPr>
          <a:xfrm>
            <a:off x="9753600" y="1841500"/>
            <a:ext cx="1498600" cy="1270000"/>
          </a:xfrm>
          <a:prstGeom prst="roundRect">
            <a:avLst>
              <a:gd name="adj" fmla="val 8000"/>
            </a:avLst>
          </a:prstGeom>
          <a:solidFill>
            <a:srgbClr val="FFFFFF"/>
          </a:solidFill>
          <a:ln w="12700">
            <a:solidFill>
              <a:srgbClr val="D5DDF0"/>
            </a:solidFill>
            <a:prstDash val="solid"/>
          </a:ln>
        </p:spPr>
      </p:sp>
      <p:sp>
        <p:nvSpPr>
          <p:cNvPr id="20" name="Text 16"/>
          <p:cNvSpPr txBox="1"/>
          <p:nvPr/>
        </p:nvSpPr>
        <p:spPr>
          <a:xfrm>
            <a:off x="9931400" y="1981200"/>
            <a:ext cx="1143000" cy="363220"/>
          </a:xfrm>
          <a:prstGeom prst="rect">
            <a:avLst/>
          </a:prstGeom>
          <a:noFill/>
          <a:ln/>
        </p:spPr>
        <p:txBody>
          <a:bodyPr wrap="square" lIns="0" tIns="0" rIns="0" bIns="0" rtlCol="0" anchor="t"/>
          <a:lstStyle/>
          <a:p>
            <a:pPr algn="l" indent="0" marL="0">
              <a:lnSpc>
                <a:spcPct val="110000"/>
              </a:lnSpc>
              <a:buNone/>
            </a:pPr>
            <a:r>
              <a:rPr lang="en-US" sz="2200" b="1" dirty="0">
                <a:solidFill>
                  <a:srgbClr val="1E2761"/>
                </a:solidFill>
                <a:latin typeface="Georgia" pitchFamily="34" charset="0"/>
                <a:ea typeface="Georgia" pitchFamily="34" charset="-122"/>
                <a:cs typeface="Georgia" pitchFamily="34" charset="-120"/>
              </a:rPr>
              <a:t>23,5%</a:t>
            </a:r>
            <a:endParaRPr lang="en-US" sz="2200" dirty="0"/>
          </a:p>
        </p:txBody>
      </p:sp>
      <p:sp>
        <p:nvSpPr>
          <p:cNvPr id="21" name="Text 17"/>
          <p:cNvSpPr txBox="1"/>
          <p:nvPr/>
        </p:nvSpPr>
        <p:spPr>
          <a:xfrm>
            <a:off x="9931400" y="2358390"/>
            <a:ext cx="1143000" cy="63881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F1</a:t>
            </a:r>
            <a:endParaRPr lang="en-US" sz="1200" dirty="0"/>
          </a:p>
        </p:txBody>
      </p:sp>
      <p:sp>
        <p:nvSpPr>
          <p:cNvPr id="22" name="Text 18"/>
          <p:cNvSpPr txBox="1"/>
          <p:nvPr/>
        </p:nvSpPr>
        <p:spPr>
          <a:xfrm>
            <a:off x="4876800" y="3302000"/>
            <a:ext cx="6502400" cy="5080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Checkpoint parcial (7.600 exemplos, 3 épocas) · SQuAD validation completo, 10.570 exemplos</a:t>
            </a:r>
            <a:endParaRPr lang="en-US" sz="1200" dirty="0"/>
          </a:p>
        </p:txBody>
      </p:sp>
      <p:sp>
        <p:nvSpPr>
          <p:cNvPr id="23" name="Shape 19"/>
          <p:cNvSpPr/>
          <p:nvPr/>
        </p:nvSpPr>
        <p:spPr>
          <a:xfrm>
            <a:off x="812800" y="4635500"/>
            <a:ext cx="10566400" cy="1079500"/>
          </a:xfrm>
          <a:prstGeom prst="roundRect">
            <a:avLst>
              <a:gd name="adj" fmla="val 9412"/>
            </a:avLst>
          </a:prstGeom>
          <a:solidFill>
            <a:srgbClr val="FFFFFF"/>
          </a:solidFill>
          <a:ln w="12700">
            <a:solidFill>
              <a:srgbClr val="D5DDF0"/>
            </a:solidFill>
            <a:prstDash val="solid"/>
          </a:ln>
        </p:spPr>
      </p:sp>
      <p:sp>
        <p:nvSpPr>
          <p:cNvPr id="24" name="Text 20"/>
          <p:cNvSpPr txBox="1"/>
          <p:nvPr/>
        </p:nvSpPr>
        <p:spPr>
          <a:xfrm>
            <a:off x="1016000" y="4762500"/>
            <a:ext cx="10160000" cy="825500"/>
          </a:xfrm>
          <a:prstGeom prst="rect">
            <a:avLst/>
          </a:prstGeom>
          <a:noFill/>
          <a:ln/>
        </p:spPr>
        <p:txBody>
          <a:bodyPr wrap="square" lIns="0" tIns="0" rIns="0" bIns="0" rtlCol="0" anchor="ctr"/>
          <a:lstStyle/>
          <a:p>
            <a:pPr algn="l" indent="0" marL="0">
              <a:lnSpc>
                <a:spcPct val="130000"/>
              </a:lnSpc>
              <a:buNone/>
            </a:pPr>
            <a:r>
              <a:rPr lang="en-US" sz="1300" b="1" dirty="0">
                <a:solidFill>
                  <a:srgbClr val="1A1A2E"/>
                </a:solidFill>
                <a:latin typeface="Arial" pitchFamily="34" charset="0"/>
                <a:ea typeface="Arial" pitchFamily="34" charset="-122"/>
                <a:cs typeface="Arial" pitchFamily="34" charset="-120"/>
              </a:rPr>
              <a:t>Referência: </a:t>
            </a:r>
            <a:pPr algn="l" indent="0" marL="0">
              <a:lnSpc>
                <a:spcPct val="130000"/>
              </a:lnSpc>
              <a:buNone/>
            </a:pPr>
            <a:r>
              <a:rPr lang="en-US" sz="1300" dirty="0">
                <a:solidFill>
                  <a:srgbClr val="1A1A2E"/>
                </a:solidFill>
                <a:latin typeface="Arial" pitchFamily="34" charset="0"/>
                <a:ea typeface="Arial" pitchFamily="34" charset="-122"/>
                <a:cs typeface="Arial" pitchFamily="34" charset="-120"/>
              </a:rPr>
              <a:t>“Which artist who had a major influence on the Gothic Revival is represented in the V&amp;A's British galleries?”</a:t>
            </a:r>
            <a:endParaRPr lang="en-US" sz="1300" dirty="0"/>
          </a:p>
          <a:p>
            <a:pPr algn="l" indent="0" marL="0">
              <a:lnSpc>
                <a:spcPct val="130000"/>
              </a:lnSpc>
              <a:buNone/>
            </a:pPr>
            <a:r>
              <a:rPr lang="en-US" sz="1300" b="1" dirty="0">
                <a:solidFill>
                  <a:srgbClr val="9A6410"/>
                </a:solidFill>
                <a:latin typeface="Arial" pitchFamily="34" charset="0"/>
                <a:ea typeface="Arial" pitchFamily="34" charset="-122"/>
                <a:cs typeface="Arial" pitchFamily="34" charset="-120"/>
              </a:rPr>
              <a:t>Gerada: </a:t>
            </a:r>
            <a:pPr algn="l" indent="0" marL="0">
              <a:lnSpc>
                <a:spcPct val="130000"/>
              </a:lnSpc>
              <a:buNone/>
            </a:pPr>
            <a:r>
              <a:rPr lang="en-US" sz="1300" dirty="0">
                <a:solidFill>
                  <a:srgbClr val="9A6410"/>
                </a:solidFill>
                <a:latin typeface="Arial" pitchFamily="34" charset="0"/>
                <a:ea typeface="Arial" pitchFamily="34" charset="-122"/>
                <a:cs typeface="Arial" pitchFamily="34" charset="-120"/>
              </a:rPr>
              <a:t>“Who is a major influence on the Gothic Revival?”</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C"/>
        </a:solidFill>
      </p:bgPr>
    </p:bg>
    <p:spTree>
      <p:nvGrpSpPr>
        <p:cNvPr id="1" name=""/>
        <p:cNvGrpSpPr/>
        <p:nvPr/>
      </p:nvGrpSpPr>
      <p:grpSpPr>
        <a:xfrm>
          <a:off x="0" y="0"/>
          <a:ext cx="0" cy="0"/>
          <a:chOff x="0" y="0"/>
          <a:chExt cx="0" cy="0"/>
        </a:xfrm>
      </p:grpSpPr>
      <p:sp>
        <p:nvSpPr>
          <p:cNvPr id="3" name="Text 0"/>
          <p:cNvSpPr txBox="1"/>
          <p:nvPr/>
        </p:nvSpPr>
        <p:spPr>
          <a:xfrm>
            <a:off x="812800" y="6413500"/>
            <a:ext cx="5080000" cy="190500"/>
          </a:xfrm>
          <a:prstGeom prst="rect">
            <a:avLst/>
          </a:prstGeom>
          <a:noFill/>
          <a:ln/>
        </p:spPr>
        <p:txBody>
          <a:bodyPr wrap="square" lIns="0" tIns="0" rIns="0" bIns="0" rtlCol="0" anchor="t"/>
          <a:lstStyle/>
          <a:p>
            <a:pPr algn="l" indent="0" marL="0">
              <a:lnSpc>
                <a:spcPct val="110000"/>
              </a:lnSpc>
              <a:buNone/>
            </a:pPr>
            <a:r>
              <a:rPr lang="en-US" sz="1200" dirty="0">
                <a:solidFill>
                  <a:srgbClr val="5C6B8A"/>
                </a:solidFill>
                <a:latin typeface="Arial" pitchFamily="34" charset="0"/>
                <a:ea typeface="Arial" pitchFamily="34" charset="-122"/>
                <a:cs typeface="Arial" pitchFamily="34" charset="-120"/>
              </a:rPr>
              <a:t>21 · T-CQG</a:t>
            </a:r>
            <a:endParaRPr lang="en-US" sz="1200" dirty="0"/>
          </a:p>
        </p:txBody>
      </p:sp>
      <p:sp>
        <p:nvSpPr>
          <p:cNvPr id="4" name="Text 1"/>
          <p:cNvSpPr txBox="1"/>
          <p:nvPr/>
        </p:nvSpPr>
        <p:spPr>
          <a:xfrm>
            <a:off x="812800" y="6350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9A6410"/>
                </a:solidFill>
                <a:latin typeface="Arial" pitchFamily="34" charset="0"/>
                <a:ea typeface="Arial" pitchFamily="34" charset="-122"/>
                <a:cs typeface="Arial" pitchFamily="34" charset="-120"/>
              </a:rPr>
              <a:t>ROTEIRO</a:t>
            </a:r>
            <a:endParaRPr lang="en-US" sz="1200" dirty="0"/>
          </a:p>
        </p:txBody>
      </p:sp>
      <p:sp>
        <p:nvSpPr>
          <p:cNvPr id="5" name="Text 2"/>
          <p:cNvSpPr txBox="1"/>
          <p:nvPr/>
        </p:nvSpPr>
        <p:spPr>
          <a:xfrm>
            <a:off x="812800" y="901700"/>
            <a:ext cx="10566400" cy="571500"/>
          </a:xfrm>
          <a:prstGeom prst="rect">
            <a:avLst/>
          </a:prstGeom>
          <a:noFill/>
          <a:ln/>
        </p:spPr>
        <p:txBody>
          <a:bodyPr wrap="square" lIns="0" tIns="0" rIns="0" bIns="0" rtlCol="0" anchor="t"/>
          <a:lstStyle/>
          <a:p>
            <a:pPr algn="l" indent="0" marL="0">
              <a:lnSpc>
                <a:spcPct val="110000"/>
              </a:lnSpc>
              <a:buNone/>
            </a:pPr>
            <a:r>
              <a:rPr lang="en-US" sz="3000" b="1" dirty="0">
                <a:solidFill>
                  <a:srgbClr val="1E2761"/>
                </a:solidFill>
                <a:latin typeface="Georgia" pitchFamily="34" charset="0"/>
                <a:ea typeface="Georgia" pitchFamily="34" charset="-122"/>
                <a:cs typeface="Georgia" pitchFamily="34" charset="-120"/>
              </a:rPr>
              <a:t>Próximos passos</a:t>
            </a:r>
            <a:endParaRPr lang="en-US" sz="3000" dirty="0"/>
          </a:p>
        </p:txBody>
      </p:sp>
      <p:sp>
        <p:nvSpPr>
          <p:cNvPr id="6" name="Shape 3"/>
          <p:cNvSpPr/>
          <p:nvPr/>
        </p:nvSpPr>
        <p:spPr>
          <a:xfrm>
            <a:off x="812800" y="1841500"/>
            <a:ext cx="5181600" cy="1714500"/>
          </a:xfrm>
          <a:prstGeom prst="roundRect">
            <a:avLst>
              <a:gd name="adj" fmla="val 5926"/>
            </a:avLst>
          </a:prstGeom>
          <a:solidFill>
            <a:srgbClr val="FFFFFF"/>
          </a:solidFill>
          <a:ln w="12700">
            <a:solidFill>
              <a:srgbClr val="D5DDF0"/>
            </a:solidFill>
            <a:prstDash val="solid"/>
          </a:ln>
        </p:spPr>
      </p:sp>
      <p:sp>
        <p:nvSpPr>
          <p:cNvPr id="7" name="Text 4"/>
          <p:cNvSpPr txBox="1"/>
          <p:nvPr/>
        </p:nvSpPr>
        <p:spPr>
          <a:xfrm>
            <a:off x="1016000" y="1968500"/>
            <a:ext cx="635000" cy="444500"/>
          </a:xfrm>
          <a:prstGeom prst="rect">
            <a:avLst/>
          </a:prstGeom>
          <a:noFill/>
          <a:ln/>
        </p:spPr>
        <p:txBody>
          <a:bodyPr wrap="square" lIns="0" tIns="0" rIns="0" bIns="0" rtlCol="0" anchor="t"/>
          <a:lstStyle/>
          <a:p>
            <a:pPr algn="l" indent="0" marL="0">
              <a:lnSpc>
                <a:spcPct val="110000"/>
              </a:lnSpc>
              <a:buNone/>
            </a:pPr>
            <a:r>
              <a:rPr lang="en-US" sz="2800" b="1" dirty="0">
                <a:solidFill>
                  <a:srgbClr val="9A6410"/>
                </a:solidFill>
                <a:latin typeface="Georgia" pitchFamily="34" charset="0"/>
                <a:ea typeface="Georgia" pitchFamily="34" charset="-122"/>
                <a:cs typeface="Georgia" pitchFamily="34" charset="-120"/>
              </a:rPr>
              <a:t>1</a:t>
            </a:r>
            <a:endParaRPr lang="en-US" sz="2800" dirty="0"/>
          </a:p>
        </p:txBody>
      </p:sp>
      <p:sp>
        <p:nvSpPr>
          <p:cNvPr id="8" name="Text 5"/>
          <p:cNvSpPr txBox="1"/>
          <p:nvPr/>
        </p:nvSpPr>
        <p:spPr>
          <a:xfrm>
            <a:off x="1016000" y="2508250"/>
            <a:ext cx="4762500" cy="317500"/>
          </a:xfrm>
          <a:prstGeom prst="rect">
            <a:avLst/>
          </a:prstGeom>
          <a:noFill/>
          <a:ln/>
        </p:spPr>
        <p:txBody>
          <a:bodyPr wrap="square" lIns="0" tIns="0" rIns="0" bIns="0" rtlCol="0" anchor="t"/>
          <a:lstStyle/>
          <a:p>
            <a:pPr algn="l" indent="0" marL="0">
              <a:lnSpc>
                <a:spcPct val="110000"/>
              </a:lnSpc>
              <a:buNone/>
            </a:pPr>
            <a:r>
              <a:rPr lang="en-US" sz="1700" b="1" dirty="0">
                <a:solidFill>
                  <a:srgbClr val="1E2761"/>
                </a:solidFill>
                <a:latin typeface="Arial" pitchFamily="34" charset="0"/>
                <a:ea typeface="Arial" pitchFamily="34" charset="-122"/>
                <a:cs typeface="Arial" pitchFamily="34" charset="-120"/>
              </a:rPr>
              <a:t>Concluir o treino completo</a:t>
            </a:r>
            <a:endParaRPr lang="en-US" sz="1700" dirty="0"/>
          </a:p>
        </p:txBody>
      </p:sp>
      <p:sp>
        <p:nvSpPr>
          <p:cNvPr id="9" name="Text 6"/>
          <p:cNvSpPr txBox="1"/>
          <p:nvPr/>
        </p:nvSpPr>
        <p:spPr>
          <a:xfrm>
            <a:off x="1016000" y="2889250"/>
            <a:ext cx="4762500" cy="571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87.599 exemplos, dataset oficial do SQuAD</a:t>
            </a:r>
            <a:endParaRPr lang="en-US" sz="1300" dirty="0"/>
          </a:p>
        </p:txBody>
      </p:sp>
      <p:sp>
        <p:nvSpPr>
          <p:cNvPr id="10" name="Shape 7"/>
          <p:cNvSpPr/>
          <p:nvPr/>
        </p:nvSpPr>
        <p:spPr>
          <a:xfrm>
            <a:off x="6197600" y="1841500"/>
            <a:ext cx="5181600" cy="1714500"/>
          </a:xfrm>
          <a:prstGeom prst="roundRect">
            <a:avLst>
              <a:gd name="adj" fmla="val 5926"/>
            </a:avLst>
          </a:prstGeom>
          <a:solidFill>
            <a:srgbClr val="FFFFFF"/>
          </a:solidFill>
          <a:ln w="12700">
            <a:solidFill>
              <a:srgbClr val="D5DDF0"/>
            </a:solidFill>
            <a:prstDash val="solid"/>
          </a:ln>
        </p:spPr>
      </p:sp>
      <p:sp>
        <p:nvSpPr>
          <p:cNvPr id="11" name="Text 8"/>
          <p:cNvSpPr txBox="1"/>
          <p:nvPr/>
        </p:nvSpPr>
        <p:spPr>
          <a:xfrm>
            <a:off x="6400800" y="1968500"/>
            <a:ext cx="635000" cy="444500"/>
          </a:xfrm>
          <a:prstGeom prst="rect">
            <a:avLst/>
          </a:prstGeom>
          <a:noFill/>
          <a:ln/>
        </p:spPr>
        <p:txBody>
          <a:bodyPr wrap="square" lIns="0" tIns="0" rIns="0" bIns="0" rtlCol="0" anchor="t"/>
          <a:lstStyle/>
          <a:p>
            <a:pPr algn="l" indent="0" marL="0">
              <a:lnSpc>
                <a:spcPct val="110000"/>
              </a:lnSpc>
              <a:buNone/>
            </a:pPr>
            <a:r>
              <a:rPr lang="en-US" sz="2800" b="1" dirty="0">
                <a:solidFill>
                  <a:srgbClr val="9A6410"/>
                </a:solidFill>
                <a:latin typeface="Georgia" pitchFamily="34" charset="0"/>
                <a:ea typeface="Georgia" pitchFamily="34" charset="-122"/>
                <a:cs typeface="Georgia" pitchFamily="34" charset="-120"/>
              </a:rPr>
              <a:t>2</a:t>
            </a:r>
            <a:endParaRPr lang="en-US" sz="2800" dirty="0"/>
          </a:p>
        </p:txBody>
      </p:sp>
      <p:sp>
        <p:nvSpPr>
          <p:cNvPr id="12" name="Text 9"/>
          <p:cNvSpPr txBox="1"/>
          <p:nvPr/>
        </p:nvSpPr>
        <p:spPr>
          <a:xfrm>
            <a:off x="6400800" y="2508250"/>
            <a:ext cx="4762500" cy="317500"/>
          </a:xfrm>
          <a:prstGeom prst="rect">
            <a:avLst/>
          </a:prstGeom>
          <a:noFill/>
          <a:ln/>
        </p:spPr>
        <p:txBody>
          <a:bodyPr wrap="square" lIns="0" tIns="0" rIns="0" bIns="0" rtlCol="0" anchor="t"/>
          <a:lstStyle/>
          <a:p>
            <a:pPr algn="l" indent="0" marL="0">
              <a:lnSpc>
                <a:spcPct val="110000"/>
              </a:lnSpc>
              <a:buNone/>
            </a:pPr>
            <a:r>
              <a:rPr lang="en-US" sz="1700" b="1" dirty="0">
                <a:solidFill>
                  <a:srgbClr val="1E2761"/>
                </a:solidFill>
                <a:latin typeface="Arial" pitchFamily="34" charset="0"/>
                <a:ea typeface="Arial" pitchFamily="34" charset="-122"/>
                <a:cs typeface="Arial" pitchFamily="34" charset="-120"/>
              </a:rPr>
              <a:t>TopicQG</a:t>
            </a:r>
            <a:endParaRPr lang="en-US" sz="1700" dirty="0"/>
          </a:p>
        </p:txBody>
      </p:sp>
      <p:sp>
        <p:nvSpPr>
          <p:cNvPr id="13" name="Text 10"/>
          <p:cNvSpPr txBox="1"/>
          <p:nvPr/>
        </p:nvSpPr>
        <p:spPr>
          <a:xfrm>
            <a:off x="6400800" y="2889250"/>
            <a:ext cx="4762500" cy="571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condicionar a geração por tópico (contrastive learning, MixSQuAD)</a:t>
            </a:r>
            <a:endParaRPr lang="en-US" sz="1300" dirty="0"/>
          </a:p>
        </p:txBody>
      </p:sp>
      <p:sp>
        <p:nvSpPr>
          <p:cNvPr id="14" name="Shape 11"/>
          <p:cNvSpPr/>
          <p:nvPr/>
        </p:nvSpPr>
        <p:spPr>
          <a:xfrm>
            <a:off x="812800" y="3746500"/>
            <a:ext cx="5181600" cy="1714500"/>
          </a:xfrm>
          <a:prstGeom prst="roundRect">
            <a:avLst>
              <a:gd name="adj" fmla="val 5926"/>
            </a:avLst>
          </a:prstGeom>
          <a:solidFill>
            <a:srgbClr val="FFFFFF"/>
          </a:solidFill>
          <a:ln w="12700">
            <a:solidFill>
              <a:srgbClr val="D5DDF0"/>
            </a:solidFill>
            <a:prstDash val="solid"/>
          </a:ln>
        </p:spPr>
      </p:sp>
      <p:sp>
        <p:nvSpPr>
          <p:cNvPr id="15" name="Text 12"/>
          <p:cNvSpPr txBox="1"/>
          <p:nvPr/>
        </p:nvSpPr>
        <p:spPr>
          <a:xfrm>
            <a:off x="1016000" y="3873500"/>
            <a:ext cx="635000" cy="444500"/>
          </a:xfrm>
          <a:prstGeom prst="rect">
            <a:avLst/>
          </a:prstGeom>
          <a:noFill/>
          <a:ln/>
        </p:spPr>
        <p:txBody>
          <a:bodyPr wrap="square" lIns="0" tIns="0" rIns="0" bIns="0" rtlCol="0" anchor="t"/>
          <a:lstStyle/>
          <a:p>
            <a:pPr algn="l" indent="0" marL="0">
              <a:lnSpc>
                <a:spcPct val="110000"/>
              </a:lnSpc>
              <a:buNone/>
            </a:pPr>
            <a:r>
              <a:rPr lang="en-US" sz="2800" b="1" dirty="0">
                <a:solidFill>
                  <a:srgbClr val="9A6410"/>
                </a:solidFill>
                <a:latin typeface="Georgia" pitchFamily="34" charset="0"/>
                <a:ea typeface="Georgia" pitchFamily="34" charset="-122"/>
                <a:cs typeface="Georgia" pitchFamily="34" charset="-120"/>
              </a:rPr>
              <a:t>3</a:t>
            </a:r>
            <a:endParaRPr lang="en-US" sz="2800" dirty="0"/>
          </a:p>
        </p:txBody>
      </p:sp>
      <p:sp>
        <p:nvSpPr>
          <p:cNvPr id="16" name="Text 13"/>
          <p:cNvSpPr txBox="1"/>
          <p:nvPr/>
        </p:nvSpPr>
        <p:spPr>
          <a:xfrm>
            <a:off x="1016000" y="4413250"/>
            <a:ext cx="4762500" cy="317500"/>
          </a:xfrm>
          <a:prstGeom prst="rect">
            <a:avLst/>
          </a:prstGeom>
          <a:noFill/>
          <a:ln/>
        </p:spPr>
        <p:txBody>
          <a:bodyPr wrap="square" lIns="0" tIns="0" rIns="0" bIns="0" rtlCol="0" anchor="t"/>
          <a:lstStyle/>
          <a:p>
            <a:pPr algn="l" indent="0" marL="0">
              <a:lnSpc>
                <a:spcPct val="110000"/>
              </a:lnSpc>
              <a:buNone/>
            </a:pPr>
            <a:r>
              <a:rPr lang="en-US" sz="1700" b="1" dirty="0">
                <a:solidFill>
                  <a:srgbClr val="1E2761"/>
                </a:solidFill>
                <a:latin typeface="Arial" pitchFamily="34" charset="0"/>
                <a:ea typeface="Arial" pitchFamily="34" charset="-122"/>
                <a:cs typeface="Arial" pitchFamily="34" charset="-120"/>
              </a:rPr>
              <a:t>Avaliação final</a:t>
            </a:r>
            <a:endParaRPr lang="en-US" sz="1700" dirty="0"/>
          </a:p>
        </p:txBody>
      </p:sp>
      <p:sp>
        <p:nvSpPr>
          <p:cNvPr id="17" name="Text 14"/>
          <p:cNvSpPr txBox="1"/>
          <p:nvPr/>
        </p:nvSpPr>
        <p:spPr>
          <a:xfrm>
            <a:off x="1016000" y="4794250"/>
            <a:ext cx="4762500" cy="571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comparar com os números reportados no artigo</a:t>
            </a:r>
            <a:endParaRPr lang="en-US" sz="1300" dirty="0"/>
          </a:p>
        </p:txBody>
      </p:sp>
      <p:sp>
        <p:nvSpPr>
          <p:cNvPr id="18" name="Shape 15"/>
          <p:cNvSpPr/>
          <p:nvPr/>
        </p:nvSpPr>
        <p:spPr>
          <a:xfrm>
            <a:off x="6197600" y="3746500"/>
            <a:ext cx="5181600" cy="1714500"/>
          </a:xfrm>
          <a:prstGeom prst="roundRect">
            <a:avLst>
              <a:gd name="adj" fmla="val 5926"/>
            </a:avLst>
          </a:prstGeom>
          <a:solidFill>
            <a:srgbClr val="FFFFFF"/>
          </a:solidFill>
          <a:ln w="12700">
            <a:solidFill>
              <a:srgbClr val="D5DDF0"/>
            </a:solidFill>
            <a:prstDash val="solid"/>
          </a:ln>
        </p:spPr>
      </p:sp>
      <p:sp>
        <p:nvSpPr>
          <p:cNvPr id="19" name="Text 16"/>
          <p:cNvSpPr txBox="1"/>
          <p:nvPr/>
        </p:nvSpPr>
        <p:spPr>
          <a:xfrm>
            <a:off x="6400800" y="3873500"/>
            <a:ext cx="635000" cy="444500"/>
          </a:xfrm>
          <a:prstGeom prst="rect">
            <a:avLst/>
          </a:prstGeom>
          <a:noFill/>
          <a:ln/>
        </p:spPr>
        <p:txBody>
          <a:bodyPr wrap="square" lIns="0" tIns="0" rIns="0" bIns="0" rtlCol="0" anchor="t"/>
          <a:lstStyle/>
          <a:p>
            <a:pPr algn="l" indent="0" marL="0">
              <a:lnSpc>
                <a:spcPct val="110000"/>
              </a:lnSpc>
              <a:buNone/>
            </a:pPr>
            <a:r>
              <a:rPr lang="en-US" sz="2800" b="1" dirty="0">
                <a:solidFill>
                  <a:srgbClr val="9A6410"/>
                </a:solidFill>
                <a:latin typeface="Georgia" pitchFamily="34" charset="0"/>
                <a:ea typeface="Georgia" pitchFamily="34" charset="-122"/>
                <a:cs typeface="Georgia" pitchFamily="34" charset="-120"/>
              </a:rPr>
              <a:t>4</a:t>
            </a:r>
            <a:endParaRPr lang="en-US" sz="2800" dirty="0"/>
          </a:p>
        </p:txBody>
      </p:sp>
      <p:sp>
        <p:nvSpPr>
          <p:cNvPr id="20" name="Text 17"/>
          <p:cNvSpPr txBox="1"/>
          <p:nvPr/>
        </p:nvSpPr>
        <p:spPr>
          <a:xfrm>
            <a:off x="6400800" y="4413250"/>
            <a:ext cx="4762500" cy="317500"/>
          </a:xfrm>
          <a:prstGeom prst="rect">
            <a:avLst/>
          </a:prstGeom>
          <a:noFill/>
          <a:ln/>
        </p:spPr>
        <p:txBody>
          <a:bodyPr wrap="square" lIns="0" tIns="0" rIns="0" bIns="0" rtlCol="0" anchor="t"/>
          <a:lstStyle/>
          <a:p>
            <a:pPr algn="l" indent="0" marL="0">
              <a:lnSpc>
                <a:spcPct val="110000"/>
              </a:lnSpc>
              <a:buNone/>
            </a:pPr>
            <a:r>
              <a:rPr lang="en-US" sz="1700" b="1" dirty="0">
                <a:solidFill>
                  <a:srgbClr val="1E2761"/>
                </a:solidFill>
                <a:latin typeface="Arial" pitchFamily="34" charset="0"/>
                <a:ea typeface="Arial" pitchFamily="34" charset="-122"/>
                <a:cs typeface="Arial" pitchFamily="34" charset="-120"/>
              </a:rPr>
              <a:t>Extensão (opcional)</a:t>
            </a:r>
            <a:endParaRPr lang="en-US" sz="1700" dirty="0"/>
          </a:p>
        </p:txBody>
      </p:sp>
      <p:sp>
        <p:nvSpPr>
          <p:cNvPr id="21" name="Text 18"/>
          <p:cNvSpPr txBox="1"/>
          <p:nvPr/>
        </p:nvSpPr>
        <p:spPr>
          <a:xfrm>
            <a:off x="6400800" y="4794250"/>
            <a:ext cx="4762500" cy="571500"/>
          </a:xfrm>
          <a:prstGeom prst="rect">
            <a:avLst/>
          </a:prstGeom>
          <a:noFill/>
          <a:ln/>
        </p:spPr>
        <p:txBody>
          <a:bodyPr wrap="square" lIns="0" tIns="0" rIns="0" bIns="0" rtlCol="0" anchor="t"/>
          <a:lstStyle/>
          <a:p>
            <a:pPr algn="l" indent="0" marL="0">
              <a:lnSpc>
                <a:spcPct val="110000"/>
              </a:lnSpc>
              <a:buNone/>
            </a:pPr>
            <a:r>
              <a:rPr lang="en-US" sz="1300" dirty="0">
                <a:solidFill>
                  <a:srgbClr val="5C6B8A"/>
                </a:solidFill>
                <a:latin typeface="Arial" pitchFamily="34" charset="0"/>
                <a:ea typeface="Arial" pitchFamily="34" charset="-122"/>
                <a:cs typeface="Arial" pitchFamily="34" charset="-120"/>
              </a:rPr>
              <a:t>comparar com LLMs proprietárias (Claude, GPT, Grok)</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3" name="Text 0"/>
          <p:cNvSpPr txBox="1"/>
          <p:nvPr/>
        </p:nvSpPr>
        <p:spPr>
          <a:xfrm>
            <a:off x="812800" y="1905000"/>
            <a:ext cx="10566400" cy="952500"/>
          </a:xfrm>
          <a:prstGeom prst="rect">
            <a:avLst/>
          </a:prstGeom>
          <a:noFill/>
          <a:ln/>
        </p:spPr>
        <p:txBody>
          <a:bodyPr wrap="square" lIns="0" tIns="0" rIns="0" bIns="0" rtlCol="0" anchor="t"/>
          <a:lstStyle/>
          <a:p>
            <a:pPr algn="l" indent="0" marL="0">
              <a:lnSpc>
                <a:spcPct val="110000"/>
              </a:lnSpc>
              <a:buNone/>
            </a:pPr>
            <a:r>
              <a:rPr lang="en-US" sz="6000" b="1" dirty="0">
                <a:solidFill>
                  <a:srgbClr val="FFFFFF"/>
                </a:solidFill>
                <a:latin typeface="Georgia" pitchFamily="34" charset="0"/>
                <a:ea typeface="Georgia" pitchFamily="34" charset="-122"/>
                <a:cs typeface="Georgia" pitchFamily="34" charset="-120"/>
              </a:rPr>
              <a:t>Obrigado</a:t>
            </a:r>
            <a:endParaRPr lang="en-US" sz="6000" dirty="0"/>
          </a:p>
        </p:txBody>
      </p:sp>
      <p:sp>
        <p:nvSpPr>
          <p:cNvPr id="4" name="Text 1"/>
          <p:cNvSpPr txBox="1"/>
          <p:nvPr/>
        </p:nvSpPr>
        <p:spPr>
          <a:xfrm>
            <a:off x="812800" y="2984500"/>
            <a:ext cx="10566400" cy="508000"/>
          </a:xfrm>
          <a:prstGeom prst="rect">
            <a:avLst/>
          </a:prstGeom>
          <a:noFill/>
          <a:ln/>
        </p:spPr>
        <p:txBody>
          <a:bodyPr wrap="square" lIns="0" tIns="0" rIns="0" bIns="0" rtlCol="0" anchor="t"/>
          <a:lstStyle/>
          <a:p>
            <a:pPr algn="l" indent="0" marL="0">
              <a:lnSpc>
                <a:spcPct val="110000"/>
              </a:lnSpc>
              <a:buNone/>
            </a:pPr>
            <a:r>
              <a:rPr lang="en-US" sz="2800" dirty="0">
                <a:solidFill>
                  <a:srgbClr val="E8A33D"/>
                </a:solidFill>
                <a:latin typeface="Arial" pitchFamily="34" charset="0"/>
                <a:ea typeface="Arial" pitchFamily="34" charset="-122"/>
                <a:cs typeface="Arial" pitchFamily="34" charset="-120"/>
              </a:rPr>
              <a:t>Perguntas?</a:t>
            </a:r>
            <a:endParaRPr lang="en-US" sz="2800" dirty="0"/>
          </a:p>
        </p:txBody>
      </p:sp>
      <p:sp>
        <p:nvSpPr>
          <p:cNvPr id="5" name="Text 2"/>
          <p:cNvSpPr txBox="1"/>
          <p:nvPr/>
        </p:nvSpPr>
        <p:spPr>
          <a:xfrm>
            <a:off x="812800" y="3810000"/>
            <a:ext cx="10566400" cy="317500"/>
          </a:xfrm>
          <a:prstGeom prst="rect">
            <a:avLst/>
          </a:prstGeom>
          <a:noFill/>
          <a:ln/>
        </p:spPr>
        <p:txBody>
          <a:bodyPr wrap="square" lIns="0" tIns="0" rIns="0" bIns="0" rtlCol="0" anchor="t"/>
          <a:lstStyle/>
          <a:p>
            <a:pPr algn="l" indent="0" marL="0">
              <a:lnSpc>
                <a:spcPct val="110000"/>
              </a:lnSpc>
              <a:buNone/>
            </a:pPr>
            <a:r>
              <a:rPr lang="en-US" sz="1500" dirty="0">
                <a:solidFill>
                  <a:srgbClr val="B9C6E8"/>
                </a:solidFill>
                <a:latin typeface="Arial" pitchFamily="34" charset="0"/>
                <a:ea typeface="Arial" pitchFamily="34" charset="-122"/>
                <a:cs typeface="Arial" pitchFamily="34" charset="-120"/>
              </a:rPr>
              <a:t>Tiago Lima Fraga · Inteligência Computacional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T-CQG: Apresentação IC</dc:title>
  <dc:subject>PptxGenJS Presentation</dc:subject>
  <dc:creator>PptxGenJS</dc:creator>
  <cp:lastModifiedBy>PptxGenJS</cp:lastModifiedBy>
  <cp:revision>1</cp:revision>
  <dcterms:created xsi:type="dcterms:W3CDTF">2026-09-30T17:30:49Z</dcterms:created>
  <dcterms:modified xsi:type="dcterms:W3CDTF">2026-09-30T17:30:49Z</dcterms:modified>
</cp:coreProperties>
</file>