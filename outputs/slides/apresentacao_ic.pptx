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5.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perguntas com por quê/como</c:v>
                </c:pt>
              </c:strCache>
            </c:strRef>
          </c:tx>
          <c:spPr>
            <a:solidFill>
              <a:srgbClr val="1E2761"/>
            </a:solidFill>
            <a:effectLst/>
          </c:spPr>
          <c:invertIfNegative val="0"/>
          <c:dLbls>
            <c:numFmt formatCode="0&quot;%&quot;" sourceLinked="0"/>
            <c:txPr>
              <a:bodyPr/>
              <a:lstStyle/>
              <a:p>
                <a:pPr>
                  <a:defRPr b="0" i="0" strike="noStrike" sz="1200" u="none">
                    <a:solidFill>
                      <a:srgbClr val="1A1A2E"/>
                    </a:solidFill>
                    <a:latin typeface="Arial"/>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E8A33D"/>
              </a:solidFill>
              <a:effectLst/>
            </c:spPr>
          </c:dPt>
          <c:cat>
            <c:multiLvlStrRef>
              <c:f>Sheet1!$A$2:$A$3</c:f>
              <c:multiLvlStrCache>
                <c:ptCount val="2"/>
                <c:lvl>
                  <c:pt idx="0">
                    <c:v>SQuAD</c:v>
                  </c:pt>
                  <c:pt idx="1">
                    <c:v>LearningQ</c:v>
                  </c:pt>
                </c:lvl>
              </c:multiLvlStrCache>
            </c:multiLvlStrRef>
          </c:cat>
          <c:val>
            <c:numRef>
              <c:f>Sheet1!$B$2:$B$3</c:f>
              <c:numCache>
                <c:formatCode>General</c:formatCode>
                <c:ptCount val="2"/>
                <c:pt idx="0">
                  <c:v>12.3</c:v>
                </c:pt>
                <c:pt idx="1">
                  <c:v>37.5</c:v>
                </c:pt>
              </c:numCache>
            </c:numRef>
          </c:val>
        </c:ser>
        <c:dLbls>
          <c:numFmt formatCode="0&quot;%&quot;" sourceLinked="0"/>
          <c:txPr>
            <a:bodyPr/>
            <a:lstStyle/>
            <a:p>
              <a:pPr>
                <a:defRPr b="0" i="0" strike="noStrike" sz="1200" u="none">
                  <a:solidFill>
                    <a:srgbClr val="1A1A2E"/>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das perguntas</c:v>
                </c:pt>
              </c:strCache>
            </c:strRef>
          </c:tx>
          <c:spPr>
            <a:solidFill>
              <a:srgbClr val="1E2761"/>
            </a:solidFill>
            <a:effectLst/>
          </c:spPr>
          <c:invertIfNegative val="0"/>
          <c:dLbls>
            <c:numFmt formatCode="0.0&quot;%&quot;" sourceLinked="0"/>
            <c:txPr>
              <a:bodyPr/>
              <a:lstStyle/>
              <a:p>
                <a:pPr>
                  <a:defRPr b="0" i="0" strike="noStrike" sz="1050" u="none">
                    <a:solidFill>
                      <a:srgbClr val="1A1A2E"/>
                    </a:solidFill>
                    <a:latin typeface="Arial"/>
                  </a:defRPr>
                </a:pPr>
              </a:p>
            </c:txPr>
            <c:showLegendKey val="0"/>
            <c:showVal val="1"/>
            <c:showCatName val="0"/>
            <c:showSerName val="0"/>
            <c:showPercent val="0"/>
            <c:showBubbleSize val="0"/>
            <c:showLeaderLines val="0"/>
          </c:dLbls>
          <c:cat>
            <c:multiLvlStrRef>
              <c:f>Sheet1!$A$2:$A$9</c:f>
              <c:multiLvlStrCache>
                <c:ptCount val="8"/>
                <c:lvl>
                  <c:pt idx="0">
                    <c:v>What</c:v>
                  </c:pt>
                  <c:pt idx="1">
                    <c:v>Outras</c:v>
                  </c:pt>
                  <c:pt idx="2">
                    <c:v>Who</c:v>
                  </c:pt>
                  <c:pt idx="3">
                    <c:v>How</c:v>
                  </c:pt>
                  <c:pt idx="4">
                    <c:v>When</c:v>
                  </c:pt>
                  <c:pt idx="5">
                    <c:v>Which</c:v>
                  </c:pt>
                  <c:pt idx="6">
                    <c:v>Where</c:v>
                  </c:pt>
                  <c:pt idx="7">
                    <c:v>Why</c:v>
                  </c:pt>
                </c:lvl>
              </c:multiLvlStrCache>
            </c:multiLvlStrRef>
          </c:cat>
          <c:val>
            <c:numRef>
              <c:f>Sheet1!$B$2:$B$9</c:f>
              <c:numCache>
                <c:formatCode>General</c:formatCode>
                <c:ptCount val="8"/>
                <c:pt idx="0">
                  <c:v>42.9</c:v>
                </c:pt>
                <c:pt idx="1">
                  <c:v>21</c:v>
                </c:pt>
                <c:pt idx="2">
                  <c:v>9.3</c:v>
                </c:pt>
                <c:pt idx="3">
                  <c:v>9.3</c:v>
                </c:pt>
                <c:pt idx="4">
                  <c:v>6.2</c:v>
                </c:pt>
                <c:pt idx="5">
                  <c:v>4.7</c:v>
                </c:pt>
                <c:pt idx="6">
                  <c:v>3.8</c:v>
                </c:pt>
                <c:pt idx="7">
                  <c:v>1.4</c:v>
                </c:pt>
              </c:numCache>
            </c:numRef>
          </c:val>
        </c:ser>
        <c:dLbls>
          <c:numFmt formatCode="0.0&quot;%&quot;" sourceLinked="0"/>
          <c:txPr>
            <a:bodyPr/>
            <a:lstStyle/>
            <a:p>
              <a:pPr>
                <a:defRPr b="0" i="0" strike="noStrike" sz="1050" u="none">
                  <a:solidFill>
                    <a:srgbClr val="1A1A2E"/>
                  </a:solidFill>
                  <a:latin typeface="Arial"/>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das perguntas</c:v>
                </c:pt>
              </c:strCache>
            </c:strRef>
          </c:tx>
          <c:spPr>
            <a:solidFill>
              <a:srgbClr val="E8A33D"/>
            </a:solidFill>
            <a:effectLst/>
          </c:spPr>
          <c:invertIfNegative val="0"/>
          <c:dLbls>
            <c:numFmt formatCode="0.0&quot;%&quot;" sourceLinked="0"/>
            <c:txPr>
              <a:bodyPr/>
              <a:lstStyle/>
              <a:p>
                <a:pPr>
                  <a:defRPr b="0" i="0" strike="noStrike" sz="1050" u="none">
                    <a:solidFill>
                      <a:srgbClr val="1A1A2E"/>
                    </a:solidFill>
                    <a:latin typeface="Arial"/>
                  </a:defRPr>
                </a:pPr>
              </a:p>
            </c:txPr>
            <c:showLegendKey val="0"/>
            <c:showVal val="1"/>
            <c:showCatName val="0"/>
            <c:showSerName val="0"/>
            <c:showPercent val="0"/>
            <c:showBubbleSize val="0"/>
            <c:showLeaderLines val="0"/>
          </c:dLbls>
          <c:cat>
            <c:multiLvlStrRef>
              <c:f>Sheet1!$A$2:$A$9</c:f>
              <c:multiLvlStrCache>
                <c:ptCount val="8"/>
                <c:lvl>
                  <c:pt idx="0">
                    <c:v>What</c:v>
                  </c:pt>
                  <c:pt idx="1">
                    <c:v>Outras</c:v>
                  </c:pt>
                  <c:pt idx="2">
                    <c:v>Who</c:v>
                  </c:pt>
                  <c:pt idx="3">
                    <c:v>How</c:v>
                  </c:pt>
                  <c:pt idx="4">
                    <c:v>When</c:v>
                  </c:pt>
                  <c:pt idx="5">
                    <c:v>Which</c:v>
                  </c:pt>
                  <c:pt idx="6">
                    <c:v>Where</c:v>
                  </c:pt>
                  <c:pt idx="7">
                    <c:v>Why</c:v>
                  </c:pt>
                </c:lvl>
              </c:multiLvlStrCache>
            </c:multiLvlStrRef>
          </c:cat>
          <c:val>
            <c:numRef>
              <c:f>Sheet1!$B$2:$B$9</c:f>
              <c:numCache>
                <c:formatCode>General</c:formatCode>
                <c:ptCount val="8"/>
                <c:pt idx="0">
                  <c:v>15.5</c:v>
                </c:pt>
                <c:pt idx="1">
                  <c:v>36</c:v>
                </c:pt>
                <c:pt idx="2">
                  <c:v>0.3</c:v>
                </c:pt>
                <c:pt idx="3">
                  <c:v>14.8</c:v>
                </c:pt>
                <c:pt idx="4">
                  <c:v>2.3</c:v>
                </c:pt>
                <c:pt idx="5">
                  <c:v>0.3</c:v>
                </c:pt>
                <c:pt idx="6">
                  <c:v>1</c:v>
                </c:pt>
                <c:pt idx="7">
                  <c:v>11</c:v>
                </c:pt>
              </c:numCache>
            </c:numRef>
          </c:val>
        </c:ser>
        <c:dLbls>
          <c:numFmt formatCode="0.0&quot;%&quot;" sourceLinked="0"/>
          <c:txPr>
            <a:bodyPr/>
            <a:lstStyle/>
            <a:p>
              <a:pPr>
                <a:defRPr b="0" i="0" strike="noStrike" sz="1050" u="none">
                  <a:solidFill>
                    <a:srgbClr val="1A1A2E"/>
                  </a:solidFill>
                  <a:latin typeface="Arial"/>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max val="4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tokens médios</c:v>
                </c:pt>
              </c:strCache>
            </c:strRef>
          </c:tx>
          <c:spPr>
            <a:solidFill>
              <a:srgbClr val="1E2761"/>
            </a:solidFill>
            <a:effectLst/>
          </c:spPr>
          <c:invertIfNegative val="0"/>
          <c:dLbls>
            <c:numFmt formatCode="#,##0" sourceLinked="0"/>
            <c:txPr>
              <a:bodyPr/>
              <a:lstStyle/>
              <a:p>
                <a:pPr>
                  <a:defRPr b="0" i="0" strike="noStrike" sz="1200" u="none">
                    <a:solidFill>
                      <a:srgbClr val="1A1A2E"/>
                    </a:solidFill>
                    <a:latin typeface="Arial"/>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E8A33D"/>
              </a:solidFill>
              <a:effectLst/>
            </c:spPr>
          </c:dPt>
          <c:cat>
            <c:multiLvlStrRef>
              <c:f>Sheet1!$A$2:$A$3</c:f>
              <c:multiLvlStrCache>
                <c:ptCount val="2"/>
                <c:lvl>
                  <c:pt idx="0">
                    <c:v>SQuAD</c:v>
                  </c:pt>
                  <c:pt idx="1">
                    <c:v>LearningQ</c:v>
                  </c:pt>
                </c:lvl>
              </c:multiLvlStrCache>
            </c:multiLvlStrRef>
          </c:cat>
          <c:val>
            <c:numRef>
              <c:f>Sheet1!$B$2:$B$3</c:f>
              <c:numCache>
                <c:formatCode>General</c:formatCode>
                <c:ptCount val="2"/>
                <c:pt idx="0">
                  <c:v>176</c:v>
                </c:pt>
                <c:pt idx="1">
                  <c:v>2289</c:v>
                </c:pt>
              </c:numCache>
            </c:numRef>
          </c:val>
        </c:ser>
        <c:dLbls>
          <c:numFmt formatCode="#,##0" sourceLinked="0"/>
          <c:txPr>
            <a:bodyPr/>
            <a:lstStyle/>
            <a:p>
              <a:pPr>
                <a:defRPr b="0" i="0" strike="noStrike" sz="1200" u="none">
                  <a:solidFill>
                    <a:srgbClr val="1A1A2E"/>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eval_loss</c:v>
                </c:pt>
              </c:strCache>
            </c:strRef>
          </c:tx>
          <c:spPr>
            <a:solidFill>
              <a:srgbClr val="E8A33D"/>
            </a:solidFill>
            <a:ln w="38100" cap="flat">
              <a:solidFill>
                <a:srgbClr val="E8A33D"/>
              </a:solidFill>
              <a:prstDash val="solid"/>
              <a:round/>
            </a:ln>
            <a:effectLst/>
          </c:spPr>
          <c:invertIfNegative val="0"/>
          <c:dLbls>
            <c:numFmt formatCode="0.000" sourceLinked="0"/>
            <c:txPr>
              <a:bodyPr/>
              <a:lstStyle/>
              <a:p>
                <a:pPr>
                  <a:defRPr b="0" i="0" strike="noStrike" sz="1200" u="none">
                    <a:solidFill>
                      <a:srgbClr val="1A1A2E"/>
                    </a:solidFill>
                    <a:latin typeface="Arial"/>
                  </a:defRPr>
                </a:pPr>
              </a:p>
            </c:txPr>
            <c:dLblPos val="t"/>
            <c:showLegendKey val="0"/>
            <c:showVal val="1"/>
            <c:showCatName val="0"/>
            <c:showSerName val="0"/>
            <c:showPercent val="0"/>
            <c:showBubbleSize val="0"/>
            <c:showLeaderLines val="0"/>
          </c:dLbls>
          <c:marker>
            <c:symbol val="circle"/>
            <c:size val="7"/>
            <c:spPr>
              <a:solidFill>
                <a:srgbClr val="E8A33D"/>
              </a:solidFill>
              <a:ln w="9525" cap="flat">
                <a:solidFill>
                  <a:srgbClr val="E8A33D"/>
                </a:solidFill>
                <a:prstDash val="solid"/>
                <a:round/>
              </a:ln>
              <a:effectLst/>
            </c:spPr>
          </c:marker>
          <c:cat>
            <c:multiLvlStrRef>
              <c:f>Sheet1!$A$2:$A$4</c:f>
              <c:multiLvlStrCache>
                <c:ptCount val="3"/>
                <c:lvl>
                  <c:pt idx="0">
                    <c:v>Época 1</c:v>
                  </c:pt>
                  <c:pt idx="1">
                    <c:v>Época 2</c:v>
                  </c:pt>
                  <c:pt idx="2">
                    <c:v>Época 3</c:v>
                  </c:pt>
                </c:lvl>
              </c:multiLvlStrCache>
            </c:multiLvlStrRef>
          </c:cat>
          <c:val>
            <c:numRef>
              <c:f>Sheet1!$B$2:$B$4</c:f>
              <c:numCache>
                <c:formatCode>General</c:formatCode>
                <c:ptCount val="3"/>
                <c:pt idx="0">
                  <c:v>2.005</c:v>
                </c:pt>
                <c:pt idx="1">
                  <c:v>1.935</c:v>
                </c:pt>
                <c:pt idx="2">
                  <c:v>1.929</c:v>
                </c:pt>
              </c:numCache>
            </c:numRef>
          </c:val>
          <c:smooth val="0"/>
        </c:ser>
        <c:dLbls>
          <c:numFmt formatCode="0.000" sourceLinked="0"/>
          <c:txPr>
            <a:bodyPr/>
            <a:lstStyle/>
            <a:p>
              <a:pPr>
                <a:defRPr b="0" i="0" strike="noStrike" sz="1200" u="none">
                  <a:solidFill>
                    <a:srgbClr val="1A1A2E"/>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8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8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apresentando o projeto: reprodução do T-CQG, um modelo que gera perguntas focadas em um tópico a partir de um contexto. Hoje mostro o progresso da etapa baseline (sem tópico ainda) e o que descobrimos no caminho.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SQuAD são perguntas sobre artigos da Wikipédia, que já usamos pra treinar. LearningQ são perguntas reais de alunos do Khan Academy. LearningQ tem cerca de três vezes mais perguntas contendo 'por quê' ou 'como' -- é candidato a fonte de dados pra próxima etapa, o TopicQG.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sozinho já domina 43% das perguntas do SQuAD -- perfil fechado, factual. O truncamento em 512 tokens praticamente não perde dado: só 0,26% dos contextos passam do limite. E cada parágrafo gera em média 4,6 perguntas -- 87.599 perguntas para 18.891 parágrafos únicos -- foi exatamente essa repetição que motivou dividir o dataset por artigo, não por linha, mais adiante: se duas perguntas sobre o mesmo parágrafo caíssem uma no treino e outra na validação, o modelo estaria sendo avaliado em texto que já viu.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Mesma escala do slide anterior, 0 a 45%, pra comparar de cabeça. Diferente do SQuAD, que é dominado por 'What', o LearningQ é dominado por perguntas que não começam com um wh-word clássico -- 'Outras', 36%, frequentemente multi-cláusula, tipo 'so the pancreas is part of both..., right?'. E tem muito mais 'Why' e 'How' -- juntando as duas categorias em qualquer posição da frase, não só no início, 37,5% das perguntas do LearningQ contêm 'por quê' ou 'como', contra 12,3% no SQuAD. Isso é justamente o que motivou olhar pro LearningQ como candidato de dados pro TopicQG: perguntas mais abertas, mais parecidas com o que um aluno de verdade perguntaria. Vale notar: como o LearningQ não tem resposta anotada, ele não serve pro baseline atual, que já usa o SQuAD -- mas é uma fonte candidata pra próxima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estão duas linhas reais dos dois datasets. No SQuAD, a resposta é um trecho copiado literalmente do texto -- isso é o que torna as perguntas fechadas. No LearningQ não tem resposta anotada: a pergunta busca entendimento, não aponta pra um fato específico.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contexto bruto do LearningQ é a transcrição inteira da aula em vídeo -- por isso quase toda ela, 97,8%, ultrapassaria o limite de 512 tokens do encoder. Por isso, se usarmos o LearningQ, o campo certo pra treinar é o 'questionsrc': só o trecho específico da transcrição que originou a pergunta, com média de 66 palavras e apenas 0,9% truncado -- não a aula inteira.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partição aleatória por pergunta deixaria o mesmo parágrafo aparecer no treino e na validação, só que com perguntas diferentes -- isso é uma fuga de informação sutil. Dividindo por artigo, cada um fica inteiramente de um lado só, do mesmo jeito que o SQuAD já separa oficialmente treino e validação: 442 artigos contra 48, completamente disjuntos.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falar de Transformer, vale lembrar o que é uma rede neural no nível mais básico -- e, em vez de um exemplo genérico, vale já mostrar uma peça real do T5: a Feed-Forward. É uma sequência de camadas de neurônios artificiais. Cada neurônio recebe várias entradas, cada uma multiplicada por um peso; soma tudo, soma um viés, e passa o resultado por uma função de ativação, que introduz não-linearidade -- sem isso, empilhar camadas seria matematicamente equivalente a uma única camada linear. Numa camada densa, ou totalmente conectada, todo neurônio de uma camada se conecta a todos os neurônios da camada seguinte -- são essas conexões, esses pesos, que o treino ajusta via backpropagation para minimizar o erro do modelo. O desenho aqui já é a Feed-Forward de verdade: ela expande cada vetor de 512 para 2048 dimensões -- por isso a camada oculta é desenhada mais larga, com mais neurônios -- e depois volta pra 512, exatamente o que vamos ver no slide 12. O Transformer inteiro, que vemos no próximo slide, é construído com esse tipo de camada -- tanto a attention quanto o feed-forward são, no fundo, redes densas como essa, só organizadas de um jeito específico.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Essa é a mesma linguagem visual da rede neural do slide anterior, mas aplicada à Self-Attention. Aqui não há uma camada oculta expandindo dimensão -- a entrada e a saída são a mesma frase, e cada linha entre uma palavra de entrada e uma de saída é um peso de atenção, calculado a partir de Query (da palavra de saída) e Key (da palavra de entrada), via produto escalar, normalizado por softmax pra somar 1. Diferente da Feed-Forward, onde os pesos ficam fixos depois do treino, aqui os pesos são recalculados pra cada frase nova -- são dinâmicos. No exemplo clássico 'o animal não atravessou a rua porque estava cansado', pra saber a quem 'estava' se refere, o modelo precisa que a saída de 'estava' preste muita atenção à entrada 'animal' -- é exatamente a linha destacada no desenho. Isso é o que dá ao Transformer a capacidade de resolver dependências de longo alcance no texto, em paralelo, sem precisar processar palavra por palavra em ordem.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Cross-Attention usa a mesma matemática da self-attention -- Query, Key, Value, produto escalar, softmax -- mas agora a Query vem do decoder, a pergunta sendo escrita, e a Key e a Value vêm da saída do encoder, o texto já lido. Por isso o desenho tem duas sequências diferentes, de tamanhos diferentes: a saída do encoder, mais longa, e a pergunta sendo gerada, mais curta. Cada palavra da pergunta consulta todas as posições do texto original pra decidir o que copiar ou parafrasear. No exemplo, que é o mesmo do slide de execução passo a passo, quando o decoder está gerando a palavra 'photosynthesis', ele precisa prestar muita atenção à palavra 'Photosynthesis' no texto original -- essa é a linha destacada. Sem essa camada, o decoder não teria nenhuma forma de consultar o que o encoder leu; ele só saberia o que já escreveu até agora.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entrar nos detalhes do T5, vale explicar o que é um Transformer. É a arquitetura de rede neural introduzida em 2017 no artigo 'Attention Is All You Need', que processa a sequência inteira em paralelo usando um mecanismo chamado attention, em vez de ler palavra por palavra em ordem como as RNNs e LSTMs antigas faziam. Isso torna o treino muito mais rápido e captura dependências de longo alcance no texto. A partir dessa arquitetura base, surgiram três famílias de modelos: modelos só-encoder, como o BERT, que entendem o texto mas não geram; modelos só-decoder, como o GPT, que geram texto token a token; e modelos encoder-decoder, como o T5, que primeiro leem o texto com o encoder e depois escrevem a saída com o decoder. Geração de perguntas precisa das duas coisas: entender o contexto e escrever algo novo. Por isso o T5 é a escolha natural — e é exatamente essa arquitetura que o próximo slide detalha.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T5-small é um encoder-decoder, com 6 camadas idênticas empilhadas de cada lado. Uma coisa importante: self-attention, cross-attention e feed-forward são todas redes neurais de verdade, com matrizes de pesos que são ajustadas durante o treino -- não são fórmulas fixas. A attention calcula, a partir de camadas densas (Query, Key, Value), o quanto cada palavra deve 'olhar' as outras; esses pesos é que são aprendidos. Cada camada do encoder tem duas partes: essa self-attention, e uma feed-forward. A feed-forward é o complemento da attention: enquanto a attention mistura informação ENTRE as palavras, a feed-forward é outra rede neural, com duas camadas lineares e uma não-linearidade no meio, que processa cada posição sozinha, sem olhar as outras -- no T5-small ela expande cada vetor de 512 para 2048 dimensões e depois volta pra 512, dando ao modelo capacidade extra de transformar o que a attention acabou de juntar. O decoder tem uma parte a mais: além da self-attention (só sobre o que já foi gerado) e da feed-forward, ele tem cross-attention, outra camada neural, que consulta a representação que o encoder produziu pra decidir a próxima palavra da pergunta. Tudo isso com cerca de 60 milhões de parâmetros -- ou seja, 60 milhões de pesos aprendidos nessas redes -- e o encoder e o decoder compartilham o mesmo dicionário de embeddings.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 é um exemplo real passando pelo modelo treinado. Tokenizamos o texto, passamos pelo encoder, e o decoder gera a pergunta token a token. Greedy sempre escolhe a opção mais óbvia a cada passo e dá uma pergunta mais genérica. Beam search, que é o que o modelo usa de fato, testa várias opções antes de decidir e chega numa pergunta mais alinhada ao conteúdo.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Essas são as mesmas 5 métricas automáticas que o artigo usa pro baseline. Na etapa de TopicQG, que é o próximo passo, entram também BERTScore e WikiSemRel -- métricas de relevância ao tópico que o artigo valida contra anotação humana, com Kappa de Fleiss de 0,933.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artigo treina com os 87.599 exemplos oficiais por até 50 épocas. Nessa GPU de 4GB, isso levaria cerca de 150 horas. Mantivemos o otimizador, a taxa de aprendizado e o batch efetivo do artigo -- só reduzimos o número de épocas e o tamanho do subconjunto preliminar por orçamento de tempo e hardware, com early stopping monitorando o processo automaticamente.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ideia aqui é explicar o porquê de IA de cada escolha, não só o valor copiado do artigo, e de um jeito simples. O AdamW guarda um histórico de como cada peso do modelo tem se movido, e usa isso pra decidir o tamanho do próximo passo daquele peso especificamente -- pesos com sinal mais instável avançam com mais cautela. A alternativa Adafactor, usada no T5 original, faz algo parecido gastando menos memória; SGD é mais simples, mas sem esse ajuste fino, aprende bem mais devagar. A learning rate de 1e-3 parece alta pra quem está acostumado com BERT, que usa algo como 2e-5 a 5e-5 -- mas o T5 foi desenhado pra dar passos grandes; com uma taxa baixa, ele aprenderia devagar demais. fp16 usa números mais leves, o que acelera as contas na GPU, mas esses números cobrem uma faixa de valores menor -- e isso pode causar instabilidade logo no início do treino. É esse risco que o warm-up resolve: começando com uma taxa de aprendizado bem pequena e subindo aos poucos nos primeiros 10% dos passos, evitamos desestabilizar o modelo enquanto ele ainda está 'cego'. O artigo não precisa de warm-up porque não usa fp16.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Esses cinco também têm um porquê de IA simples por trás, não só orçamento. Quanto mais exemplos o modelo vê antes de ajustar os pesos, mais confiável fica a média de 'pra onde mudar' -- exemplos estranhos se cancelam entre si. Como a GPU não aceita 64 exemplos de uma vez, juntamos o aprendizado de 4 rodadas de 16 antes de atualizar os pesos uma única vez -- no fim, dá no mesmo que ter usado 64 de uma vez. Os limites de 512 e 128 tokens definem o quanto de texto o encoder e o decoder conseguem ver e escrever de uma vez; o que passa disso, o modelo nunca chega a saber que existia. O teto de 5 épocas com early stopping existe porque treinar demais tem um efeito conhecido: depois de um certo ponto, o modelo para de aprender de verdade e começa a decorar os exemplos de treino -- isso é o overfitting. Por isso a gente checa, a cada época, se ele ainda está melhorando em exemplos que nunca viu, com paciência de 3 checagens antes de desistir. Preferimos essa checagem (eval_loss) a medir a qualidade da pergunta gerada de fato porque é bem mais rápida de calcular, mesmo sendo uma medida mais indireta. E a seed 42 trava a 'sorte' do sorteio dos dados e dos pesos iniciais, pra garantir que repetir o treino dá o mesmo resultado -- sem isso, não saberíamos se uma mudança veio do ajuste que fizemos ou só do acaso.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Esses números de BLEU/ROUGE/METEOR/F1 são de um checkpoint parcial, com 7.600 exemplos e 3 épocas, avaliado no conjunto de validação completo do SQuAD. São naturalmente mais baixos que os do artigo, porque o objetivo aqui é validar que o pipeline funciona, não bater os valores finais. O exemplo mostra que o modelo já gera perguntas gramaticais e sobre o tópico certo, mesmo divergindo da referência. Em paralelo, o treino completo com o dataset oficial (87.599 exemplos) está rodando, e a perda de validação já caiu de 2,005 na época 1 pra 1,935 na época 2 e 1,929 na época 3 -- a curva está desacelerando, sinal de que o modelo está se aproximando de um platô nesse regime de hiperparâmetros.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próximos passos são: terminar o treino completo, implementar o TopicQG condicionando a geração por tópico, fazer a avaliação final comparando com os números do artigo e, se der tempo, comparar com LLMs proprietárias como extensão opcional.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Agradecer e abrir para perguntas.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418320" y="4389120"/>
            <a:ext cx="2377440" cy="2377440"/>
          </a:xfrm>
          <a:prstGeom prst="ellipse">
            <a:avLst/>
          </a:prstGeom>
          <a:ln w="15875">
            <a:solidFill>
              <a:srgbClr val="CADCFC">
                <a:alpha val="45000"/>
              </a:srgbClr>
            </a:solidFill>
            <a:prstDash val="solid"/>
          </a:ln>
        </p:spPr>
      </p:sp>
      <p:sp>
        <p:nvSpPr>
          <p:cNvPr id="3" name="Shape 1"/>
          <p:cNvSpPr/>
          <p:nvPr/>
        </p:nvSpPr>
        <p:spPr>
          <a:xfrm>
            <a:off x="9738360" y="4709160"/>
            <a:ext cx="1737360" cy="1737360"/>
          </a:xfrm>
          <a:prstGeom prst="ellipse">
            <a:avLst/>
          </a:prstGeom>
          <a:ln w="15875">
            <a:solidFill>
              <a:srgbClr val="CADCFC">
                <a:alpha val="75000"/>
              </a:srgbClr>
            </a:solidFill>
            <a:prstDash val="solid"/>
          </a:ln>
        </p:spPr>
      </p:sp>
      <p:sp>
        <p:nvSpPr>
          <p:cNvPr id="4" name="Shape 2"/>
          <p:cNvSpPr/>
          <p:nvPr/>
        </p:nvSpPr>
        <p:spPr>
          <a:xfrm>
            <a:off x="10058400" y="5029200"/>
            <a:ext cx="1097280" cy="1097280"/>
          </a:xfrm>
          <a:prstGeom prst="ellipse">
            <a:avLst/>
          </a:prstGeom>
          <a:ln w="15875">
            <a:solidFill>
              <a:srgbClr val="CADCFC">
                <a:alpha val="75000"/>
              </a:srgbClr>
            </a:solidFill>
            <a:prstDash val="solid"/>
          </a:ln>
        </p:spPr>
      </p:sp>
      <p:sp>
        <p:nvSpPr>
          <p:cNvPr id="5" name="Text 3"/>
          <p:cNvSpPr txBox="1"/>
          <p:nvPr/>
        </p:nvSpPr>
        <p:spPr>
          <a:xfrm>
            <a:off x="548640" y="1965960"/>
            <a:ext cx="8229600" cy="32004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INTELIGÊNCIA COMPUTACIONAL · SET 2026</a:t>
            </a:r>
            <a:endParaRPr lang="en-US" sz="1300" dirty="0"/>
          </a:p>
        </p:txBody>
      </p:sp>
      <p:sp>
        <p:nvSpPr>
          <p:cNvPr id="6" name="Text 4"/>
          <p:cNvSpPr txBox="1"/>
          <p:nvPr/>
        </p:nvSpPr>
        <p:spPr>
          <a:xfrm>
            <a:off x="548640" y="2331720"/>
            <a:ext cx="8778240" cy="1828800"/>
          </a:xfrm>
          <a:prstGeom prst="rect">
            <a:avLst/>
          </a:prstGeom>
          <a:noFill/>
          <a:ln/>
        </p:spPr>
        <p:txBody>
          <a:bodyPr wrap="square" lIns="0" tIns="0" rIns="0" bIns="0" rtlCol="0" anchor="ctr"/>
          <a:lstStyle/>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T-CQG: Geração de Perguntas</a:t>
            </a:r>
            <a:endParaRPr lang="en-US" sz="4200" dirty="0"/>
          </a:p>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com Tópico Controlado</a:t>
            </a:r>
            <a:endParaRPr lang="en-US" sz="4200" dirty="0"/>
          </a:p>
        </p:txBody>
      </p:sp>
      <p:sp>
        <p:nvSpPr>
          <p:cNvPr id="7" name="Text 5"/>
          <p:cNvSpPr txBox="1"/>
          <p:nvPr/>
        </p:nvSpPr>
        <p:spPr>
          <a:xfrm>
            <a:off x="548640" y="4160520"/>
            <a:ext cx="8412480" cy="45720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Reprodução do artigo de Li, Cukurova &amp; Bulathwela — LAK 2025</a:t>
            </a:r>
            <a:endParaRPr lang="en-US" sz="1800" dirty="0"/>
          </a:p>
        </p:txBody>
      </p:sp>
      <p:sp>
        <p:nvSpPr>
          <p:cNvPr id="8" name="Text 6"/>
          <p:cNvSpPr txBox="1"/>
          <p:nvPr/>
        </p:nvSpPr>
        <p:spPr>
          <a:xfrm>
            <a:off x="548640" y="5943600"/>
            <a:ext cx="5486400"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Tiago Lima Fraga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DESDE A PROPOSTA</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Recapitulando, rapidamente</a:t>
            </a:r>
            <a:endParaRPr lang="en-US" sz="3200" dirty="0"/>
          </a:p>
        </p:txBody>
      </p:sp>
      <p:sp>
        <p:nvSpPr>
          <p:cNvPr id="4" name="Shape 2"/>
          <p:cNvSpPr/>
          <p:nvPr/>
        </p:nvSpPr>
        <p:spPr>
          <a:xfrm>
            <a:off x="548640" y="2148840"/>
            <a:ext cx="411480" cy="411480"/>
          </a:xfrm>
          <a:prstGeom prst="ellipse">
            <a:avLst/>
          </a:prstGeom>
          <a:solidFill>
            <a:srgbClr val="1E2761"/>
          </a:solidFill>
          <a:ln/>
        </p:spPr>
      </p:sp>
      <p:sp>
        <p:nvSpPr>
          <p:cNvPr id="5" name="Text 3"/>
          <p:cNvSpPr txBox="1"/>
          <p:nvPr/>
        </p:nvSpPr>
        <p:spPr>
          <a:xfrm>
            <a:off x="548640" y="21488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70432" y="2103120"/>
            <a:ext cx="10332720" cy="91440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Dado um contexto e um tópico, o modelo gera uma pergunta focada nele. Usa o T5-small, um modelo de linguagem compacto (~60M parâmetros) — não depende de serviços pagos como ChatGPT ou Claude</a:t>
            </a:r>
            <a:endParaRPr lang="en-US" sz="1400" dirty="0"/>
          </a:p>
        </p:txBody>
      </p:sp>
      <p:sp>
        <p:nvSpPr>
          <p:cNvPr id="7" name="Shape 5"/>
          <p:cNvSpPr/>
          <p:nvPr/>
        </p:nvSpPr>
        <p:spPr>
          <a:xfrm>
            <a:off x="548640" y="3154680"/>
            <a:ext cx="411480" cy="411480"/>
          </a:xfrm>
          <a:prstGeom prst="ellipse">
            <a:avLst/>
          </a:prstGeom>
          <a:solidFill>
            <a:srgbClr val="1E2761"/>
          </a:solidFill>
          <a:ln/>
        </p:spPr>
      </p:sp>
      <p:sp>
        <p:nvSpPr>
          <p:cNvPr id="8" name="Text 6"/>
          <p:cNvSpPr txBox="1"/>
          <p:nvPr/>
        </p:nvSpPr>
        <p:spPr>
          <a:xfrm>
            <a:off x="548640" y="31546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170432" y="3108960"/>
            <a:ext cx="10332720" cy="91440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Já reproduzimos o baseline: a versão simples do modelo, ainda sem tópico, usada como ponto de comparação — é o que detalhamos a partir daqui</a:t>
            </a:r>
            <a:endParaRPr lang="en-US" sz="1400" dirty="0"/>
          </a:p>
        </p:txBody>
      </p:sp>
      <p:sp>
        <p:nvSpPr>
          <p:cNvPr id="10" name="Text 8"/>
          <p:cNvSpPr txBox="1"/>
          <p:nvPr/>
        </p:nvSpPr>
        <p:spPr>
          <a:xfrm>
            <a:off x="548640" y="4279392"/>
            <a:ext cx="91440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Novidade desde a proposta: comparamos dois bancos de perguntas</a:t>
            </a:r>
            <a:endParaRPr lang="en-US" sz="1300" dirty="0"/>
          </a:p>
        </p:txBody>
      </p:sp>
      <p:graphicFrame>
        <p:nvGraphicFramePr>
          <p:cNvPr id="11" name="Chart 0" descr=""/>
          <p:cNvGraphicFramePr/>
          <p:nvPr/>
        </p:nvGraphicFramePr>
        <p:xfrm>
          <a:off x="548640" y="4663440"/>
          <a:ext cx="4846320" cy="160020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6126480" y="4846320"/>
            <a:ext cx="5486400" cy="731520"/>
          </a:xfrm>
          <a:prstGeom prst="rect">
            <a:avLst/>
          </a:prstGeom>
          <a:noFill/>
          <a:ln/>
        </p:spPr>
        <p:txBody>
          <a:bodyPr wrap="square" lIns="0" tIns="0" rIns="0" bIns="0" rtlCol="0" anchor="t"/>
          <a:lstStyle/>
          <a:p>
            <a:pPr indent="0" marL="0">
              <a:buNone/>
            </a:pPr>
            <a:r>
              <a:rPr lang="en-US" sz="1500" i="1" dirty="0">
                <a:solidFill>
                  <a:srgbClr val="1A1A2E"/>
                </a:solidFill>
                <a:latin typeface="Calibri" pitchFamily="34" charset="0"/>
                <a:ea typeface="Calibri" pitchFamily="34" charset="-122"/>
                <a:cs typeface="Calibri" pitchFamily="34" charset="-120"/>
              </a:rPr>
              <a:t>LearningQ: perguntas reais de alunos, ~3× mais abertas</a:t>
            </a:r>
            <a:endParaRPr lang="en-US" sz="1500" dirty="0"/>
          </a:p>
        </p:txBody>
      </p:sp>
      <p:sp>
        <p:nvSpPr>
          <p:cNvPr id="14" name="Text 10"/>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ANÁLISE EXPLORATÓRIA · SQUAD</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SQuAD em detalhes</a:t>
            </a:r>
            <a:endParaRPr lang="en-US" sz="3200" dirty="0"/>
          </a:p>
        </p:txBody>
      </p:sp>
      <p:sp>
        <p:nvSpPr>
          <p:cNvPr id="4" name="Shape 2"/>
          <p:cNvSpPr/>
          <p:nvPr/>
        </p:nvSpPr>
        <p:spPr>
          <a:xfrm>
            <a:off x="548640" y="2194560"/>
            <a:ext cx="2606040" cy="1188720"/>
          </a:xfrm>
          <a:prstGeom prst="roundRect">
            <a:avLst>
              <a:gd name="adj" fmla="val 7692"/>
            </a:avLst>
          </a:prstGeom>
          <a:solidFill>
            <a:srgbClr val="F0F4FC"/>
          </a:solidFill>
          <a:ln/>
        </p:spPr>
      </p:sp>
      <p:sp>
        <p:nvSpPr>
          <p:cNvPr id="5" name="Text 3"/>
          <p:cNvSpPr txBox="1"/>
          <p:nvPr/>
        </p:nvSpPr>
        <p:spPr>
          <a:xfrm>
            <a:off x="548640" y="2313432"/>
            <a:ext cx="2606040" cy="54864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120 palavras</a:t>
            </a:r>
            <a:endParaRPr lang="en-US" sz="2200" dirty="0"/>
          </a:p>
        </p:txBody>
      </p:sp>
      <p:sp>
        <p:nvSpPr>
          <p:cNvPr id="6" name="Text 4"/>
          <p:cNvSpPr txBox="1"/>
          <p:nvPr/>
        </p:nvSpPr>
        <p:spPr>
          <a:xfrm>
            <a:off x="548640" y="2880360"/>
            <a:ext cx="2606040" cy="457200"/>
          </a:xfrm>
          <a:prstGeom prst="rect">
            <a:avLst/>
          </a:prstGeom>
          <a:noFill/>
          <a:ln/>
        </p:spPr>
        <p:txBody>
          <a:bodyPr wrap="square" lIns="0" tIns="0" rIns="0" bIns="0" rtlCol="0" anchor="ctr"/>
          <a:lstStyle/>
          <a:p>
            <a:pPr algn="ctr" indent="0" marL="0">
              <a:buNone/>
            </a:pPr>
            <a:r>
              <a:rPr lang="en-US" sz="1100" dirty="0">
                <a:solidFill>
                  <a:srgbClr val="5C6B8A"/>
                </a:solidFill>
                <a:latin typeface="Calibri" pitchFamily="34" charset="0"/>
                <a:ea typeface="Calibri" pitchFamily="34" charset="-122"/>
                <a:cs typeface="Calibri" pitchFamily="34" charset="-120"/>
              </a:rPr>
              <a:t>Contexto (~176 tokens)</a:t>
            </a:r>
            <a:endParaRPr lang="en-US" sz="1100" dirty="0"/>
          </a:p>
        </p:txBody>
      </p:sp>
      <p:sp>
        <p:nvSpPr>
          <p:cNvPr id="7" name="Shape 5"/>
          <p:cNvSpPr/>
          <p:nvPr/>
        </p:nvSpPr>
        <p:spPr>
          <a:xfrm>
            <a:off x="3429000" y="2194560"/>
            <a:ext cx="2606040" cy="1188720"/>
          </a:xfrm>
          <a:prstGeom prst="roundRect">
            <a:avLst>
              <a:gd name="adj" fmla="val 7692"/>
            </a:avLst>
          </a:prstGeom>
          <a:solidFill>
            <a:srgbClr val="F0F4FC"/>
          </a:solidFill>
          <a:ln/>
        </p:spPr>
      </p:sp>
      <p:sp>
        <p:nvSpPr>
          <p:cNvPr id="8" name="Text 6"/>
          <p:cNvSpPr txBox="1"/>
          <p:nvPr/>
        </p:nvSpPr>
        <p:spPr>
          <a:xfrm>
            <a:off x="3429000" y="2313432"/>
            <a:ext cx="2606040" cy="54864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10 palavras</a:t>
            </a:r>
            <a:endParaRPr lang="en-US" sz="2200" dirty="0"/>
          </a:p>
        </p:txBody>
      </p:sp>
      <p:sp>
        <p:nvSpPr>
          <p:cNvPr id="9" name="Text 7"/>
          <p:cNvSpPr txBox="1"/>
          <p:nvPr/>
        </p:nvSpPr>
        <p:spPr>
          <a:xfrm>
            <a:off x="3429000" y="2880360"/>
            <a:ext cx="2606040" cy="457200"/>
          </a:xfrm>
          <a:prstGeom prst="rect">
            <a:avLst/>
          </a:prstGeom>
          <a:noFill/>
          <a:ln/>
        </p:spPr>
        <p:txBody>
          <a:bodyPr wrap="square" lIns="0" tIns="0" rIns="0" bIns="0" rtlCol="0" anchor="ctr"/>
          <a:lstStyle/>
          <a:p>
            <a:pPr algn="ctr" indent="0" marL="0">
              <a:buNone/>
            </a:pPr>
            <a:r>
              <a:rPr lang="en-US" sz="1100" dirty="0">
                <a:solidFill>
                  <a:srgbClr val="5C6B8A"/>
                </a:solidFill>
                <a:latin typeface="Calibri" pitchFamily="34" charset="0"/>
                <a:ea typeface="Calibri" pitchFamily="34" charset="-122"/>
                <a:cs typeface="Calibri" pitchFamily="34" charset="-120"/>
              </a:rPr>
              <a:t>Pergunta (~15 tokens)</a:t>
            </a:r>
            <a:endParaRPr lang="en-US" sz="1100" dirty="0"/>
          </a:p>
        </p:txBody>
      </p:sp>
      <p:sp>
        <p:nvSpPr>
          <p:cNvPr id="10" name="Shape 8"/>
          <p:cNvSpPr/>
          <p:nvPr/>
        </p:nvSpPr>
        <p:spPr>
          <a:xfrm>
            <a:off x="6309360" y="2194560"/>
            <a:ext cx="2606040" cy="1188720"/>
          </a:xfrm>
          <a:prstGeom prst="roundRect">
            <a:avLst>
              <a:gd name="adj" fmla="val 7692"/>
            </a:avLst>
          </a:prstGeom>
          <a:solidFill>
            <a:srgbClr val="F0F4FC"/>
          </a:solidFill>
          <a:ln/>
        </p:spPr>
      </p:sp>
      <p:sp>
        <p:nvSpPr>
          <p:cNvPr id="11" name="Text 9"/>
          <p:cNvSpPr txBox="1"/>
          <p:nvPr/>
        </p:nvSpPr>
        <p:spPr>
          <a:xfrm>
            <a:off x="6309360" y="2313432"/>
            <a:ext cx="2606040" cy="54864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3 palavras</a:t>
            </a:r>
            <a:endParaRPr lang="en-US" sz="2200" dirty="0"/>
          </a:p>
        </p:txBody>
      </p:sp>
      <p:sp>
        <p:nvSpPr>
          <p:cNvPr id="12" name="Text 10"/>
          <p:cNvSpPr txBox="1"/>
          <p:nvPr/>
        </p:nvSpPr>
        <p:spPr>
          <a:xfrm>
            <a:off x="6309360" y="2880360"/>
            <a:ext cx="2606040" cy="457200"/>
          </a:xfrm>
          <a:prstGeom prst="rect">
            <a:avLst/>
          </a:prstGeom>
          <a:noFill/>
          <a:ln/>
        </p:spPr>
        <p:txBody>
          <a:bodyPr wrap="square" lIns="0" tIns="0" rIns="0" bIns="0" rtlCol="0" anchor="ctr"/>
          <a:lstStyle/>
          <a:p>
            <a:pPr algn="ctr" indent="0" marL="0">
              <a:buNone/>
            </a:pPr>
            <a:r>
              <a:rPr lang="en-US" sz="1100" dirty="0">
                <a:solidFill>
                  <a:srgbClr val="5C6B8A"/>
                </a:solidFill>
                <a:latin typeface="Calibri" pitchFamily="34" charset="0"/>
                <a:ea typeface="Calibri" pitchFamily="34" charset="-122"/>
                <a:cs typeface="Calibri" pitchFamily="34" charset="-120"/>
              </a:rPr>
              <a:t>Resposta (span extraído)</a:t>
            </a:r>
            <a:endParaRPr lang="en-US" sz="1100" dirty="0"/>
          </a:p>
        </p:txBody>
      </p:sp>
      <p:sp>
        <p:nvSpPr>
          <p:cNvPr id="13" name="Shape 11"/>
          <p:cNvSpPr/>
          <p:nvPr/>
        </p:nvSpPr>
        <p:spPr>
          <a:xfrm>
            <a:off x="9189720" y="2194560"/>
            <a:ext cx="2606040" cy="1188720"/>
          </a:xfrm>
          <a:prstGeom prst="roundRect">
            <a:avLst>
              <a:gd name="adj" fmla="val 7692"/>
            </a:avLst>
          </a:prstGeom>
          <a:solidFill>
            <a:srgbClr val="F0F4FC"/>
          </a:solidFill>
          <a:ln/>
        </p:spPr>
      </p:sp>
      <p:sp>
        <p:nvSpPr>
          <p:cNvPr id="14" name="Text 12"/>
          <p:cNvSpPr txBox="1"/>
          <p:nvPr/>
        </p:nvSpPr>
        <p:spPr>
          <a:xfrm>
            <a:off x="9189720" y="2313432"/>
            <a:ext cx="2606040" cy="54864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0,26%</a:t>
            </a:r>
            <a:endParaRPr lang="en-US" sz="2200" dirty="0"/>
          </a:p>
        </p:txBody>
      </p:sp>
      <p:sp>
        <p:nvSpPr>
          <p:cNvPr id="15" name="Text 13"/>
          <p:cNvSpPr txBox="1"/>
          <p:nvPr/>
        </p:nvSpPr>
        <p:spPr>
          <a:xfrm>
            <a:off x="9189720" y="2880360"/>
            <a:ext cx="2606040" cy="457200"/>
          </a:xfrm>
          <a:prstGeom prst="rect">
            <a:avLst/>
          </a:prstGeom>
          <a:noFill/>
          <a:ln/>
        </p:spPr>
        <p:txBody>
          <a:bodyPr wrap="square" lIns="0" tIns="0" rIns="0" bIns="0" rtlCol="0" anchor="ctr"/>
          <a:lstStyle/>
          <a:p>
            <a:pPr algn="ctr" indent="0" marL="0">
              <a:buNone/>
            </a:pPr>
            <a:r>
              <a:rPr lang="en-US" sz="1100" dirty="0">
                <a:solidFill>
                  <a:srgbClr val="5C6B8A"/>
                </a:solidFill>
                <a:latin typeface="Calibri" pitchFamily="34" charset="0"/>
                <a:ea typeface="Calibri" pitchFamily="34" charset="-122"/>
                <a:cs typeface="Calibri" pitchFamily="34" charset="-120"/>
              </a:rPr>
              <a:t>Contextos truncados (&gt;512 tokens)</a:t>
            </a:r>
            <a:endParaRPr lang="en-US" sz="1100" dirty="0"/>
          </a:p>
        </p:txBody>
      </p:sp>
      <p:sp>
        <p:nvSpPr>
          <p:cNvPr id="16" name="Text 14"/>
          <p:cNvSpPr txBox="1"/>
          <p:nvPr/>
        </p:nvSpPr>
        <p:spPr>
          <a:xfrm>
            <a:off x="548640" y="3703320"/>
            <a:ext cx="73152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Distribuição por tipo de pergunta (primeira palavra) — SQuAD</a:t>
            </a:r>
            <a:endParaRPr lang="en-US" sz="1300" dirty="0"/>
          </a:p>
        </p:txBody>
      </p:sp>
      <p:graphicFrame>
        <p:nvGraphicFramePr>
          <p:cNvPr id="17" name="Chart 0" descr=""/>
          <p:cNvGraphicFramePr/>
          <p:nvPr/>
        </p:nvGraphicFramePr>
        <p:xfrm>
          <a:off x="548640" y="4069080"/>
          <a:ext cx="7498080" cy="2194560"/>
        </p:xfrm>
        <a:graphic xmlns:a="http://schemas.openxmlformats.org/drawingml/2006/main">
          <a:graphicData uri="http://schemas.openxmlformats.org/drawingml/2006/chart">
            <c:chart xmlns:c="http://schemas.openxmlformats.org/drawingml/2006/chart" r:id="rId1"/>
          </a:graphicData>
        </a:graphic>
      </p:graphicFrame>
      <p:sp>
        <p:nvSpPr>
          <p:cNvPr id="18" name="Shape 15"/>
          <p:cNvSpPr/>
          <p:nvPr/>
        </p:nvSpPr>
        <p:spPr>
          <a:xfrm>
            <a:off x="8138160" y="4114800"/>
            <a:ext cx="3474720" cy="1828800"/>
          </a:xfrm>
          <a:prstGeom prst="roundRect">
            <a:avLst>
              <a:gd name="adj" fmla="val 5000"/>
            </a:avLst>
          </a:prstGeom>
          <a:solidFill>
            <a:srgbClr val="1E2761"/>
          </a:solidFill>
          <a:ln/>
        </p:spPr>
      </p:sp>
      <p:sp>
        <p:nvSpPr>
          <p:cNvPr id="19" name="Text 16"/>
          <p:cNvSpPr txBox="1"/>
          <p:nvPr/>
        </p:nvSpPr>
        <p:spPr>
          <a:xfrm>
            <a:off x="8366760" y="4251960"/>
            <a:ext cx="301752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4,6</a:t>
            </a:r>
            <a:endParaRPr lang="en-US" sz="3400" dirty="0"/>
          </a:p>
        </p:txBody>
      </p:sp>
      <p:sp>
        <p:nvSpPr>
          <p:cNvPr id="20" name="Text 17"/>
          <p:cNvSpPr txBox="1"/>
          <p:nvPr/>
        </p:nvSpPr>
        <p:spPr>
          <a:xfrm>
            <a:off x="8366760" y="4937760"/>
            <a:ext cx="3017520" cy="45720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perguntas por parágrafo, em média</a:t>
            </a:r>
            <a:endParaRPr lang="en-US" sz="1300" dirty="0"/>
          </a:p>
        </p:txBody>
      </p:sp>
      <p:sp>
        <p:nvSpPr>
          <p:cNvPr id="21" name="Text 18"/>
          <p:cNvSpPr txBox="1"/>
          <p:nvPr/>
        </p:nvSpPr>
        <p:spPr>
          <a:xfrm>
            <a:off x="8366760" y="5394960"/>
            <a:ext cx="3017520" cy="45720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87.599 perguntas ÷ 18.891 parágrafos únicos</a:t>
            </a:r>
            <a:endParaRPr lang="en-US" sz="1050" dirty="0"/>
          </a:p>
        </p:txBody>
      </p:sp>
      <p:sp>
        <p:nvSpPr>
          <p:cNvPr id="23" name="Text 19"/>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ANÁLISE EXPLORATÓRIA · LEARNINGQ</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LearningQ em detalhes</a:t>
            </a:r>
            <a:endParaRPr lang="en-US" sz="3200" dirty="0"/>
          </a:p>
        </p:txBody>
      </p:sp>
      <p:sp>
        <p:nvSpPr>
          <p:cNvPr id="4" name="Shape 2"/>
          <p:cNvSpPr/>
          <p:nvPr/>
        </p:nvSpPr>
        <p:spPr>
          <a:xfrm>
            <a:off x="548640" y="2194560"/>
            <a:ext cx="2606040" cy="1188720"/>
          </a:xfrm>
          <a:prstGeom prst="roundRect">
            <a:avLst>
              <a:gd name="adj" fmla="val 7692"/>
            </a:avLst>
          </a:prstGeom>
          <a:solidFill>
            <a:srgbClr val="F0F4FC"/>
          </a:solidFill>
          <a:ln/>
        </p:spPr>
      </p:sp>
      <p:sp>
        <p:nvSpPr>
          <p:cNvPr id="5" name="Text 3"/>
          <p:cNvSpPr txBox="1"/>
          <p:nvPr/>
        </p:nvSpPr>
        <p:spPr>
          <a:xfrm>
            <a:off x="548640" y="2313432"/>
            <a:ext cx="2606040" cy="54864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66 palavras</a:t>
            </a:r>
            <a:endParaRPr lang="en-US" sz="1700" dirty="0"/>
          </a:p>
        </p:txBody>
      </p:sp>
      <p:sp>
        <p:nvSpPr>
          <p:cNvPr id="6" name="Text 4"/>
          <p:cNvSpPr txBox="1"/>
          <p:nvPr/>
        </p:nvSpPr>
        <p:spPr>
          <a:xfrm>
            <a:off x="548640" y="2880360"/>
            <a:ext cx="2606040" cy="457200"/>
          </a:xfrm>
          <a:prstGeom prst="rect">
            <a:avLst/>
          </a:prstGeom>
          <a:noFill/>
          <a:ln/>
        </p:spPr>
        <p:txBody>
          <a:bodyPr wrap="square" lIns="0" tIns="0" rIns="0" bIns="0" rtlCol="0" anchor="ctr"/>
          <a:lstStyle/>
          <a:p>
            <a:pPr algn="ctr" indent="0" marL="0">
              <a:buNone/>
            </a:pPr>
            <a:r>
              <a:rPr lang="en-US" sz="1100" dirty="0">
                <a:solidFill>
                  <a:srgbClr val="5C6B8A"/>
                </a:solidFill>
                <a:latin typeface="Calibri" pitchFamily="34" charset="0"/>
                <a:ea typeface="Calibri" pitchFamily="34" charset="-122"/>
                <a:cs typeface="Calibri" pitchFamily="34" charset="-120"/>
              </a:rPr>
              <a:t>Contexto — questionsrc (~89 tokens)</a:t>
            </a:r>
            <a:endParaRPr lang="en-US" sz="1100" dirty="0"/>
          </a:p>
        </p:txBody>
      </p:sp>
      <p:sp>
        <p:nvSpPr>
          <p:cNvPr id="7" name="Shape 5"/>
          <p:cNvSpPr/>
          <p:nvPr/>
        </p:nvSpPr>
        <p:spPr>
          <a:xfrm>
            <a:off x="3429000" y="2194560"/>
            <a:ext cx="2606040" cy="1188720"/>
          </a:xfrm>
          <a:prstGeom prst="roundRect">
            <a:avLst>
              <a:gd name="adj" fmla="val 7692"/>
            </a:avLst>
          </a:prstGeom>
          <a:solidFill>
            <a:srgbClr val="F0F4FC"/>
          </a:solidFill>
          <a:ln/>
        </p:spPr>
      </p:sp>
      <p:sp>
        <p:nvSpPr>
          <p:cNvPr id="8" name="Text 6"/>
          <p:cNvSpPr txBox="1"/>
          <p:nvPr/>
        </p:nvSpPr>
        <p:spPr>
          <a:xfrm>
            <a:off x="3429000" y="2313432"/>
            <a:ext cx="2606040" cy="54864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16,5 palavras</a:t>
            </a:r>
            <a:endParaRPr lang="en-US" sz="1700" dirty="0"/>
          </a:p>
        </p:txBody>
      </p:sp>
      <p:sp>
        <p:nvSpPr>
          <p:cNvPr id="9" name="Text 7"/>
          <p:cNvSpPr txBox="1"/>
          <p:nvPr/>
        </p:nvSpPr>
        <p:spPr>
          <a:xfrm>
            <a:off x="3429000" y="2880360"/>
            <a:ext cx="2606040" cy="457200"/>
          </a:xfrm>
          <a:prstGeom prst="rect">
            <a:avLst/>
          </a:prstGeom>
          <a:noFill/>
          <a:ln/>
        </p:spPr>
        <p:txBody>
          <a:bodyPr wrap="square" lIns="0" tIns="0" rIns="0" bIns="0" rtlCol="0" anchor="ctr"/>
          <a:lstStyle/>
          <a:p>
            <a:pPr algn="ctr" indent="0" marL="0">
              <a:buNone/>
            </a:pPr>
            <a:r>
              <a:rPr lang="en-US" sz="1100" dirty="0">
                <a:solidFill>
                  <a:srgbClr val="5C6B8A"/>
                </a:solidFill>
                <a:latin typeface="Calibri" pitchFamily="34" charset="0"/>
                <a:ea typeface="Calibri" pitchFamily="34" charset="-122"/>
                <a:cs typeface="Calibri" pitchFamily="34" charset="-120"/>
              </a:rPr>
              <a:t>Pergunta (~24 tokens)</a:t>
            </a:r>
            <a:endParaRPr lang="en-US" sz="1100" dirty="0"/>
          </a:p>
        </p:txBody>
      </p:sp>
      <p:sp>
        <p:nvSpPr>
          <p:cNvPr id="10" name="Shape 8"/>
          <p:cNvSpPr/>
          <p:nvPr/>
        </p:nvSpPr>
        <p:spPr>
          <a:xfrm>
            <a:off x="6309360" y="2194560"/>
            <a:ext cx="2606040" cy="1188720"/>
          </a:xfrm>
          <a:prstGeom prst="roundRect">
            <a:avLst>
              <a:gd name="adj" fmla="val 7692"/>
            </a:avLst>
          </a:prstGeom>
          <a:solidFill>
            <a:srgbClr val="F0F4FC"/>
          </a:solidFill>
          <a:ln/>
        </p:spPr>
      </p:sp>
      <p:sp>
        <p:nvSpPr>
          <p:cNvPr id="11" name="Text 9"/>
          <p:cNvSpPr txBox="1"/>
          <p:nvPr/>
        </p:nvSpPr>
        <p:spPr>
          <a:xfrm>
            <a:off x="6309360" y="2313432"/>
            <a:ext cx="2606040" cy="54864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não anotada</a:t>
            </a:r>
            <a:endParaRPr lang="en-US" sz="1700" dirty="0"/>
          </a:p>
        </p:txBody>
      </p:sp>
      <p:sp>
        <p:nvSpPr>
          <p:cNvPr id="12" name="Text 10"/>
          <p:cNvSpPr txBox="1"/>
          <p:nvPr/>
        </p:nvSpPr>
        <p:spPr>
          <a:xfrm>
            <a:off x="6309360" y="2880360"/>
            <a:ext cx="2606040" cy="457200"/>
          </a:xfrm>
          <a:prstGeom prst="rect">
            <a:avLst/>
          </a:prstGeom>
          <a:noFill/>
          <a:ln/>
        </p:spPr>
        <p:txBody>
          <a:bodyPr wrap="square" lIns="0" tIns="0" rIns="0" bIns="0" rtlCol="0" anchor="ctr"/>
          <a:lstStyle/>
          <a:p>
            <a:pPr algn="ctr" indent="0" marL="0">
              <a:buNone/>
            </a:pPr>
            <a:r>
              <a:rPr lang="en-US" sz="1100" dirty="0">
                <a:solidFill>
                  <a:srgbClr val="5C6B8A"/>
                </a:solidFill>
                <a:latin typeface="Calibri" pitchFamily="34" charset="0"/>
                <a:ea typeface="Calibri" pitchFamily="34" charset="-122"/>
                <a:cs typeface="Calibri" pitchFamily="34" charset="-120"/>
              </a:rPr>
              <a:t>Resposta (sem span extraído)</a:t>
            </a:r>
            <a:endParaRPr lang="en-US" sz="1100" dirty="0"/>
          </a:p>
        </p:txBody>
      </p:sp>
      <p:sp>
        <p:nvSpPr>
          <p:cNvPr id="13" name="Shape 11"/>
          <p:cNvSpPr/>
          <p:nvPr/>
        </p:nvSpPr>
        <p:spPr>
          <a:xfrm>
            <a:off x="9189720" y="2194560"/>
            <a:ext cx="2606040" cy="1188720"/>
          </a:xfrm>
          <a:prstGeom prst="roundRect">
            <a:avLst>
              <a:gd name="adj" fmla="val 7692"/>
            </a:avLst>
          </a:prstGeom>
          <a:solidFill>
            <a:srgbClr val="F0F4FC"/>
          </a:solidFill>
          <a:ln/>
        </p:spPr>
      </p:sp>
      <p:sp>
        <p:nvSpPr>
          <p:cNvPr id="14" name="Text 12"/>
          <p:cNvSpPr txBox="1"/>
          <p:nvPr/>
        </p:nvSpPr>
        <p:spPr>
          <a:xfrm>
            <a:off x="9189720" y="2313432"/>
            <a:ext cx="2606040" cy="54864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0,9%</a:t>
            </a:r>
            <a:endParaRPr lang="en-US" sz="2200" dirty="0"/>
          </a:p>
        </p:txBody>
      </p:sp>
      <p:sp>
        <p:nvSpPr>
          <p:cNvPr id="15" name="Text 13"/>
          <p:cNvSpPr txBox="1"/>
          <p:nvPr/>
        </p:nvSpPr>
        <p:spPr>
          <a:xfrm>
            <a:off x="9189720" y="2880360"/>
            <a:ext cx="2606040" cy="457200"/>
          </a:xfrm>
          <a:prstGeom prst="rect">
            <a:avLst/>
          </a:prstGeom>
          <a:noFill/>
          <a:ln/>
        </p:spPr>
        <p:txBody>
          <a:bodyPr wrap="square" lIns="0" tIns="0" rIns="0" bIns="0" rtlCol="0" anchor="ctr"/>
          <a:lstStyle/>
          <a:p>
            <a:pPr algn="ctr" indent="0" marL="0">
              <a:buNone/>
            </a:pPr>
            <a:r>
              <a:rPr lang="en-US" sz="1100" dirty="0">
                <a:solidFill>
                  <a:srgbClr val="5C6B8A"/>
                </a:solidFill>
                <a:latin typeface="Calibri" pitchFamily="34" charset="0"/>
                <a:ea typeface="Calibri" pitchFamily="34" charset="-122"/>
                <a:cs typeface="Calibri" pitchFamily="34" charset="-120"/>
              </a:rPr>
              <a:t>Contextos truncados (&gt;512 tokens)</a:t>
            </a:r>
            <a:endParaRPr lang="en-US" sz="1100" dirty="0"/>
          </a:p>
        </p:txBody>
      </p:sp>
      <p:sp>
        <p:nvSpPr>
          <p:cNvPr id="16" name="Text 14"/>
          <p:cNvSpPr txBox="1"/>
          <p:nvPr/>
        </p:nvSpPr>
        <p:spPr>
          <a:xfrm>
            <a:off x="548640" y="3703320"/>
            <a:ext cx="73152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Distribuição por tipo de pergunta (primeira palavra) — LearningQ</a:t>
            </a:r>
            <a:endParaRPr lang="en-US" sz="1300" dirty="0"/>
          </a:p>
        </p:txBody>
      </p:sp>
      <p:graphicFrame>
        <p:nvGraphicFramePr>
          <p:cNvPr id="17" name="Chart 0" descr=""/>
          <p:cNvGraphicFramePr/>
          <p:nvPr/>
        </p:nvGraphicFramePr>
        <p:xfrm>
          <a:off x="548640" y="4069080"/>
          <a:ext cx="7498080" cy="2194560"/>
        </p:xfrm>
        <a:graphic xmlns:a="http://schemas.openxmlformats.org/drawingml/2006/main">
          <a:graphicData uri="http://schemas.openxmlformats.org/drawingml/2006/chart">
            <c:chart xmlns:c="http://schemas.openxmlformats.org/drawingml/2006/chart" r:id="rId1"/>
          </a:graphicData>
        </a:graphic>
      </p:graphicFrame>
      <p:sp>
        <p:nvSpPr>
          <p:cNvPr id="18" name="Shape 15"/>
          <p:cNvSpPr/>
          <p:nvPr/>
        </p:nvSpPr>
        <p:spPr>
          <a:xfrm>
            <a:off x="8138160" y="4114800"/>
            <a:ext cx="3474720" cy="1828800"/>
          </a:xfrm>
          <a:prstGeom prst="roundRect">
            <a:avLst>
              <a:gd name="adj" fmla="val 5000"/>
            </a:avLst>
          </a:prstGeom>
          <a:solidFill>
            <a:srgbClr val="1E2761"/>
          </a:solidFill>
          <a:ln/>
        </p:spPr>
      </p:sp>
      <p:sp>
        <p:nvSpPr>
          <p:cNvPr id="19" name="Text 16"/>
          <p:cNvSpPr txBox="1"/>
          <p:nvPr/>
        </p:nvSpPr>
        <p:spPr>
          <a:xfrm>
            <a:off x="8366760" y="4251960"/>
            <a:ext cx="301752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37,5%</a:t>
            </a:r>
            <a:endParaRPr lang="en-US" sz="3400" dirty="0"/>
          </a:p>
        </p:txBody>
      </p:sp>
      <p:sp>
        <p:nvSpPr>
          <p:cNvPr id="20" name="Text 17"/>
          <p:cNvSpPr txBox="1"/>
          <p:nvPr/>
        </p:nvSpPr>
        <p:spPr>
          <a:xfrm>
            <a:off x="8366760" y="4937760"/>
            <a:ext cx="3017520" cy="548640"/>
          </a:xfrm>
          <a:prstGeom prst="rect">
            <a:avLst/>
          </a:prstGeom>
          <a:noFill/>
          <a:ln/>
        </p:spPr>
        <p:txBody>
          <a:bodyPr wrap="square" lIns="0" tIns="0" rIns="0" bIns="0" rtlCol="0" anchor="ctr"/>
          <a:lstStyle/>
          <a:p>
            <a:pPr indent="0" marL="0">
              <a:lnSpc>
                <a:spcPts val="1500"/>
              </a:lnSpc>
              <a:buNone/>
            </a:pPr>
            <a:r>
              <a:rPr lang="en-US" sz="1300" b="1" dirty="0">
                <a:solidFill>
                  <a:srgbClr val="CADCFC"/>
                </a:solidFill>
                <a:latin typeface="Calibri" pitchFamily="34" charset="0"/>
                <a:ea typeface="Calibri" pitchFamily="34" charset="-122"/>
                <a:cs typeface="Calibri" pitchFamily="34" charset="-120"/>
              </a:rPr>
              <a:t>das perguntas contêm “por quê” ou “como”</a:t>
            </a:r>
            <a:endParaRPr lang="en-US" sz="1300" dirty="0"/>
          </a:p>
        </p:txBody>
      </p:sp>
      <p:sp>
        <p:nvSpPr>
          <p:cNvPr id="21" name="Text 18"/>
          <p:cNvSpPr txBox="1"/>
          <p:nvPr/>
        </p:nvSpPr>
        <p:spPr>
          <a:xfrm>
            <a:off x="8366760" y="5532120"/>
            <a:ext cx="3017520" cy="36576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vs. 12,3% no SQuAD (slide 3)</a:t>
            </a:r>
            <a:endParaRPr lang="en-US" sz="1050" dirty="0"/>
          </a:p>
        </p:txBody>
      </p:sp>
      <p:sp>
        <p:nvSpPr>
          <p:cNvPr id="23" name="Text 19"/>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ANÁLISE EXPLORATÓRIA</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Exemplos reais, linha a linha</a:t>
            </a:r>
            <a:endParaRPr lang="en-US" sz="3200" dirty="0"/>
          </a:p>
        </p:txBody>
      </p:sp>
      <p:sp>
        <p:nvSpPr>
          <p:cNvPr id="4" name="Shape 2"/>
          <p:cNvSpPr/>
          <p:nvPr/>
        </p:nvSpPr>
        <p:spPr>
          <a:xfrm>
            <a:off x="548640" y="2194560"/>
            <a:ext cx="5318608" cy="4023360"/>
          </a:xfrm>
          <a:prstGeom prst="roundRect">
            <a:avLst>
              <a:gd name="adj" fmla="val 2273"/>
            </a:avLst>
          </a:prstGeom>
          <a:solidFill>
            <a:srgbClr val="F0F4FC"/>
          </a:solidFill>
          <a:ln/>
        </p:spPr>
      </p:sp>
      <p:sp>
        <p:nvSpPr>
          <p:cNvPr id="5" name="Text 3"/>
          <p:cNvSpPr txBox="1"/>
          <p:nvPr/>
        </p:nvSpPr>
        <p:spPr>
          <a:xfrm>
            <a:off x="868680" y="2377440"/>
            <a:ext cx="4678528"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SQuAD</a:t>
            </a:r>
            <a:endParaRPr lang="en-US" sz="1800" dirty="0"/>
          </a:p>
        </p:txBody>
      </p:sp>
      <p:sp>
        <p:nvSpPr>
          <p:cNvPr id="6" name="Text 4"/>
          <p:cNvSpPr txBox="1"/>
          <p:nvPr/>
        </p:nvSpPr>
        <p:spPr>
          <a:xfrm>
            <a:off x="868680" y="2880360"/>
            <a:ext cx="4678528" cy="228600"/>
          </a:xfrm>
          <a:prstGeom prst="rect">
            <a:avLst/>
          </a:prstGeom>
          <a:noFill/>
          <a:ln/>
        </p:spPr>
        <p:txBody>
          <a:bodyPr wrap="square" lIns="0" tIns="0" rIns="0" bIns="0" rtlCol="0" anchor="ctr"/>
          <a:lstStyle/>
          <a:p>
            <a:pPr indent="0" marL="0">
              <a:buNone/>
            </a:pPr>
            <a:r>
              <a:rPr lang="en-US" sz="1050" b="1" spc="100" kern="0" dirty="0">
                <a:solidFill>
                  <a:srgbClr val="E8A33D"/>
                </a:solidFill>
                <a:latin typeface="Calibri" pitchFamily="34" charset="0"/>
                <a:ea typeface="Calibri" pitchFamily="34" charset="-122"/>
                <a:cs typeface="Calibri" pitchFamily="34" charset="-120"/>
              </a:rPr>
              <a:t>CONTEXTO</a:t>
            </a:r>
            <a:endParaRPr lang="en-US" sz="1050" dirty="0"/>
          </a:p>
        </p:txBody>
      </p:sp>
      <p:sp>
        <p:nvSpPr>
          <p:cNvPr id="7" name="Text 5"/>
          <p:cNvSpPr txBox="1"/>
          <p:nvPr/>
        </p:nvSpPr>
        <p:spPr>
          <a:xfrm>
            <a:off x="868680" y="3127248"/>
            <a:ext cx="4678528" cy="1417320"/>
          </a:xfrm>
          <a:prstGeom prst="rect">
            <a:avLst/>
          </a:prstGeom>
          <a:noFill/>
          <a:ln/>
        </p:spPr>
        <p:txBody>
          <a:bodyPr wrap="square" lIns="0" tIns="0" rIns="0" bIns="0" rtlCol="0" anchor="ctr"/>
          <a:lstStyle/>
          <a:p>
            <a:pPr indent="0" marL="0">
              <a:lnSpc>
                <a:spcPts val="1500"/>
              </a:lnSpc>
              <a:buNone/>
            </a:pPr>
            <a:r>
              <a:rPr lang="en-US" sz="1150" dirty="0">
                <a:solidFill>
                  <a:srgbClr val="1A1A2E"/>
                </a:solidFill>
                <a:latin typeface="Calibri" pitchFamily="34" charset="0"/>
                <a:ea typeface="Calibri" pitchFamily="34" charset="-122"/>
                <a:cs typeface="Calibri" pitchFamily="34" charset="-120"/>
              </a:rPr>
              <a:t>“Architecturally, the school has a Catholic character. Atop the Main Building's gold dome is a golden statue of the Virgin Mary. Immediately in front of the Main Building [...] is a copper statue of Christ…”</a:t>
            </a:r>
            <a:endParaRPr lang="en-US" sz="1150" dirty="0"/>
          </a:p>
        </p:txBody>
      </p:sp>
      <p:sp>
        <p:nvSpPr>
          <p:cNvPr id="8" name="Text 6"/>
          <p:cNvSpPr txBox="1"/>
          <p:nvPr/>
        </p:nvSpPr>
        <p:spPr>
          <a:xfrm>
            <a:off x="868680" y="4617720"/>
            <a:ext cx="4678528" cy="228600"/>
          </a:xfrm>
          <a:prstGeom prst="rect">
            <a:avLst/>
          </a:prstGeom>
          <a:noFill/>
          <a:ln/>
        </p:spPr>
        <p:txBody>
          <a:bodyPr wrap="square" lIns="0" tIns="0" rIns="0" bIns="0" rtlCol="0" anchor="ctr"/>
          <a:lstStyle/>
          <a:p>
            <a:pPr indent="0" marL="0">
              <a:buNone/>
            </a:pPr>
            <a:r>
              <a:rPr lang="en-US" sz="1050" b="1" spc="100" kern="0" dirty="0">
                <a:solidFill>
                  <a:srgbClr val="E8A33D"/>
                </a:solidFill>
                <a:latin typeface="Calibri" pitchFamily="34" charset="0"/>
                <a:ea typeface="Calibri" pitchFamily="34" charset="-122"/>
                <a:cs typeface="Calibri" pitchFamily="34" charset="-120"/>
              </a:rPr>
              <a:t>PERGUNTA</a:t>
            </a:r>
            <a:endParaRPr lang="en-US" sz="1050" dirty="0"/>
          </a:p>
        </p:txBody>
      </p:sp>
      <p:sp>
        <p:nvSpPr>
          <p:cNvPr id="9" name="Text 7"/>
          <p:cNvSpPr txBox="1"/>
          <p:nvPr/>
        </p:nvSpPr>
        <p:spPr>
          <a:xfrm>
            <a:off x="868680" y="4864608"/>
            <a:ext cx="4678528" cy="548640"/>
          </a:xfrm>
          <a:prstGeom prst="rect">
            <a:avLst/>
          </a:prstGeom>
          <a:noFill/>
          <a:ln/>
        </p:spPr>
        <p:txBody>
          <a:bodyPr wrap="square" lIns="0" tIns="0" rIns="0" bIns="0" rtlCol="0" anchor="ctr"/>
          <a:lstStyle/>
          <a:p>
            <a:pPr indent="0" marL="0">
              <a:lnSpc>
                <a:spcPts val="1600"/>
              </a:lnSpc>
              <a:buNone/>
            </a:pPr>
            <a:r>
              <a:rPr lang="en-US" sz="1300" b="1" dirty="0">
                <a:solidFill>
                  <a:srgbClr val="1E2761"/>
                </a:solidFill>
                <a:latin typeface="Calibri" pitchFamily="34" charset="0"/>
                <a:ea typeface="Calibri" pitchFamily="34" charset="-122"/>
                <a:cs typeface="Calibri" pitchFamily="34" charset="-120"/>
              </a:rPr>
              <a:t>“To whom did the Virgin Mary allegedly appear in 1858 in Lourdes France?”</a:t>
            </a:r>
            <a:endParaRPr lang="en-US" sz="1300" dirty="0"/>
          </a:p>
        </p:txBody>
      </p:sp>
      <p:sp>
        <p:nvSpPr>
          <p:cNvPr id="10" name="Text 8"/>
          <p:cNvSpPr txBox="1"/>
          <p:nvPr/>
        </p:nvSpPr>
        <p:spPr>
          <a:xfrm>
            <a:off x="868680" y="5468112"/>
            <a:ext cx="4678528" cy="228600"/>
          </a:xfrm>
          <a:prstGeom prst="rect">
            <a:avLst/>
          </a:prstGeom>
          <a:noFill/>
          <a:ln/>
        </p:spPr>
        <p:txBody>
          <a:bodyPr wrap="square" lIns="0" tIns="0" rIns="0" bIns="0" rtlCol="0" anchor="ctr"/>
          <a:lstStyle/>
          <a:p>
            <a:pPr indent="0" marL="0">
              <a:buNone/>
            </a:pPr>
            <a:r>
              <a:rPr lang="en-US" sz="1050" b="1" spc="100" kern="0" dirty="0">
                <a:solidFill>
                  <a:srgbClr val="E8A33D"/>
                </a:solidFill>
                <a:latin typeface="Calibri" pitchFamily="34" charset="0"/>
                <a:ea typeface="Calibri" pitchFamily="34" charset="-122"/>
                <a:cs typeface="Calibri" pitchFamily="34" charset="-120"/>
              </a:rPr>
              <a:t>RESPOSTA</a:t>
            </a:r>
            <a:endParaRPr lang="en-US" sz="1050" dirty="0"/>
          </a:p>
        </p:txBody>
      </p:sp>
      <p:sp>
        <p:nvSpPr>
          <p:cNvPr id="11" name="Text 9"/>
          <p:cNvSpPr txBox="1"/>
          <p:nvPr/>
        </p:nvSpPr>
        <p:spPr>
          <a:xfrm>
            <a:off x="868680" y="5705856"/>
            <a:ext cx="4678528" cy="411480"/>
          </a:xfrm>
          <a:prstGeom prst="rect">
            <a:avLst/>
          </a:prstGeom>
          <a:noFill/>
          <a:ln/>
        </p:spPr>
        <p:txBody>
          <a:bodyPr wrap="square" lIns="0" tIns="0" rIns="0" bIns="0" rtlCol="0" anchor="ctr"/>
          <a:lstStyle/>
          <a:p>
            <a:pPr indent="0" marL="0">
              <a:buNone/>
            </a:pPr>
            <a:r>
              <a:rPr lang="en-US" sz="1150" i="1" dirty="0">
                <a:solidFill>
                  <a:srgbClr val="5C6B8A"/>
                </a:solidFill>
                <a:latin typeface="Calibri" pitchFamily="34" charset="0"/>
                <a:ea typeface="Calibri" pitchFamily="34" charset="-122"/>
                <a:cs typeface="Calibri" pitchFamily="34" charset="-120"/>
              </a:rPr>
              <a:t>Saint Bernadette Soubirous — span copiado literalmente do texto</a:t>
            </a:r>
            <a:endParaRPr lang="en-US" sz="1150" dirty="0"/>
          </a:p>
        </p:txBody>
      </p:sp>
      <p:sp>
        <p:nvSpPr>
          <p:cNvPr id="12" name="Shape 10"/>
          <p:cNvSpPr/>
          <p:nvPr/>
        </p:nvSpPr>
        <p:spPr>
          <a:xfrm>
            <a:off x="6324448" y="2194560"/>
            <a:ext cx="5318608" cy="4023360"/>
          </a:xfrm>
          <a:prstGeom prst="roundRect">
            <a:avLst>
              <a:gd name="adj" fmla="val 2273"/>
            </a:avLst>
          </a:prstGeom>
          <a:solidFill>
            <a:srgbClr val="F0F4FC"/>
          </a:solidFill>
          <a:ln/>
        </p:spPr>
      </p:sp>
      <p:sp>
        <p:nvSpPr>
          <p:cNvPr id="13" name="Text 11"/>
          <p:cNvSpPr txBox="1"/>
          <p:nvPr/>
        </p:nvSpPr>
        <p:spPr>
          <a:xfrm>
            <a:off x="6644488" y="2377440"/>
            <a:ext cx="4678528"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LearningQ</a:t>
            </a:r>
            <a:endParaRPr lang="en-US" sz="1800" dirty="0"/>
          </a:p>
        </p:txBody>
      </p:sp>
      <p:sp>
        <p:nvSpPr>
          <p:cNvPr id="14" name="Text 12"/>
          <p:cNvSpPr txBox="1"/>
          <p:nvPr/>
        </p:nvSpPr>
        <p:spPr>
          <a:xfrm>
            <a:off x="6644488" y="2880360"/>
            <a:ext cx="4678528" cy="228600"/>
          </a:xfrm>
          <a:prstGeom prst="rect">
            <a:avLst/>
          </a:prstGeom>
          <a:noFill/>
          <a:ln/>
        </p:spPr>
        <p:txBody>
          <a:bodyPr wrap="square" lIns="0" tIns="0" rIns="0" bIns="0" rtlCol="0" anchor="ctr"/>
          <a:lstStyle/>
          <a:p>
            <a:pPr indent="0" marL="0">
              <a:buNone/>
            </a:pPr>
            <a:r>
              <a:rPr lang="en-US" sz="1050" b="1" spc="100" kern="0" dirty="0">
                <a:solidFill>
                  <a:srgbClr val="E8A33D"/>
                </a:solidFill>
                <a:latin typeface="Calibri" pitchFamily="34" charset="0"/>
                <a:ea typeface="Calibri" pitchFamily="34" charset="-122"/>
                <a:cs typeface="Calibri" pitchFamily="34" charset="-120"/>
              </a:rPr>
              <a:t>CONTEXTO</a:t>
            </a:r>
            <a:endParaRPr lang="en-US" sz="1050" dirty="0"/>
          </a:p>
        </p:txBody>
      </p:sp>
      <p:sp>
        <p:nvSpPr>
          <p:cNvPr id="15" name="Text 13"/>
          <p:cNvSpPr txBox="1"/>
          <p:nvPr/>
        </p:nvSpPr>
        <p:spPr>
          <a:xfrm>
            <a:off x="6644488" y="3127248"/>
            <a:ext cx="4678528" cy="1417320"/>
          </a:xfrm>
          <a:prstGeom prst="rect">
            <a:avLst/>
          </a:prstGeom>
          <a:noFill/>
          <a:ln/>
        </p:spPr>
        <p:txBody>
          <a:bodyPr wrap="square" lIns="0" tIns="0" rIns="0" bIns="0" rtlCol="0" anchor="ctr"/>
          <a:lstStyle/>
          <a:p>
            <a:pPr indent="0" marL="0">
              <a:lnSpc>
                <a:spcPts val="1500"/>
              </a:lnSpc>
              <a:buNone/>
            </a:pPr>
            <a:r>
              <a:rPr lang="en-US" sz="1150" dirty="0">
                <a:solidFill>
                  <a:srgbClr val="1A1A2E"/>
                </a:solidFill>
                <a:latin typeface="Calibri" pitchFamily="34" charset="0"/>
                <a:ea typeface="Calibri" pitchFamily="34" charset="-122"/>
                <a:cs typeface="Calibri" pitchFamily="34" charset="-120"/>
              </a:rPr>
              <a:t>“…if it was a perfect diode, made in some unknown technology, what would happen is in the reverse direction, if the voltage across the diode was negative…” (trecho da transcrição)</a:t>
            </a:r>
            <a:endParaRPr lang="en-US" sz="1150" dirty="0"/>
          </a:p>
        </p:txBody>
      </p:sp>
      <p:sp>
        <p:nvSpPr>
          <p:cNvPr id="16" name="Text 14"/>
          <p:cNvSpPr txBox="1"/>
          <p:nvPr/>
        </p:nvSpPr>
        <p:spPr>
          <a:xfrm>
            <a:off x="6644488" y="4617720"/>
            <a:ext cx="4678528" cy="228600"/>
          </a:xfrm>
          <a:prstGeom prst="rect">
            <a:avLst/>
          </a:prstGeom>
          <a:noFill/>
          <a:ln/>
        </p:spPr>
        <p:txBody>
          <a:bodyPr wrap="square" lIns="0" tIns="0" rIns="0" bIns="0" rtlCol="0" anchor="ctr"/>
          <a:lstStyle/>
          <a:p>
            <a:pPr indent="0" marL="0">
              <a:buNone/>
            </a:pPr>
            <a:r>
              <a:rPr lang="en-US" sz="1050" b="1" spc="100" kern="0" dirty="0">
                <a:solidFill>
                  <a:srgbClr val="E8A33D"/>
                </a:solidFill>
                <a:latin typeface="Calibri" pitchFamily="34" charset="0"/>
                <a:ea typeface="Calibri" pitchFamily="34" charset="-122"/>
                <a:cs typeface="Calibri" pitchFamily="34" charset="-120"/>
              </a:rPr>
              <a:t>PERGUNTA</a:t>
            </a:r>
            <a:endParaRPr lang="en-US" sz="1050" dirty="0"/>
          </a:p>
        </p:txBody>
      </p:sp>
      <p:sp>
        <p:nvSpPr>
          <p:cNvPr id="17" name="Text 15"/>
          <p:cNvSpPr txBox="1"/>
          <p:nvPr/>
        </p:nvSpPr>
        <p:spPr>
          <a:xfrm>
            <a:off x="6644488" y="4864608"/>
            <a:ext cx="4678528" cy="548640"/>
          </a:xfrm>
          <a:prstGeom prst="rect">
            <a:avLst/>
          </a:prstGeom>
          <a:noFill/>
          <a:ln/>
        </p:spPr>
        <p:txBody>
          <a:bodyPr wrap="square" lIns="0" tIns="0" rIns="0" bIns="0" rtlCol="0" anchor="ctr"/>
          <a:lstStyle/>
          <a:p>
            <a:pPr indent="0" marL="0">
              <a:lnSpc>
                <a:spcPts val="1600"/>
              </a:lnSpc>
              <a:buNone/>
            </a:pPr>
            <a:r>
              <a:rPr lang="en-US" sz="1300" b="1" dirty="0">
                <a:solidFill>
                  <a:srgbClr val="1E2761"/>
                </a:solidFill>
                <a:latin typeface="Calibri" pitchFamily="34" charset="0"/>
                <a:ea typeface="Calibri" pitchFamily="34" charset="-122"/>
                <a:cs typeface="Calibri" pitchFamily="34" charset="-120"/>
              </a:rPr>
              <a:t>“what would a diode look like on a circuit board?”</a:t>
            </a:r>
            <a:endParaRPr lang="en-US" sz="1300" dirty="0"/>
          </a:p>
        </p:txBody>
      </p:sp>
      <p:sp>
        <p:nvSpPr>
          <p:cNvPr id="18" name="Text 16"/>
          <p:cNvSpPr txBox="1"/>
          <p:nvPr/>
        </p:nvSpPr>
        <p:spPr>
          <a:xfrm>
            <a:off x="6644488" y="5468112"/>
            <a:ext cx="4678528" cy="228600"/>
          </a:xfrm>
          <a:prstGeom prst="rect">
            <a:avLst/>
          </a:prstGeom>
          <a:noFill/>
          <a:ln/>
        </p:spPr>
        <p:txBody>
          <a:bodyPr wrap="square" lIns="0" tIns="0" rIns="0" bIns="0" rtlCol="0" anchor="ctr"/>
          <a:lstStyle/>
          <a:p>
            <a:pPr indent="0" marL="0">
              <a:buNone/>
            </a:pPr>
            <a:r>
              <a:rPr lang="en-US" sz="1050" b="1" spc="100" kern="0" dirty="0">
                <a:solidFill>
                  <a:srgbClr val="E8A33D"/>
                </a:solidFill>
                <a:latin typeface="Calibri" pitchFamily="34" charset="0"/>
                <a:ea typeface="Calibri" pitchFamily="34" charset="-122"/>
                <a:cs typeface="Calibri" pitchFamily="34" charset="-120"/>
              </a:rPr>
              <a:t>RESPOSTA</a:t>
            </a:r>
            <a:endParaRPr lang="en-US" sz="1050" dirty="0"/>
          </a:p>
        </p:txBody>
      </p:sp>
      <p:sp>
        <p:nvSpPr>
          <p:cNvPr id="19" name="Text 17"/>
          <p:cNvSpPr txBox="1"/>
          <p:nvPr/>
        </p:nvSpPr>
        <p:spPr>
          <a:xfrm>
            <a:off x="6644488" y="5705856"/>
            <a:ext cx="4678528" cy="411480"/>
          </a:xfrm>
          <a:prstGeom prst="rect">
            <a:avLst/>
          </a:prstGeom>
          <a:noFill/>
          <a:ln/>
        </p:spPr>
        <p:txBody>
          <a:bodyPr wrap="square" lIns="0" tIns="0" rIns="0" bIns="0" rtlCol="0" anchor="ctr"/>
          <a:lstStyle/>
          <a:p>
            <a:pPr indent="0" marL="0">
              <a:buNone/>
            </a:pPr>
            <a:r>
              <a:rPr lang="en-US" sz="1150" i="1" dirty="0">
                <a:solidFill>
                  <a:srgbClr val="5C6B8A"/>
                </a:solidFill>
                <a:latin typeface="Calibri" pitchFamily="34" charset="0"/>
                <a:ea typeface="Calibri" pitchFamily="34" charset="-122"/>
                <a:cs typeface="Calibri" pitchFamily="34" charset="-120"/>
              </a:rPr>
              <a:t>sem resposta anotada — a pergunta busca entendimento, não um fato pontual</a:t>
            </a:r>
            <a:endParaRPr lang="en-US" sz="1150" dirty="0"/>
          </a:p>
        </p:txBody>
      </p:sp>
      <p:sp>
        <p:nvSpPr>
          <p:cNvPr id="21" name="Text 18"/>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ANÁLISE EXPLORATÓRIA</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Contexto: parágrafo vs. transcrição inteira</a:t>
            </a:r>
            <a:endParaRPr lang="en-US" sz="3200" dirty="0"/>
          </a:p>
        </p:txBody>
      </p:sp>
      <p:sp>
        <p:nvSpPr>
          <p:cNvPr id="4" name="Shape 2"/>
          <p:cNvSpPr/>
          <p:nvPr/>
        </p:nvSpPr>
        <p:spPr>
          <a:xfrm>
            <a:off x="548640" y="2194560"/>
            <a:ext cx="5120640" cy="1737360"/>
          </a:xfrm>
          <a:prstGeom prst="roundRect">
            <a:avLst>
              <a:gd name="adj" fmla="val 5263"/>
            </a:avLst>
          </a:prstGeom>
          <a:solidFill>
            <a:srgbClr val="F0F4FC"/>
          </a:solidFill>
          <a:ln/>
        </p:spPr>
      </p:sp>
      <p:sp>
        <p:nvSpPr>
          <p:cNvPr id="5" name="Text 3"/>
          <p:cNvSpPr txBox="1"/>
          <p:nvPr/>
        </p:nvSpPr>
        <p:spPr>
          <a:xfrm>
            <a:off x="868680" y="2331720"/>
            <a:ext cx="45720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SQuAD — parágrafo da Wikipédia</a:t>
            </a:r>
            <a:endParaRPr lang="en-US" sz="1400" dirty="0"/>
          </a:p>
        </p:txBody>
      </p:sp>
      <p:sp>
        <p:nvSpPr>
          <p:cNvPr id="6" name="Text 4"/>
          <p:cNvSpPr txBox="1"/>
          <p:nvPr/>
        </p:nvSpPr>
        <p:spPr>
          <a:xfrm>
            <a:off x="868680" y="2670048"/>
            <a:ext cx="4572000" cy="5486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120 palavras (~176 tokens)</a:t>
            </a:r>
            <a:endParaRPr lang="en-US" sz="2600" dirty="0"/>
          </a:p>
        </p:txBody>
      </p:sp>
      <p:sp>
        <p:nvSpPr>
          <p:cNvPr id="7" name="Text 5"/>
          <p:cNvSpPr txBox="1"/>
          <p:nvPr/>
        </p:nvSpPr>
        <p:spPr>
          <a:xfrm>
            <a:off x="868680" y="3291840"/>
            <a:ext cx="4572000" cy="548640"/>
          </a:xfrm>
          <a:prstGeom prst="rect">
            <a:avLst/>
          </a:prstGeom>
          <a:noFill/>
          <a:ln/>
        </p:spPr>
        <p:txBody>
          <a:bodyPr wrap="square" lIns="0" tIns="0" rIns="0" bIns="0" rtlCol="0" anchor="ctr"/>
          <a:lstStyle/>
          <a:p>
            <a:pPr indent="0" marL="0">
              <a:buNone/>
            </a:pPr>
            <a:r>
              <a:rPr lang="en-US" sz="1150" dirty="0">
                <a:solidFill>
                  <a:srgbClr val="5C6B8A"/>
                </a:solidFill>
                <a:latin typeface="Calibri" pitchFamily="34" charset="0"/>
                <a:ea typeface="Calibri" pitchFamily="34" charset="-122"/>
                <a:cs typeface="Calibri" pitchFamily="34" charset="-120"/>
              </a:rPr>
              <a:t>~176 tokens · 0,26% truncado(s) em 512 tokens</a:t>
            </a:r>
            <a:endParaRPr lang="en-US" sz="1150" dirty="0"/>
          </a:p>
        </p:txBody>
      </p:sp>
      <p:sp>
        <p:nvSpPr>
          <p:cNvPr id="8" name="Shape 6"/>
          <p:cNvSpPr/>
          <p:nvPr/>
        </p:nvSpPr>
        <p:spPr>
          <a:xfrm>
            <a:off x="6035040" y="2194560"/>
            <a:ext cx="5120640" cy="1737360"/>
          </a:xfrm>
          <a:prstGeom prst="roundRect">
            <a:avLst>
              <a:gd name="adj" fmla="val 5263"/>
            </a:avLst>
          </a:prstGeom>
          <a:solidFill>
            <a:srgbClr val="1E2761"/>
          </a:solidFill>
          <a:ln/>
        </p:spPr>
      </p:sp>
      <p:sp>
        <p:nvSpPr>
          <p:cNvPr id="9" name="Text 7"/>
          <p:cNvSpPr txBox="1"/>
          <p:nvPr/>
        </p:nvSpPr>
        <p:spPr>
          <a:xfrm>
            <a:off x="6355080" y="233172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LearningQ — transcrição da aula</a:t>
            </a:r>
            <a:endParaRPr lang="en-US" sz="1400" dirty="0"/>
          </a:p>
        </p:txBody>
      </p:sp>
      <p:sp>
        <p:nvSpPr>
          <p:cNvPr id="10" name="Text 8"/>
          <p:cNvSpPr txBox="1"/>
          <p:nvPr/>
        </p:nvSpPr>
        <p:spPr>
          <a:xfrm>
            <a:off x="6355080" y="2670048"/>
            <a:ext cx="457200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1.705 palavras (até 14.905!)</a:t>
            </a:r>
            <a:endParaRPr lang="en-US" sz="2600" dirty="0"/>
          </a:p>
        </p:txBody>
      </p:sp>
      <p:sp>
        <p:nvSpPr>
          <p:cNvPr id="11" name="Text 9"/>
          <p:cNvSpPr txBox="1"/>
          <p:nvPr/>
        </p:nvSpPr>
        <p:spPr>
          <a:xfrm>
            <a:off x="6355080" y="3291840"/>
            <a:ext cx="4572000" cy="54864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~2.289 tokens · 97,8% truncado(s) em 512 tokens</a:t>
            </a:r>
            <a:endParaRPr lang="en-US" sz="1150" dirty="0"/>
          </a:p>
        </p:txBody>
      </p:sp>
      <p:graphicFrame>
        <p:nvGraphicFramePr>
          <p:cNvPr id="12" name="Chart 0" descr=""/>
          <p:cNvGraphicFramePr/>
          <p:nvPr/>
        </p:nvGraphicFramePr>
        <p:xfrm>
          <a:off x="548640" y="4206240"/>
          <a:ext cx="5120640" cy="173736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5989320"/>
            <a:ext cx="5120640" cy="274320"/>
          </a:xfrm>
          <a:prstGeom prst="rect">
            <a:avLst/>
          </a:prstGeom>
          <a:noFill/>
          <a:ln/>
        </p:spPr>
        <p:txBody>
          <a:bodyPr wrap="square" lIns="0" tIns="0" rIns="0" bIns="0" rtlCol="0" anchor="ctr"/>
          <a:lstStyle/>
          <a:p>
            <a:pPr algn="ctr" indent="0" marL="0">
              <a:buNone/>
            </a:pPr>
            <a:r>
              <a:rPr lang="en-US" sz="1100" i="1" dirty="0">
                <a:solidFill>
                  <a:srgbClr val="5C6B8A"/>
                </a:solidFill>
                <a:latin typeface="Calibri" pitchFamily="34" charset="0"/>
                <a:ea typeface="Calibri" pitchFamily="34" charset="-122"/>
                <a:cs typeface="Calibri" pitchFamily="34" charset="-120"/>
              </a:rPr>
              <a:t>Tamanho médio do contexto, em tokens do T5</a:t>
            </a:r>
            <a:endParaRPr lang="en-US" sz="1100" dirty="0"/>
          </a:p>
        </p:txBody>
      </p:sp>
      <p:sp>
        <p:nvSpPr>
          <p:cNvPr id="14" name="Shape 11"/>
          <p:cNvSpPr/>
          <p:nvPr/>
        </p:nvSpPr>
        <p:spPr>
          <a:xfrm>
            <a:off x="6492240" y="4206240"/>
            <a:ext cx="5120640" cy="2011680"/>
          </a:xfrm>
          <a:prstGeom prst="roundRect">
            <a:avLst>
              <a:gd name="adj" fmla="val 4545"/>
            </a:avLst>
          </a:prstGeom>
          <a:solidFill>
            <a:srgbClr val="F0F4FC"/>
          </a:solidFill>
          <a:ln/>
        </p:spPr>
      </p:sp>
      <p:sp>
        <p:nvSpPr>
          <p:cNvPr id="15" name="Text 12"/>
          <p:cNvSpPr txBox="1"/>
          <p:nvPr/>
        </p:nvSpPr>
        <p:spPr>
          <a:xfrm>
            <a:off x="6766560" y="4370832"/>
            <a:ext cx="4572000" cy="1737360"/>
          </a:xfrm>
          <a:prstGeom prst="rect">
            <a:avLst/>
          </a:prstGeom>
          <a:noFill/>
          <a:ln/>
        </p:spPr>
        <p:txBody>
          <a:bodyPr wrap="square" lIns="0" tIns="0" rIns="0" bIns="0" rtlCol="0" anchor="ctr"/>
          <a:lstStyle/>
          <a:p>
            <a:pPr indent="0" marL="0">
              <a:lnSpc>
                <a:spcPts val="2000"/>
              </a:lnSpc>
              <a:buNone/>
            </a:pPr>
            <a:r>
              <a:rPr lang="en-US" sz="1500" b="1" dirty="0">
                <a:solidFill>
                  <a:srgbClr val="1E2761"/>
                </a:solidFill>
                <a:latin typeface="Calibri" pitchFamily="34" charset="0"/>
                <a:ea typeface="Calibri" pitchFamily="34" charset="-122"/>
                <a:cs typeface="Calibri" pitchFamily="34" charset="-120"/>
              </a:rPr>
              <a:t>LearningQ: usar o “questionsrc”, não a aula inteira</a:t>
            </a:r>
            <a:endParaRPr lang="en-US" sz="1500" dirty="0"/>
          </a:p>
        </p:txBody>
      </p:sp>
      <p:sp>
        <p:nvSpPr>
          <p:cNvPr id="17" name="Text 13"/>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METODOLOGIA</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Como o SQuAD foi dividido</a:t>
            </a:r>
            <a:endParaRPr lang="en-US" sz="3200" dirty="0"/>
          </a:p>
        </p:txBody>
      </p:sp>
      <p:sp>
        <p:nvSpPr>
          <p:cNvPr id="4" name="Shape 2"/>
          <p:cNvSpPr/>
          <p:nvPr/>
        </p:nvSpPr>
        <p:spPr>
          <a:xfrm>
            <a:off x="548640" y="2194560"/>
            <a:ext cx="3383280" cy="1920240"/>
          </a:xfrm>
          <a:prstGeom prst="roundRect">
            <a:avLst>
              <a:gd name="adj" fmla="val 4762"/>
            </a:avLst>
          </a:prstGeom>
          <a:solidFill>
            <a:srgbClr val="F0F4FC"/>
          </a:solidFill>
          <a:ln/>
        </p:spPr>
      </p:sp>
      <p:sp>
        <p:nvSpPr>
          <p:cNvPr id="5" name="Text 3"/>
          <p:cNvSpPr txBox="1"/>
          <p:nvPr/>
        </p:nvSpPr>
        <p:spPr>
          <a:xfrm>
            <a:off x="822960" y="2377440"/>
            <a:ext cx="2834640" cy="320040"/>
          </a:xfrm>
          <a:prstGeom prst="rect">
            <a:avLst/>
          </a:prstGeom>
          <a:noFill/>
          <a:ln/>
        </p:spPr>
        <p:txBody>
          <a:bodyPr wrap="square" lIns="0" tIns="0" rIns="0" bIns="0" rtlCol="0" anchor="ctr"/>
          <a:lstStyle/>
          <a:p>
            <a:pPr indent="0" marL="0">
              <a:buNone/>
            </a:pPr>
            <a:r>
              <a:rPr lang="en-US" sz="1300" b="1" spc="100" kern="0" dirty="0">
                <a:solidFill>
                  <a:srgbClr val="5C6B8A"/>
                </a:solidFill>
                <a:latin typeface="Calibri" pitchFamily="34" charset="0"/>
                <a:ea typeface="Calibri" pitchFamily="34" charset="-122"/>
                <a:cs typeface="Calibri" pitchFamily="34" charset="-120"/>
              </a:rPr>
              <a:t>TREINO · 95,4%</a:t>
            </a:r>
            <a:endParaRPr lang="en-US" sz="1300" dirty="0"/>
          </a:p>
        </p:txBody>
      </p:sp>
      <p:sp>
        <p:nvSpPr>
          <p:cNvPr id="6" name="Text 4"/>
          <p:cNvSpPr txBox="1"/>
          <p:nvPr/>
        </p:nvSpPr>
        <p:spPr>
          <a:xfrm>
            <a:off x="822960" y="2697480"/>
            <a:ext cx="2834640" cy="77724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83.575</a:t>
            </a:r>
            <a:endParaRPr lang="en-US" sz="3600" dirty="0"/>
          </a:p>
        </p:txBody>
      </p:sp>
      <p:sp>
        <p:nvSpPr>
          <p:cNvPr id="7" name="Text 5"/>
          <p:cNvSpPr txBox="1"/>
          <p:nvPr/>
        </p:nvSpPr>
        <p:spPr>
          <a:xfrm>
            <a:off x="822960" y="3520440"/>
            <a:ext cx="2834640" cy="502920"/>
          </a:xfrm>
          <a:prstGeom prst="rect">
            <a:avLst/>
          </a:prstGeom>
          <a:noFill/>
          <a:ln/>
        </p:spPr>
        <p:txBody>
          <a:bodyPr wrap="square" lIns="0" tIns="0" rIns="0" bIns="0" rtlCol="0" anchor="ctr"/>
          <a:lstStyle/>
          <a:p>
            <a:pPr indent="0" marL="0">
              <a:buNone/>
            </a:pPr>
            <a:r>
              <a:rPr lang="en-US" sz="1200" dirty="0">
                <a:solidFill>
                  <a:srgbClr val="5C6B8A"/>
                </a:solidFill>
                <a:latin typeface="Calibri" pitchFamily="34" charset="0"/>
                <a:ea typeface="Calibri" pitchFamily="34" charset="-122"/>
                <a:cs typeface="Calibri" pitchFamily="34" charset="-120"/>
              </a:rPr>
              <a:t>420 artigos</a:t>
            </a:r>
            <a:endParaRPr lang="en-US" sz="1200" dirty="0"/>
          </a:p>
        </p:txBody>
      </p:sp>
      <p:sp>
        <p:nvSpPr>
          <p:cNvPr id="8" name="Shape 6"/>
          <p:cNvSpPr/>
          <p:nvPr/>
        </p:nvSpPr>
        <p:spPr>
          <a:xfrm>
            <a:off x="4297680" y="2194560"/>
            <a:ext cx="3383280" cy="1920240"/>
          </a:xfrm>
          <a:prstGeom prst="roundRect">
            <a:avLst>
              <a:gd name="adj" fmla="val 4762"/>
            </a:avLst>
          </a:prstGeom>
          <a:solidFill>
            <a:srgbClr val="F0F4FC"/>
          </a:solidFill>
          <a:ln/>
        </p:spPr>
      </p:sp>
      <p:sp>
        <p:nvSpPr>
          <p:cNvPr id="9" name="Text 7"/>
          <p:cNvSpPr txBox="1"/>
          <p:nvPr/>
        </p:nvSpPr>
        <p:spPr>
          <a:xfrm>
            <a:off x="4572000" y="2377440"/>
            <a:ext cx="2834640" cy="320040"/>
          </a:xfrm>
          <a:prstGeom prst="rect">
            <a:avLst/>
          </a:prstGeom>
          <a:noFill/>
          <a:ln/>
        </p:spPr>
        <p:txBody>
          <a:bodyPr wrap="square" lIns="0" tIns="0" rIns="0" bIns="0" rtlCol="0" anchor="ctr"/>
          <a:lstStyle/>
          <a:p>
            <a:pPr indent="0" marL="0">
              <a:buNone/>
            </a:pPr>
            <a:r>
              <a:rPr lang="en-US" sz="1300" b="1" spc="100" kern="0" dirty="0">
                <a:solidFill>
                  <a:srgbClr val="5C6B8A"/>
                </a:solidFill>
                <a:latin typeface="Calibri" pitchFamily="34" charset="0"/>
                <a:ea typeface="Calibri" pitchFamily="34" charset="-122"/>
                <a:cs typeface="Calibri" pitchFamily="34" charset="-120"/>
              </a:rPr>
              <a:t>VALIDAÇÃO (DEV) · 4,6%</a:t>
            </a:r>
            <a:endParaRPr lang="en-US" sz="1300" dirty="0"/>
          </a:p>
        </p:txBody>
      </p:sp>
      <p:sp>
        <p:nvSpPr>
          <p:cNvPr id="10" name="Text 8"/>
          <p:cNvSpPr txBox="1"/>
          <p:nvPr/>
        </p:nvSpPr>
        <p:spPr>
          <a:xfrm>
            <a:off x="4572000" y="2697480"/>
            <a:ext cx="2834640" cy="77724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4.024</a:t>
            </a:r>
            <a:endParaRPr lang="en-US" sz="3600" dirty="0"/>
          </a:p>
        </p:txBody>
      </p:sp>
      <p:sp>
        <p:nvSpPr>
          <p:cNvPr id="11" name="Text 9"/>
          <p:cNvSpPr txBox="1"/>
          <p:nvPr/>
        </p:nvSpPr>
        <p:spPr>
          <a:xfrm>
            <a:off x="4572000" y="3520440"/>
            <a:ext cx="2834640" cy="502920"/>
          </a:xfrm>
          <a:prstGeom prst="rect">
            <a:avLst/>
          </a:prstGeom>
          <a:noFill/>
          <a:ln/>
        </p:spPr>
        <p:txBody>
          <a:bodyPr wrap="square" lIns="0" tIns="0" rIns="0" bIns="0" rtlCol="0" anchor="ctr"/>
          <a:lstStyle/>
          <a:p>
            <a:pPr indent="0" marL="0">
              <a:buNone/>
            </a:pPr>
            <a:r>
              <a:rPr lang="en-US" sz="1200" dirty="0">
                <a:solidFill>
                  <a:srgbClr val="5C6B8A"/>
                </a:solidFill>
                <a:latin typeface="Calibri" pitchFamily="34" charset="0"/>
                <a:ea typeface="Calibri" pitchFamily="34" charset="-122"/>
                <a:cs typeface="Calibri" pitchFamily="34" charset="-120"/>
              </a:rPr>
              <a:t>22 artigos — early stopping (decide a hora de parar)</a:t>
            </a:r>
            <a:endParaRPr lang="en-US" sz="1200" dirty="0"/>
          </a:p>
        </p:txBody>
      </p:sp>
      <p:sp>
        <p:nvSpPr>
          <p:cNvPr id="12" name="Shape 10"/>
          <p:cNvSpPr/>
          <p:nvPr/>
        </p:nvSpPr>
        <p:spPr>
          <a:xfrm>
            <a:off x="8046720" y="2194560"/>
            <a:ext cx="3383280" cy="1920240"/>
          </a:xfrm>
          <a:prstGeom prst="roundRect">
            <a:avLst>
              <a:gd name="adj" fmla="val 4762"/>
            </a:avLst>
          </a:prstGeom>
          <a:solidFill>
            <a:srgbClr val="1E2761"/>
          </a:solidFill>
          <a:ln/>
        </p:spPr>
      </p:sp>
      <p:sp>
        <p:nvSpPr>
          <p:cNvPr id="13" name="Text 11"/>
          <p:cNvSpPr txBox="1"/>
          <p:nvPr/>
        </p:nvSpPr>
        <p:spPr>
          <a:xfrm>
            <a:off x="8321040" y="2377440"/>
            <a:ext cx="2834640" cy="320040"/>
          </a:xfrm>
          <a:prstGeom prst="rect">
            <a:avLst/>
          </a:prstGeom>
          <a:noFill/>
          <a:ln/>
        </p:spPr>
        <p:txBody>
          <a:bodyPr wrap="square" lIns="0" tIns="0" rIns="0" bIns="0" rtlCol="0" anchor="ctr"/>
          <a:lstStyle/>
          <a:p>
            <a:pPr indent="0" marL="0">
              <a:buNone/>
            </a:pPr>
            <a:r>
              <a:rPr lang="en-US" sz="1300" b="1" spc="100" kern="0" dirty="0">
                <a:solidFill>
                  <a:srgbClr val="CADCFC"/>
                </a:solidFill>
                <a:latin typeface="Calibri" pitchFamily="34" charset="0"/>
                <a:ea typeface="Calibri" pitchFamily="34" charset="-122"/>
                <a:cs typeface="Calibri" pitchFamily="34" charset="-120"/>
              </a:rPr>
              <a:t>TESTE · 100%</a:t>
            </a:r>
            <a:endParaRPr lang="en-US" sz="1300" dirty="0"/>
          </a:p>
        </p:txBody>
      </p:sp>
      <p:sp>
        <p:nvSpPr>
          <p:cNvPr id="14" name="Text 12"/>
          <p:cNvSpPr txBox="1"/>
          <p:nvPr/>
        </p:nvSpPr>
        <p:spPr>
          <a:xfrm>
            <a:off x="8321040" y="2697480"/>
            <a:ext cx="2834640"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10.570</a:t>
            </a:r>
            <a:endParaRPr lang="en-US" sz="3600" dirty="0"/>
          </a:p>
        </p:txBody>
      </p:sp>
      <p:sp>
        <p:nvSpPr>
          <p:cNvPr id="15" name="Text 13"/>
          <p:cNvSpPr txBox="1"/>
          <p:nvPr/>
        </p:nvSpPr>
        <p:spPr>
          <a:xfrm>
            <a:off x="8321040" y="3520440"/>
            <a:ext cx="2834640" cy="50292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48 artigos — split oficial do SQuAD</a:t>
            </a:r>
            <a:endParaRPr lang="en-US" sz="1200" dirty="0"/>
          </a:p>
        </p:txBody>
      </p:sp>
      <p:sp>
        <p:nvSpPr>
          <p:cNvPr id="16" name="Shape 14"/>
          <p:cNvSpPr/>
          <p:nvPr/>
        </p:nvSpPr>
        <p:spPr>
          <a:xfrm>
            <a:off x="548640" y="4526280"/>
            <a:ext cx="10881360" cy="1463040"/>
          </a:xfrm>
          <a:prstGeom prst="roundRect">
            <a:avLst>
              <a:gd name="adj" fmla="val 6250"/>
            </a:avLst>
          </a:prstGeom>
          <a:solidFill>
            <a:srgbClr val="F0F4FC"/>
          </a:solidFill>
          <a:ln/>
        </p:spPr>
      </p:sp>
      <p:sp>
        <p:nvSpPr>
          <p:cNvPr id="17" name="Text 15"/>
          <p:cNvSpPr txBox="1"/>
          <p:nvPr/>
        </p:nvSpPr>
        <p:spPr>
          <a:xfrm>
            <a:off x="868680" y="4681728"/>
            <a:ext cx="10241280" cy="118872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Divisão (split) por artigo, não por linha — evita fuga de informação entre treino e validação</a:t>
            </a:r>
            <a:endParaRPr lang="en-US" sz="1600" dirty="0"/>
          </a:p>
        </p:txBody>
      </p:sp>
      <p:sp>
        <p:nvSpPr>
          <p:cNvPr id="19" name="Text 16"/>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ARQUITETURA DO MODELO</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Rede neural, aplicada: Feed-Forward</a:t>
            </a:r>
            <a:endParaRPr lang="en-US" sz="3200" dirty="0"/>
          </a:p>
        </p:txBody>
      </p:sp>
      <p:sp>
        <p:nvSpPr>
          <p:cNvPr id="4" name="Text 2"/>
          <p:cNvSpPr txBox="1"/>
          <p:nvPr/>
        </p:nvSpPr>
        <p:spPr>
          <a:xfrm>
            <a:off x="548640" y="1481328"/>
            <a:ext cx="11094415" cy="320040"/>
          </a:xfrm>
          <a:prstGeom prst="rect">
            <a:avLst/>
          </a:prstGeom>
          <a:noFill/>
          <a:ln/>
        </p:spPr>
        <p:txBody>
          <a:bodyPr wrap="square" lIns="0" tIns="0" rIns="0" bIns="0" rtlCol="0" anchor="ctr"/>
          <a:lstStyle/>
          <a:p>
            <a:pPr indent="0" marL="0">
              <a:buNone/>
            </a:pPr>
            <a:r>
              <a:rPr lang="en-US" sz="1300" i="1" dirty="0">
                <a:solidFill>
                  <a:srgbClr val="5C6B8A"/>
                </a:solidFill>
                <a:latin typeface="Calibri" pitchFamily="34" charset="0"/>
                <a:ea typeface="Calibri" pitchFamily="34" charset="-122"/>
                <a:cs typeface="Calibri" pitchFamily="34" charset="-120"/>
              </a:rPr>
              <a:t>Aplicado ao Transformer: este é o formato real da Feed-Forward do T5-small (slide 12)</a:t>
            </a:r>
            <a:endParaRPr lang="en-US" sz="1300" dirty="0"/>
          </a:p>
        </p:txBody>
      </p:sp>
      <p:sp>
        <p:nvSpPr>
          <p:cNvPr id="5" name="Shape 3"/>
          <p:cNvSpPr/>
          <p:nvPr/>
        </p:nvSpPr>
        <p:spPr>
          <a:xfrm flipV="1">
            <a:off x="2103120" y="2491740"/>
            <a:ext cx="4206240" cy="205740"/>
          </a:xfrm>
          <a:prstGeom prst="line">
            <a:avLst/>
          </a:prstGeom>
          <a:noFill/>
          <a:ln w="6350">
            <a:solidFill>
              <a:srgbClr val="B9C6E8">
                <a:alpha val="75000"/>
              </a:srgbClr>
            </a:solidFill>
            <a:prstDash val="solid"/>
          </a:ln>
        </p:spPr>
      </p:sp>
      <p:sp>
        <p:nvSpPr>
          <p:cNvPr id="6" name="Shape 4"/>
          <p:cNvSpPr/>
          <p:nvPr/>
        </p:nvSpPr>
        <p:spPr>
          <a:xfrm>
            <a:off x="2103120" y="2697480"/>
            <a:ext cx="4206240" cy="137160"/>
          </a:xfrm>
          <a:prstGeom prst="line">
            <a:avLst/>
          </a:prstGeom>
          <a:noFill/>
          <a:ln w="6350">
            <a:solidFill>
              <a:srgbClr val="B9C6E8">
                <a:alpha val="75000"/>
              </a:srgbClr>
            </a:solidFill>
            <a:prstDash val="solid"/>
          </a:ln>
        </p:spPr>
      </p:sp>
      <p:sp>
        <p:nvSpPr>
          <p:cNvPr id="7" name="Shape 5"/>
          <p:cNvSpPr/>
          <p:nvPr/>
        </p:nvSpPr>
        <p:spPr>
          <a:xfrm>
            <a:off x="2103120" y="2697480"/>
            <a:ext cx="4206240" cy="480060"/>
          </a:xfrm>
          <a:prstGeom prst="line">
            <a:avLst/>
          </a:prstGeom>
          <a:noFill/>
          <a:ln w="6350">
            <a:solidFill>
              <a:srgbClr val="B9C6E8">
                <a:alpha val="75000"/>
              </a:srgbClr>
            </a:solidFill>
            <a:prstDash val="solid"/>
          </a:ln>
        </p:spPr>
      </p:sp>
      <p:sp>
        <p:nvSpPr>
          <p:cNvPr id="8" name="Shape 6"/>
          <p:cNvSpPr/>
          <p:nvPr/>
        </p:nvSpPr>
        <p:spPr>
          <a:xfrm>
            <a:off x="2103120" y="2697480"/>
            <a:ext cx="4206240" cy="822960"/>
          </a:xfrm>
          <a:prstGeom prst="line">
            <a:avLst/>
          </a:prstGeom>
          <a:noFill/>
          <a:ln w="6350">
            <a:solidFill>
              <a:srgbClr val="B9C6E8">
                <a:alpha val="75000"/>
              </a:srgbClr>
            </a:solidFill>
            <a:prstDash val="solid"/>
          </a:ln>
        </p:spPr>
      </p:sp>
      <p:sp>
        <p:nvSpPr>
          <p:cNvPr id="9" name="Shape 7"/>
          <p:cNvSpPr/>
          <p:nvPr/>
        </p:nvSpPr>
        <p:spPr>
          <a:xfrm>
            <a:off x="2103120" y="2697480"/>
            <a:ext cx="4206240" cy="1165860"/>
          </a:xfrm>
          <a:prstGeom prst="line">
            <a:avLst/>
          </a:prstGeom>
          <a:noFill/>
          <a:ln w="6350">
            <a:solidFill>
              <a:srgbClr val="B9C6E8">
                <a:alpha val="75000"/>
              </a:srgbClr>
            </a:solidFill>
            <a:prstDash val="solid"/>
          </a:ln>
        </p:spPr>
      </p:sp>
      <p:sp>
        <p:nvSpPr>
          <p:cNvPr id="10" name="Shape 8"/>
          <p:cNvSpPr/>
          <p:nvPr/>
        </p:nvSpPr>
        <p:spPr>
          <a:xfrm>
            <a:off x="2103120" y="2697480"/>
            <a:ext cx="4206240" cy="1508760"/>
          </a:xfrm>
          <a:prstGeom prst="line">
            <a:avLst/>
          </a:prstGeom>
          <a:noFill/>
          <a:ln w="6350">
            <a:solidFill>
              <a:srgbClr val="B9C6E8">
                <a:alpha val="75000"/>
              </a:srgbClr>
            </a:solidFill>
            <a:prstDash val="solid"/>
          </a:ln>
        </p:spPr>
      </p:sp>
      <p:sp>
        <p:nvSpPr>
          <p:cNvPr id="11" name="Shape 9"/>
          <p:cNvSpPr/>
          <p:nvPr/>
        </p:nvSpPr>
        <p:spPr>
          <a:xfrm>
            <a:off x="2103120" y="2697480"/>
            <a:ext cx="4206240" cy="1851660"/>
          </a:xfrm>
          <a:prstGeom prst="line">
            <a:avLst/>
          </a:prstGeom>
          <a:noFill/>
          <a:ln w="6350">
            <a:solidFill>
              <a:srgbClr val="B9C6E8">
                <a:alpha val="75000"/>
              </a:srgbClr>
            </a:solidFill>
            <a:prstDash val="solid"/>
          </a:ln>
        </p:spPr>
      </p:sp>
      <p:sp>
        <p:nvSpPr>
          <p:cNvPr id="12" name="Shape 10"/>
          <p:cNvSpPr/>
          <p:nvPr/>
        </p:nvSpPr>
        <p:spPr>
          <a:xfrm flipV="1">
            <a:off x="2103120" y="2491740"/>
            <a:ext cx="4206240" cy="754380"/>
          </a:xfrm>
          <a:prstGeom prst="line">
            <a:avLst/>
          </a:prstGeom>
          <a:noFill/>
          <a:ln w="6350">
            <a:solidFill>
              <a:srgbClr val="B9C6E8">
                <a:alpha val="75000"/>
              </a:srgbClr>
            </a:solidFill>
            <a:prstDash val="solid"/>
          </a:ln>
        </p:spPr>
      </p:sp>
      <p:sp>
        <p:nvSpPr>
          <p:cNvPr id="13" name="Shape 11"/>
          <p:cNvSpPr/>
          <p:nvPr/>
        </p:nvSpPr>
        <p:spPr>
          <a:xfrm flipV="1">
            <a:off x="2103120" y="2834640"/>
            <a:ext cx="4206240" cy="411480"/>
          </a:xfrm>
          <a:prstGeom prst="line">
            <a:avLst/>
          </a:prstGeom>
          <a:noFill/>
          <a:ln w="6350">
            <a:solidFill>
              <a:srgbClr val="B9C6E8">
                <a:alpha val="75000"/>
              </a:srgbClr>
            </a:solidFill>
            <a:prstDash val="solid"/>
          </a:ln>
        </p:spPr>
      </p:sp>
      <p:sp>
        <p:nvSpPr>
          <p:cNvPr id="14" name="Shape 12"/>
          <p:cNvSpPr/>
          <p:nvPr/>
        </p:nvSpPr>
        <p:spPr>
          <a:xfrm flipV="1">
            <a:off x="2103120" y="3177540"/>
            <a:ext cx="4206240" cy="68580"/>
          </a:xfrm>
          <a:prstGeom prst="line">
            <a:avLst/>
          </a:prstGeom>
          <a:noFill/>
          <a:ln w="6350">
            <a:solidFill>
              <a:srgbClr val="B9C6E8">
                <a:alpha val="75000"/>
              </a:srgbClr>
            </a:solidFill>
            <a:prstDash val="solid"/>
          </a:ln>
        </p:spPr>
      </p:sp>
      <p:sp>
        <p:nvSpPr>
          <p:cNvPr id="15" name="Shape 13"/>
          <p:cNvSpPr/>
          <p:nvPr/>
        </p:nvSpPr>
        <p:spPr>
          <a:xfrm>
            <a:off x="2103120" y="3246120"/>
            <a:ext cx="4206240" cy="274320"/>
          </a:xfrm>
          <a:prstGeom prst="line">
            <a:avLst/>
          </a:prstGeom>
          <a:noFill/>
          <a:ln w="6350">
            <a:solidFill>
              <a:srgbClr val="B9C6E8">
                <a:alpha val="75000"/>
              </a:srgbClr>
            </a:solidFill>
            <a:prstDash val="solid"/>
          </a:ln>
        </p:spPr>
      </p:sp>
      <p:sp>
        <p:nvSpPr>
          <p:cNvPr id="16" name="Shape 14"/>
          <p:cNvSpPr/>
          <p:nvPr/>
        </p:nvSpPr>
        <p:spPr>
          <a:xfrm>
            <a:off x="2103120" y="3246120"/>
            <a:ext cx="4206240" cy="617220"/>
          </a:xfrm>
          <a:prstGeom prst="line">
            <a:avLst/>
          </a:prstGeom>
          <a:noFill/>
          <a:ln w="6350">
            <a:solidFill>
              <a:srgbClr val="B9C6E8">
                <a:alpha val="75000"/>
              </a:srgbClr>
            </a:solidFill>
            <a:prstDash val="solid"/>
          </a:ln>
        </p:spPr>
      </p:sp>
      <p:sp>
        <p:nvSpPr>
          <p:cNvPr id="17" name="Shape 15"/>
          <p:cNvSpPr/>
          <p:nvPr/>
        </p:nvSpPr>
        <p:spPr>
          <a:xfrm>
            <a:off x="2103120" y="3246120"/>
            <a:ext cx="4206240" cy="960120"/>
          </a:xfrm>
          <a:prstGeom prst="line">
            <a:avLst/>
          </a:prstGeom>
          <a:noFill/>
          <a:ln w="6350">
            <a:solidFill>
              <a:srgbClr val="B9C6E8">
                <a:alpha val="75000"/>
              </a:srgbClr>
            </a:solidFill>
            <a:prstDash val="solid"/>
          </a:ln>
        </p:spPr>
      </p:sp>
      <p:sp>
        <p:nvSpPr>
          <p:cNvPr id="18" name="Shape 16"/>
          <p:cNvSpPr/>
          <p:nvPr/>
        </p:nvSpPr>
        <p:spPr>
          <a:xfrm>
            <a:off x="2103120" y="3246120"/>
            <a:ext cx="4206240" cy="1303020"/>
          </a:xfrm>
          <a:prstGeom prst="line">
            <a:avLst/>
          </a:prstGeom>
          <a:noFill/>
          <a:ln w="6350">
            <a:solidFill>
              <a:srgbClr val="B9C6E8">
                <a:alpha val="75000"/>
              </a:srgbClr>
            </a:solidFill>
            <a:prstDash val="solid"/>
          </a:ln>
        </p:spPr>
      </p:sp>
      <p:sp>
        <p:nvSpPr>
          <p:cNvPr id="19" name="Shape 17"/>
          <p:cNvSpPr/>
          <p:nvPr/>
        </p:nvSpPr>
        <p:spPr>
          <a:xfrm flipV="1">
            <a:off x="2103120" y="2491740"/>
            <a:ext cx="4206240" cy="1303020"/>
          </a:xfrm>
          <a:prstGeom prst="line">
            <a:avLst/>
          </a:prstGeom>
          <a:noFill/>
          <a:ln w="6350">
            <a:solidFill>
              <a:srgbClr val="B9C6E8">
                <a:alpha val="75000"/>
              </a:srgbClr>
            </a:solidFill>
            <a:prstDash val="solid"/>
          </a:ln>
        </p:spPr>
      </p:sp>
      <p:sp>
        <p:nvSpPr>
          <p:cNvPr id="20" name="Shape 18"/>
          <p:cNvSpPr/>
          <p:nvPr/>
        </p:nvSpPr>
        <p:spPr>
          <a:xfrm flipV="1">
            <a:off x="2103120" y="2834640"/>
            <a:ext cx="4206240" cy="960120"/>
          </a:xfrm>
          <a:prstGeom prst="line">
            <a:avLst/>
          </a:prstGeom>
          <a:noFill/>
          <a:ln w="6350">
            <a:solidFill>
              <a:srgbClr val="B9C6E8">
                <a:alpha val="75000"/>
              </a:srgbClr>
            </a:solidFill>
            <a:prstDash val="solid"/>
          </a:ln>
        </p:spPr>
      </p:sp>
      <p:sp>
        <p:nvSpPr>
          <p:cNvPr id="21" name="Shape 19"/>
          <p:cNvSpPr/>
          <p:nvPr/>
        </p:nvSpPr>
        <p:spPr>
          <a:xfrm flipV="1">
            <a:off x="2103120" y="3177540"/>
            <a:ext cx="4206240" cy="617220"/>
          </a:xfrm>
          <a:prstGeom prst="line">
            <a:avLst/>
          </a:prstGeom>
          <a:noFill/>
          <a:ln w="6350">
            <a:solidFill>
              <a:srgbClr val="B9C6E8">
                <a:alpha val="75000"/>
              </a:srgbClr>
            </a:solidFill>
            <a:prstDash val="solid"/>
          </a:ln>
        </p:spPr>
      </p:sp>
      <p:sp>
        <p:nvSpPr>
          <p:cNvPr id="22" name="Shape 20"/>
          <p:cNvSpPr/>
          <p:nvPr/>
        </p:nvSpPr>
        <p:spPr>
          <a:xfrm flipV="1">
            <a:off x="2103120" y="3520440"/>
            <a:ext cx="4206240" cy="274320"/>
          </a:xfrm>
          <a:prstGeom prst="line">
            <a:avLst/>
          </a:prstGeom>
          <a:noFill/>
          <a:ln w="6350">
            <a:solidFill>
              <a:srgbClr val="B9C6E8">
                <a:alpha val="75000"/>
              </a:srgbClr>
            </a:solidFill>
            <a:prstDash val="solid"/>
          </a:ln>
        </p:spPr>
      </p:sp>
      <p:sp>
        <p:nvSpPr>
          <p:cNvPr id="23" name="Shape 21"/>
          <p:cNvSpPr/>
          <p:nvPr/>
        </p:nvSpPr>
        <p:spPr>
          <a:xfrm>
            <a:off x="2103120" y="3794760"/>
            <a:ext cx="4206240" cy="68580"/>
          </a:xfrm>
          <a:prstGeom prst="line">
            <a:avLst/>
          </a:prstGeom>
          <a:noFill/>
          <a:ln w="6350">
            <a:solidFill>
              <a:srgbClr val="B9C6E8">
                <a:alpha val="75000"/>
              </a:srgbClr>
            </a:solidFill>
            <a:prstDash val="solid"/>
          </a:ln>
        </p:spPr>
      </p:sp>
      <p:sp>
        <p:nvSpPr>
          <p:cNvPr id="24" name="Shape 22"/>
          <p:cNvSpPr/>
          <p:nvPr/>
        </p:nvSpPr>
        <p:spPr>
          <a:xfrm>
            <a:off x="2103120" y="3794760"/>
            <a:ext cx="4206240" cy="411480"/>
          </a:xfrm>
          <a:prstGeom prst="line">
            <a:avLst/>
          </a:prstGeom>
          <a:noFill/>
          <a:ln w="6350">
            <a:solidFill>
              <a:srgbClr val="B9C6E8">
                <a:alpha val="75000"/>
              </a:srgbClr>
            </a:solidFill>
            <a:prstDash val="solid"/>
          </a:ln>
        </p:spPr>
      </p:sp>
      <p:sp>
        <p:nvSpPr>
          <p:cNvPr id="25" name="Shape 23"/>
          <p:cNvSpPr/>
          <p:nvPr/>
        </p:nvSpPr>
        <p:spPr>
          <a:xfrm>
            <a:off x="2103120" y="3794760"/>
            <a:ext cx="4206240" cy="754380"/>
          </a:xfrm>
          <a:prstGeom prst="line">
            <a:avLst/>
          </a:prstGeom>
          <a:noFill/>
          <a:ln w="6350">
            <a:solidFill>
              <a:srgbClr val="B9C6E8">
                <a:alpha val="75000"/>
              </a:srgbClr>
            </a:solidFill>
            <a:prstDash val="solid"/>
          </a:ln>
        </p:spPr>
      </p:sp>
      <p:sp>
        <p:nvSpPr>
          <p:cNvPr id="26" name="Shape 24"/>
          <p:cNvSpPr/>
          <p:nvPr/>
        </p:nvSpPr>
        <p:spPr>
          <a:xfrm flipV="1">
            <a:off x="2103120" y="2491740"/>
            <a:ext cx="4206240" cy="1851660"/>
          </a:xfrm>
          <a:prstGeom prst="line">
            <a:avLst/>
          </a:prstGeom>
          <a:noFill/>
          <a:ln w="6350">
            <a:solidFill>
              <a:srgbClr val="B9C6E8">
                <a:alpha val="75000"/>
              </a:srgbClr>
            </a:solidFill>
            <a:prstDash val="solid"/>
          </a:ln>
        </p:spPr>
      </p:sp>
      <p:sp>
        <p:nvSpPr>
          <p:cNvPr id="27" name="Shape 25"/>
          <p:cNvSpPr/>
          <p:nvPr/>
        </p:nvSpPr>
        <p:spPr>
          <a:xfrm flipV="1">
            <a:off x="2103120" y="2834640"/>
            <a:ext cx="4206240" cy="1508760"/>
          </a:xfrm>
          <a:prstGeom prst="line">
            <a:avLst/>
          </a:prstGeom>
          <a:noFill/>
          <a:ln w="6350">
            <a:solidFill>
              <a:srgbClr val="B9C6E8">
                <a:alpha val="75000"/>
              </a:srgbClr>
            </a:solidFill>
            <a:prstDash val="solid"/>
          </a:ln>
        </p:spPr>
      </p:sp>
      <p:sp>
        <p:nvSpPr>
          <p:cNvPr id="28" name="Shape 26"/>
          <p:cNvSpPr/>
          <p:nvPr/>
        </p:nvSpPr>
        <p:spPr>
          <a:xfrm flipV="1">
            <a:off x="2103120" y="3177540"/>
            <a:ext cx="4206240" cy="1165860"/>
          </a:xfrm>
          <a:prstGeom prst="line">
            <a:avLst/>
          </a:prstGeom>
          <a:noFill/>
          <a:ln w="6350">
            <a:solidFill>
              <a:srgbClr val="B9C6E8">
                <a:alpha val="75000"/>
              </a:srgbClr>
            </a:solidFill>
            <a:prstDash val="solid"/>
          </a:ln>
        </p:spPr>
      </p:sp>
      <p:sp>
        <p:nvSpPr>
          <p:cNvPr id="29" name="Shape 27"/>
          <p:cNvSpPr/>
          <p:nvPr/>
        </p:nvSpPr>
        <p:spPr>
          <a:xfrm flipV="1">
            <a:off x="2103120" y="3520440"/>
            <a:ext cx="4206240" cy="822960"/>
          </a:xfrm>
          <a:prstGeom prst="line">
            <a:avLst/>
          </a:prstGeom>
          <a:noFill/>
          <a:ln w="6350">
            <a:solidFill>
              <a:srgbClr val="B9C6E8">
                <a:alpha val="75000"/>
              </a:srgbClr>
            </a:solidFill>
            <a:prstDash val="solid"/>
          </a:ln>
        </p:spPr>
      </p:sp>
      <p:sp>
        <p:nvSpPr>
          <p:cNvPr id="30" name="Shape 28"/>
          <p:cNvSpPr/>
          <p:nvPr/>
        </p:nvSpPr>
        <p:spPr>
          <a:xfrm flipV="1">
            <a:off x="2103120" y="3863340"/>
            <a:ext cx="4206240" cy="480060"/>
          </a:xfrm>
          <a:prstGeom prst="line">
            <a:avLst/>
          </a:prstGeom>
          <a:noFill/>
          <a:ln w="6350">
            <a:solidFill>
              <a:srgbClr val="B9C6E8">
                <a:alpha val="75000"/>
              </a:srgbClr>
            </a:solidFill>
            <a:prstDash val="solid"/>
          </a:ln>
        </p:spPr>
      </p:sp>
      <p:sp>
        <p:nvSpPr>
          <p:cNvPr id="31" name="Shape 29"/>
          <p:cNvSpPr/>
          <p:nvPr/>
        </p:nvSpPr>
        <p:spPr>
          <a:xfrm flipV="1">
            <a:off x="2103120" y="4206240"/>
            <a:ext cx="4206240" cy="137160"/>
          </a:xfrm>
          <a:prstGeom prst="line">
            <a:avLst/>
          </a:prstGeom>
          <a:noFill/>
          <a:ln w="6350">
            <a:solidFill>
              <a:srgbClr val="B9C6E8">
                <a:alpha val="75000"/>
              </a:srgbClr>
            </a:solidFill>
            <a:prstDash val="solid"/>
          </a:ln>
        </p:spPr>
      </p:sp>
      <p:sp>
        <p:nvSpPr>
          <p:cNvPr id="32" name="Shape 30"/>
          <p:cNvSpPr/>
          <p:nvPr/>
        </p:nvSpPr>
        <p:spPr>
          <a:xfrm>
            <a:off x="2103120" y="4343400"/>
            <a:ext cx="4206240" cy="205740"/>
          </a:xfrm>
          <a:prstGeom prst="line">
            <a:avLst/>
          </a:prstGeom>
          <a:noFill/>
          <a:ln w="6350">
            <a:solidFill>
              <a:srgbClr val="B9C6E8">
                <a:alpha val="75000"/>
              </a:srgbClr>
            </a:solidFill>
            <a:prstDash val="solid"/>
          </a:ln>
        </p:spPr>
      </p:sp>
      <p:sp>
        <p:nvSpPr>
          <p:cNvPr id="33" name="Shape 31"/>
          <p:cNvSpPr/>
          <p:nvPr/>
        </p:nvSpPr>
        <p:spPr>
          <a:xfrm>
            <a:off x="6309360" y="2491740"/>
            <a:ext cx="4114800" cy="205740"/>
          </a:xfrm>
          <a:prstGeom prst="line">
            <a:avLst/>
          </a:prstGeom>
          <a:noFill/>
          <a:ln w="6350">
            <a:solidFill>
              <a:srgbClr val="B9C6E8">
                <a:alpha val="75000"/>
              </a:srgbClr>
            </a:solidFill>
            <a:prstDash val="solid"/>
          </a:ln>
        </p:spPr>
      </p:sp>
      <p:sp>
        <p:nvSpPr>
          <p:cNvPr id="34" name="Shape 32"/>
          <p:cNvSpPr/>
          <p:nvPr/>
        </p:nvSpPr>
        <p:spPr>
          <a:xfrm>
            <a:off x="6309360" y="2491740"/>
            <a:ext cx="4114800" cy="754380"/>
          </a:xfrm>
          <a:prstGeom prst="line">
            <a:avLst/>
          </a:prstGeom>
          <a:noFill/>
          <a:ln w="6350">
            <a:solidFill>
              <a:srgbClr val="B9C6E8">
                <a:alpha val="75000"/>
              </a:srgbClr>
            </a:solidFill>
            <a:prstDash val="solid"/>
          </a:ln>
        </p:spPr>
      </p:sp>
      <p:sp>
        <p:nvSpPr>
          <p:cNvPr id="35" name="Shape 33"/>
          <p:cNvSpPr/>
          <p:nvPr/>
        </p:nvSpPr>
        <p:spPr>
          <a:xfrm>
            <a:off x="6309360" y="2491740"/>
            <a:ext cx="4114800" cy="1303020"/>
          </a:xfrm>
          <a:prstGeom prst="line">
            <a:avLst/>
          </a:prstGeom>
          <a:noFill/>
          <a:ln w="6350">
            <a:solidFill>
              <a:srgbClr val="B9C6E8">
                <a:alpha val="75000"/>
              </a:srgbClr>
            </a:solidFill>
            <a:prstDash val="solid"/>
          </a:ln>
        </p:spPr>
      </p:sp>
      <p:sp>
        <p:nvSpPr>
          <p:cNvPr id="36" name="Shape 34"/>
          <p:cNvSpPr/>
          <p:nvPr/>
        </p:nvSpPr>
        <p:spPr>
          <a:xfrm>
            <a:off x="6309360" y="2491740"/>
            <a:ext cx="4114800" cy="1851660"/>
          </a:xfrm>
          <a:prstGeom prst="line">
            <a:avLst/>
          </a:prstGeom>
          <a:noFill/>
          <a:ln w="6350">
            <a:solidFill>
              <a:srgbClr val="B9C6E8">
                <a:alpha val="75000"/>
              </a:srgbClr>
            </a:solidFill>
            <a:prstDash val="solid"/>
          </a:ln>
        </p:spPr>
      </p:sp>
      <p:sp>
        <p:nvSpPr>
          <p:cNvPr id="37" name="Shape 35"/>
          <p:cNvSpPr/>
          <p:nvPr/>
        </p:nvSpPr>
        <p:spPr>
          <a:xfrm flipV="1">
            <a:off x="6309360" y="2697480"/>
            <a:ext cx="4114800" cy="137160"/>
          </a:xfrm>
          <a:prstGeom prst="line">
            <a:avLst/>
          </a:prstGeom>
          <a:noFill/>
          <a:ln w="6350">
            <a:solidFill>
              <a:srgbClr val="B9C6E8">
                <a:alpha val="75000"/>
              </a:srgbClr>
            </a:solidFill>
            <a:prstDash val="solid"/>
          </a:ln>
        </p:spPr>
      </p:sp>
      <p:sp>
        <p:nvSpPr>
          <p:cNvPr id="38" name="Shape 36"/>
          <p:cNvSpPr/>
          <p:nvPr/>
        </p:nvSpPr>
        <p:spPr>
          <a:xfrm>
            <a:off x="6309360" y="2834640"/>
            <a:ext cx="4114800" cy="411480"/>
          </a:xfrm>
          <a:prstGeom prst="line">
            <a:avLst/>
          </a:prstGeom>
          <a:noFill/>
          <a:ln w="6350">
            <a:solidFill>
              <a:srgbClr val="B9C6E8">
                <a:alpha val="75000"/>
              </a:srgbClr>
            </a:solidFill>
            <a:prstDash val="solid"/>
          </a:ln>
        </p:spPr>
      </p:sp>
      <p:sp>
        <p:nvSpPr>
          <p:cNvPr id="39" name="Shape 37"/>
          <p:cNvSpPr/>
          <p:nvPr/>
        </p:nvSpPr>
        <p:spPr>
          <a:xfrm>
            <a:off x="6309360" y="2834640"/>
            <a:ext cx="4114800" cy="960120"/>
          </a:xfrm>
          <a:prstGeom prst="line">
            <a:avLst/>
          </a:prstGeom>
          <a:noFill/>
          <a:ln w="6350">
            <a:solidFill>
              <a:srgbClr val="B9C6E8">
                <a:alpha val="75000"/>
              </a:srgbClr>
            </a:solidFill>
            <a:prstDash val="solid"/>
          </a:ln>
        </p:spPr>
      </p:sp>
      <p:sp>
        <p:nvSpPr>
          <p:cNvPr id="40" name="Shape 38"/>
          <p:cNvSpPr/>
          <p:nvPr/>
        </p:nvSpPr>
        <p:spPr>
          <a:xfrm>
            <a:off x="6309360" y="2834640"/>
            <a:ext cx="4114800" cy="1508760"/>
          </a:xfrm>
          <a:prstGeom prst="line">
            <a:avLst/>
          </a:prstGeom>
          <a:noFill/>
          <a:ln w="6350">
            <a:solidFill>
              <a:srgbClr val="B9C6E8">
                <a:alpha val="75000"/>
              </a:srgbClr>
            </a:solidFill>
            <a:prstDash val="solid"/>
          </a:ln>
        </p:spPr>
      </p:sp>
      <p:sp>
        <p:nvSpPr>
          <p:cNvPr id="41" name="Shape 39"/>
          <p:cNvSpPr/>
          <p:nvPr/>
        </p:nvSpPr>
        <p:spPr>
          <a:xfrm flipV="1">
            <a:off x="6309360" y="2697480"/>
            <a:ext cx="4114800" cy="480060"/>
          </a:xfrm>
          <a:prstGeom prst="line">
            <a:avLst/>
          </a:prstGeom>
          <a:noFill/>
          <a:ln w="6350">
            <a:solidFill>
              <a:srgbClr val="B9C6E8">
                <a:alpha val="75000"/>
              </a:srgbClr>
            </a:solidFill>
            <a:prstDash val="solid"/>
          </a:ln>
        </p:spPr>
      </p:sp>
      <p:sp>
        <p:nvSpPr>
          <p:cNvPr id="42" name="Shape 40"/>
          <p:cNvSpPr/>
          <p:nvPr/>
        </p:nvSpPr>
        <p:spPr>
          <a:xfrm>
            <a:off x="6309360" y="3177540"/>
            <a:ext cx="4114800" cy="68580"/>
          </a:xfrm>
          <a:prstGeom prst="line">
            <a:avLst/>
          </a:prstGeom>
          <a:noFill/>
          <a:ln w="6350">
            <a:solidFill>
              <a:srgbClr val="B9C6E8">
                <a:alpha val="75000"/>
              </a:srgbClr>
            </a:solidFill>
            <a:prstDash val="solid"/>
          </a:ln>
        </p:spPr>
      </p:sp>
      <p:sp>
        <p:nvSpPr>
          <p:cNvPr id="43" name="Shape 41"/>
          <p:cNvSpPr/>
          <p:nvPr/>
        </p:nvSpPr>
        <p:spPr>
          <a:xfrm>
            <a:off x="6309360" y="3177540"/>
            <a:ext cx="4114800" cy="617220"/>
          </a:xfrm>
          <a:prstGeom prst="line">
            <a:avLst/>
          </a:prstGeom>
          <a:noFill/>
          <a:ln w="6350">
            <a:solidFill>
              <a:srgbClr val="B9C6E8">
                <a:alpha val="75000"/>
              </a:srgbClr>
            </a:solidFill>
            <a:prstDash val="solid"/>
          </a:ln>
        </p:spPr>
      </p:sp>
      <p:sp>
        <p:nvSpPr>
          <p:cNvPr id="44" name="Shape 42"/>
          <p:cNvSpPr/>
          <p:nvPr/>
        </p:nvSpPr>
        <p:spPr>
          <a:xfrm>
            <a:off x="6309360" y="3177540"/>
            <a:ext cx="4114800" cy="1165860"/>
          </a:xfrm>
          <a:prstGeom prst="line">
            <a:avLst/>
          </a:prstGeom>
          <a:noFill/>
          <a:ln w="6350">
            <a:solidFill>
              <a:srgbClr val="B9C6E8">
                <a:alpha val="75000"/>
              </a:srgbClr>
            </a:solidFill>
            <a:prstDash val="solid"/>
          </a:ln>
        </p:spPr>
      </p:sp>
      <p:sp>
        <p:nvSpPr>
          <p:cNvPr id="45" name="Shape 43"/>
          <p:cNvSpPr/>
          <p:nvPr/>
        </p:nvSpPr>
        <p:spPr>
          <a:xfrm flipV="1">
            <a:off x="6309360" y="2697480"/>
            <a:ext cx="4114800" cy="822960"/>
          </a:xfrm>
          <a:prstGeom prst="line">
            <a:avLst/>
          </a:prstGeom>
          <a:noFill/>
          <a:ln w="6350">
            <a:solidFill>
              <a:srgbClr val="B9C6E8">
                <a:alpha val="75000"/>
              </a:srgbClr>
            </a:solidFill>
            <a:prstDash val="solid"/>
          </a:ln>
        </p:spPr>
      </p:sp>
      <p:sp>
        <p:nvSpPr>
          <p:cNvPr id="46" name="Shape 44"/>
          <p:cNvSpPr/>
          <p:nvPr/>
        </p:nvSpPr>
        <p:spPr>
          <a:xfrm flipV="1">
            <a:off x="6309360" y="3246120"/>
            <a:ext cx="4114800" cy="274320"/>
          </a:xfrm>
          <a:prstGeom prst="line">
            <a:avLst/>
          </a:prstGeom>
          <a:noFill/>
          <a:ln w="6350">
            <a:solidFill>
              <a:srgbClr val="B9C6E8">
                <a:alpha val="75000"/>
              </a:srgbClr>
            </a:solidFill>
            <a:prstDash val="solid"/>
          </a:ln>
        </p:spPr>
      </p:sp>
      <p:sp>
        <p:nvSpPr>
          <p:cNvPr id="47" name="Shape 45"/>
          <p:cNvSpPr/>
          <p:nvPr/>
        </p:nvSpPr>
        <p:spPr>
          <a:xfrm>
            <a:off x="6309360" y="3520440"/>
            <a:ext cx="4114800" cy="274320"/>
          </a:xfrm>
          <a:prstGeom prst="line">
            <a:avLst/>
          </a:prstGeom>
          <a:noFill/>
          <a:ln w="6350">
            <a:solidFill>
              <a:srgbClr val="B9C6E8">
                <a:alpha val="75000"/>
              </a:srgbClr>
            </a:solidFill>
            <a:prstDash val="solid"/>
          </a:ln>
        </p:spPr>
      </p:sp>
      <p:sp>
        <p:nvSpPr>
          <p:cNvPr id="48" name="Shape 46"/>
          <p:cNvSpPr/>
          <p:nvPr/>
        </p:nvSpPr>
        <p:spPr>
          <a:xfrm>
            <a:off x="6309360" y="3520440"/>
            <a:ext cx="4114800" cy="822960"/>
          </a:xfrm>
          <a:prstGeom prst="line">
            <a:avLst/>
          </a:prstGeom>
          <a:noFill/>
          <a:ln w="6350">
            <a:solidFill>
              <a:srgbClr val="B9C6E8">
                <a:alpha val="75000"/>
              </a:srgbClr>
            </a:solidFill>
            <a:prstDash val="solid"/>
          </a:ln>
        </p:spPr>
      </p:sp>
      <p:sp>
        <p:nvSpPr>
          <p:cNvPr id="49" name="Shape 47"/>
          <p:cNvSpPr/>
          <p:nvPr/>
        </p:nvSpPr>
        <p:spPr>
          <a:xfrm flipV="1">
            <a:off x="6309360" y="2697480"/>
            <a:ext cx="4114800" cy="1165860"/>
          </a:xfrm>
          <a:prstGeom prst="line">
            <a:avLst/>
          </a:prstGeom>
          <a:noFill/>
          <a:ln w="6350">
            <a:solidFill>
              <a:srgbClr val="B9C6E8">
                <a:alpha val="75000"/>
              </a:srgbClr>
            </a:solidFill>
            <a:prstDash val="solid"/>
          </a:ln>
        </p:spPr>
      </p:sp>
      <p:sp>
        <p:nvSpPr>
          <p:cNvPr id="50" name="Shape 48"/>
          <p:cNvSpPr/>
          <p:nvPr/>
        </p:nvSpPr>
        <p:spPr>
          <a:xfrm flipV="1">
            <a:off x="6309360" y="3246120"/>
            <a:ext cx="4114800" cy="617220"/>
          </a:xfrm>
          <a:prstGeom prst="line">
            <a:avLst/>
          </a:prstGeom>
          <a:noFill/>
          <a:ln w="6350">
            <a:solidFill>
              <a:srgbClr val="B9C6E8">
                <a:alpha val="75000"/>
              </a:srgbClr>
            </a:solidFill>
            <a:prstDash val="solid"/>
          </a:ln>
        </p:spPr>
      </p:sp>
      <p:sp>
        <p:nvSpPr>
          <p:cNvPr id="51" name="Shape 49"/>
          <p:cNvSpPr/>
          <p:nvPr/>
        </p:nvSpPr>
        <p:spPr>
          <a:xfrm flipV="1">
            <a:off x="6309360" y="3794760"/>
            <a:ext cx="4114800" cy="68580"/>
          </a:xfrm>
          <a:prstGeom prst="line">
            <a:avLst/>
          </a:prstGeom>
          <a:noFill/>
          <a:ln w="6350">
            <a:solidFill>
              <a:srgbClr val="B9C6E8">
                <a:alpha val="75000"/>
              </a:srgbClr>
            </a:solidFill>
            <a:prstDash val="solid"/>
          </a:ln>
        </p:spPr>
      </p:sp>
      <p:sp>
        <p:nvSpPr>
          <p:cNvPr id="52" name="Shape 50"/>
          <p:cNvSpPr/>
          <p:nvPr/>
        </p:nvSpPr>
        <p:spPr>
          <a:xfrm>
            <a:off x="6309360" y="3863340"/>
            <a:ext cx="4114800" cy="480060"/>
          </a:xfrm>
          <a:prstGeom prst="line">
            <a:avLst/>
          </a:prstGeom>
          <a:noFill/>
          <a:ln w="6350">
            <a:solidFill>
              <a:srgbClr val="B9C6E8">
                <a:alpha val="75000"/>
              </a:srgbClr>
            </a:solidFill>
            <a:prstDash val="solid"/>
          </a:ln>
        </p:spPr>
      </p:sp>
      <p:sp>
        <p:nvSpPr>
          <p:cNvPr id="53" name="Shape 51"/>
          <p:cNvSpPr/>
          <p:nvPr/>
        </p:nvSpPr>
        <p:spPr>
          <a:xfrm flipV="1">
            <a:off x="6309360" y="2697480"/>
            <a:ext cx="4114800" cy="1508760"/>
          </a:xfrm>
          <a:prstGeom prst="line">
            <a:avLst/>
          </a:prstGeom>
          <a:noFill/>
          <a:ln w="6350">
            <a:solidFill>
              <a:srgbClr val="B9C6E8">
                <a:alpha val="75000"/>
              </a:srgbClr>
            </a:solidFill>
            <a:prstDash val="solid"/>
          </a:ln>
        </p:spPr>
      </p:sp>
      <p:sp>
        <p:nvSpPr>
          <p:cNvPr id="54" name="Shape 52"/>
          <p:cNvSpPr/>
          <p:nvPr/>
        </p:nvSpPr>
        <p:spPr>
          <a:xfrm flipV="1">
            <a:off x="6309360" y="3246120"/>
            <a:ext cx="4114800" cy="960120"/>
          </a:xfrm>
          <a:prstGeom prst="line">
            <a:avLst/>
          </a:prstGeom>
          <a:noFill/>
          <a:ln w="6350">
            <a:solidFill>
              <a:srgbClr val="B9C6E8">
                <a:alpha val="75000"/>
              </a:srgbClr>
            </a:solidFill>
            <a:prstDash val="solid"/>
          </a:ln>
        </p:spPr>
      </p:sp>
      <p:sp>
        <p:nvSpPr>
          <p:cNvPr id="55" name="Shape 53"/>
          <p:cNvSpPr/>
          <p:nvPr/>
        </p:nvSpPr>
        <p:spPr>
          <a:xfrm flipV="1">
            <a:off x="6309360" y="3794760"/>
            <a:ext cx="4114800" cy="411480"/>
          </a:xfrm>
          <a:prstGeom prst="line">
            <a:avLst/>
          </a:prstGeom>
          <a:noFill/>
          <a:ln w="6350">
            <a:solidFill>
              <a:srgbClr val="B9C6E8">
                <a:alpha val="75000"/>
              </a:srgbClr>
            </a:solidFill>
            <a:prstDash val="solid"/>
          </a:ln>
        </p:spPr>
      </p:sp>
      <p:sp>
        <p:nvSpPr>
          <p:cNvPr id="56" name="Shape 54"/>
          <p:cNvSpPr/>
          <p:nvPr/>
        </p:nvSpPr>
        <p:spPr>
          <a:xfrm>
            <a:off x="6309360" y="4206240"/>
            <a:ext cx="4114800" cy="137160"/>
          </a:xfrm>
          <a:prstGeom prst="line">
            <a:avLst/>
          </a:prstGeom>
          <a:noFill/>
          <a:ln w="6350">
            <a:solidFill>
              <a:srgbClr val="B9C6E8">
                <a:alpha val="75000"/>
              </a:srgbClr>
            </a:solidFill>
            <a:prstDash val="solid"/>
          </a:ln>
        </p:spPr>
      </p:sp>
      <p:sp>
        <p:nvSpPr>
          <p:cNvPr id="57" name="Shape 55"/>
          <p:cNvSpPr/>
          <p:nvPr/>
        </p:nvSpPr>
        <p:spPr>
          <a:xfrm flipV="1">
            <a:off x="6309360" y="2697480"/>
            <a:ext cx="4114800" cy="1851660"/>
          </a:xfrm>
          <a:prstGeom prst="line">
            <a:avLst/>
          </a:prstGeom>
          <a:noFill/>
          <a:ln w="6350">
            <a:solidFill>
              <a:srgbClr val="B9C6E8">
                <a:alpha val="75000"/>
              </a:srgbClr>
            </a:solidFill>
            <a:prstDash val="solid"/>
          </a:ln>
        </p:spPr>
      </p:sp>
      <p:sp>
        <p:nvSpPr>
          <p:cNvPr id="58" name="Shape 56"/>
          <p:cNvSpPr/>
          <p:nvPr/>
        </p:nvSpPr>
        <p:spPr>
          <a:xfrm flipV="1">
            <a:off x="6309360" y="3246120"/>
            <a:ext cx="4114800" cy="1303020"/>
          </a:xfrm>
          <a:prstGeom prst="line">
            <a:avLst/>
          </a:prstGeom>
          <a:noFill/>
          <a:ln w="6350">
            <a:solidFill>
              <a:srgbClr val="B9C6E8">
                <a:alpha val="75000"/>
              </a:srgbClr>
            </a:solidFill>
            <a:prstDash val="solid"/>
          </a:ln>
        </p:spPr>
      </p:sp>
      <p:sp>
        <p:nvSpPr>
          <p:cNvPr id="59" name="Shape 57"/>
          <p:cNvSpPr/>
          <p:nvPr/>
        </p:nvSpPr>
        <p:spPr>
          <a:xfrm flipV="1">
            <a:off x="6309360" y="3794760"/>
            <a:ext cx="4114800" cy="754380"/>
          </a:xfrm>
          <a:prstGeom prst="line">
            <a:avLst/>
          </a:prstGeom>
          <a:noFill/>
          <a:ln w="6350">
            <a:solidFill>
              <a:srgbClr val="B9C6E8">
                <a:alpha val="75000"/>
              </a:srgbClr>
            </a:solidFill>
            <a:prstDash val="solid"/>
          </a:ln>
        </p:spPr>
      </p:sp>
      <p:sp>
        <p:nvSpPr>
          <p:cNvPr id="60" name="Shape 58"/>
          <p:cNvSpPr/>
          <p:nvPr/>
        </p:nvSpPr>
        <p:spPr>
          <a:xfrm flipV="1">
            <a:off x="6309360" y="4343400"/>
            <a:ext cx="4114800" cy="205740"/>
          </a:xfrm>
          <a:prstGeom prst="line">
            <a:avLst/>
          </a:prstGeom>
          <a:noFill/>
          <a:ln w="6350">
            <a:solidFill>
              <a:srgbClr val="B9C6E8">
                <a:alpha val="75000"/>
              </a:srgbClr>
            </a:solidFill>
            <a:prstDash val="solid"/>
          </a:ln>
        </p:spPr>
      </p:sp>
      <p:sp>
        <p:nvSpPr>
          <p:cNvPr id="61" name="Shape 59"/>
          <p:cNvSpPr/>
          <p:nvPr/>
        </p:nvSpPr>
        <p:spPr>
          <a:xfrm>
            <a:off x="1965960" y="2560320"/>
            <a:ext cx="274320" cy="274320"/>
          </a:xfrm>
          <a:prstGeom prst="ellipse">
            <a:avLst/>
          </a:prstGeom>
          <a:solidFill>
            <a:srgbClr val="1E2761"/>
          </a:solidFill>
          <a:ln w="19050">
            <a:solidFill>
              <a:srgbClr val="FFFFFF"/>
            </a:solidFill>
            <a:prstDash val="solid"/>
          </a:ln>
        </p:spPr>
      </p:sp>
      <p:sp>
        <p:nvSpPr>
          <p:cNvPr id="62" name="Shape 60"/>
          <p:cNvSpPr/>
          <p:nvPr/>
        </p:nvSpPr>
        <p:spPr>
          <a:xfrm>
            <a:off x="1965960" y="3108960"/>
            <a:ext cx="274320" cy="274320"/>
          </a:xfrm>
          <a:prstGeom prst="ellipse">
            <a:avLst/>
          </a:prstGeom>
          <a:solidFill>
            <a:srgbClr val="1E2761"/>
          </a:solidFill>
          <a:ln w="19050">
            <a:solidFill>
              <a:srgbClr val="FFFFFF"/>
            </a:solidFill>
            <a:prstDash val="solid"/>
          </a:ln>
        </p:spPr>
      </p:sp>
      <p:sp>
        <p:nvSpPr>
          <p:cNvPr id="63" name="Shape 61"/>
          <p:cNvSpPr/>
          <p:nvPr/>
        </p:nvSpPr>
        <p:spPr>
          <a:xfrm>
            <a:off x="1965960" y="3657600"/>
            <a:ext cx="274320" cy="274320"/>
          </a:xfrm>
          <a:prstGeom prst="ellipse">
            <a:avLst/>
          </a:prstGeom>
          <a:solidFill>
            <a:srgbClr val="1E2761"/>
          </a:solidFill>
          <a:ln w="19050">
            <a:solidFill>
              <a:srgbClr val="FFFFFF"/>
            </a:solidFill>
            <a:prstDash val="solid"/>
          </a:ln>
        </p:spPr>
      </p:sp>
      <p:sp>
        <p:nvSpPr>
          <p:cNvPr id="64" name="Shape 62"/>
          <p:cNvSpPr/>
          <p:nvPr/>
        </p:nvSpPr>
        <p:spPr>
          <a:xfrm>
            <a:off x="1965960" y="4206240"/>
            <a:ext cx="274320" cy="274320"/>
          </a:xfrm>
          <a:prstGeom prst="ellipse">
            <a:avLst/>
          </a:prstGeom>
          <a:solidFill>
            <a:srgbClr val="1E2761"/>
          </a:solidFill>
          <a:ln w="19050">
            <a:solidFill>
              <a:srgbClr val="FFFFFF"/>
            </a:solidFill>
            <a:prstDash val="solid"/>
          </a:ln>
        </p:spPr>
      </p:sp>
      <p:sp>
        <p:nvSpPr>
          <p:cNvPr id="65" name="Shape 63"/>
          <p:cNvSpPr/>
          <p:nvPr/>
        </p:nvSpPr>
        <p:spPr>
          <a:xfrm>
            <a:off x="6172200" y="2354580"/>
            <a:ext cx="274320" cy="274320"/>
          </a:xfrm>
          <a:prstGeom prst="ellipse">
            <a:avLst/>
          </a:prstGeom>
          <a:solidFill>
            <a:srgbClr val="E8A33D"/>
          </a:solidFill>
          <a:ln w="19050">
            <a:solidFill>
              <a:srgbClr val="FFFFFF"/>
            </a:solidFill>
            <a:prstDash val="solid"/>
          </a:ln>
        </p:spPr>
      </p:sp>
      <p:sp>
        <p:nvSpPr>
          <p:cNvPr id="66" name="Shape 64"/>
          <p:cNvSpPr/>
          <p:nvPr/>
        </p:nvSpPr>
        <p:spPr>
          <a:xfrm>
            <a:off x="6172200" y="2697480"/>
            <a:ext cx="274320" cy="274320"/>
          </a:xfrm>
          <a:prstGeom prst="ellipse">
            <a:avLst/>
          </a:prstGeom>
          <a:solidFill>
            <a:srgbClr val="E8A33D"/>
          </a:solidFill>
          <a:ln w="19050">
            <a:solidFill>
              <a:srgbClr val="FFFFFF"/>
            </a:solidFill>
            <a:prstDash val="solid"/>
          </a:ln>
        </p:spPr>
      </p:sp>
      <p:sp>
        <p:nvSpPr>
          <p:cNvPr id="67" name="Shape 65"/>
          <p:cNvSpPr/>
          <p:nvPr/>
        </p:nvSpPr>
        <p:spPr>
          <a:xfrm>
            <a:off x="6172200" y="3040380"/>
            <a:ext cx="274320" cy="274320"/>
          </a:xfrm>
          <a:prstGeom prst="ellipse">
            <a:avLst/>
          </a:prstGeom>
          <a:solidFill>
            <a:srgbClr val="E8A33D"/>
          </a:solidFill>
          <a:ln w="19050">
            <a:solidFill>
              <a:srgbClr val="FFFFFF"/>
            </a:solidFill>
            <a:prstDash val="solid"/>
          </a:ln>
        </p:spPr>
      </p:sp>
      <p:sp>
        <p:nvSpPr>
          <p:cNvPr id="68" name="Shape 66"/>
          <p:cNvSpPr/>
          <p:nvPr/>
        </p:nvSpPr>
        <p:spPr>
          <a:xfrm>
            <a:off x="6172200" y="3383280"/>
            <a:ext cx="274320" cy="274320"/>
          </a:xfrm>
          <a:prstGeom prst="ellipse">
            <a:avLst/>
          </a:prstGeom>
          <a:solidFill>
            <a:srgbClr val="E8A33D"/>
          </a:solidFill>
          <a:ln w="19050">
            <a:solidFill>
              <a:srgbClr val="FFFFFF"/>
            </a:solidFill>
            <a:prstDash val="solid"/>
          </a:ln>
        </p:spPr>
      </p:sp>
      <p:sp>
        <p:nvSpPr>
          <p:cNvPr id="69" name="Shape 67"/>
          <p:cNvSpPr/>
          <p:nvPr/>
        </p:nvSpPr>
        <p:spPr>
          <a:xfrm>
            <a:off x="6172200" y="3726180"/>
            <a:ext cx="274320" cy="274320"/>
          </a:xfrm>
          <a:prstGeom prst="ellipse">
            <a:avLst/>
          </a:prstGeom>
          <a:solidFill>
            <a:srgbClr val="E8A33D"/>
          </a:solidFill>
          <a:ln w="19050">
            <a:solidFill>
              <a:srgbClr val="FFFFFF"/>
            </a:solidFill>
            <a:prstDash val="solid"/>
          </a:ln>
        </p:spPr>
      </p:sp>
      <p:sp>
        <p:nvSpPr>
          <p:cNvPr id="70" name="Shape 68"/>
          <p:cNvSpPr/>
          <p:nvPr/>
        </p:nvSpPr>
        <p:spPr>
          <a:xfrm>
            <a:off x="6172200" y="4069080"/>
            <a:ext cx="274320" cy="274320"/>
          </a:xfrm>
          <a:prstGeom prst="ellipse">
            <a:avLst/>
          </a:prstGeom>
          <a:solidFill>
            <a:srgbClr val="E8A33D"/>
          </a:solidFill>
          <a:ln w="19050">
            <a:solidFill>
              <a:srgbClr val="FFFFFF"/>
            </a:solidFill>
            <a:prstDash val="solid"/>
          </a:ln>
        </p:spPr>
      </p:sp>
      <p:sp>
        <p:nvSpPr>
          <p:cNvPr id="71" name="Shape 69"/>
          <p:cNvSpPr/>
          <p:nvPr/>
        </p:nvSpPr>
        <p:spPr>
          <a:xfrm>
            <a:off x="6172200" y="4411980"/>
            <a:ext cx="274320" cy="274320"/>
          </a:xfrm>
          <a:prstGeom prst="ellipse">
            <a:avLst/>
          </a:prstGeom>
          <a:solidFill>
            <a:srgbClr val="E8A33D"/>
          </a:solidFill>
          <a:ln w="19050">
            <a:solidFill>
              <a:srgbClr val="FFFFFF"/>
            </a:solidFill>
            <a:prstDash val="solid"/>
          </a:ln>
        </p:spPr>
      </p:sp>
      <p:sp>
        <p:nvSpPr>
          <p:cNvPr id="72" name="Shape 70"/>
          <p:cNvSpPr/>
          <p:nvPr/>
        </p:nvSpPr>
        <p:spPr>
          <a:xfrm>
            <a:off x="10287000" y="2560320"/>
            <a:ext cx="274320" cy="274320"/>
          </a:xfrm>
          <a:prstGeom prst="ellipse">
            <a:avLst/>
          </a:prstGeom>
          <a:solidFill>
            <a:srgbClr val="1E2761"/>
          </a:solidFill>
          <a:ln w="19050">
            <a:solidFill>
              <a:srgbClr val="FFFFFF"/>
            </a:solidFill>
            <a:prstDash val="solid"/>
          </a:ln>
        </p:spPr>
      </p:sp>
      <p:sp>
        <p:nvSpPr>
          <p:cNvPr id="73" name="Shape 71"/>
          <p:cNvSpPr/>
          <p:nvPr/>
        </p:nvSpPr>
        <p:spPr>
          <a:xfrm>
            <a:off x="10287000" y="3108960"/>
            <a:ext cx="274320" cy="274320"/>
          </a:xfrm>
          <a:prstGeom prst="ellipse">
            <a:avLst/>
          </a:prstGeom>
          <a:solidFill>
            <a:srgbClr val="1E2761"/>
          </a:solidFill>
          <a:ln w="19050">
            <a:solidFill>
              <a:srgbClr val="FFFFFF"/>
            </a:solidFill>
            <a:prstDash val="solid"/>
          </a:ln>
        </p:spPr>
      </p:sp>
      <p:sp>
        <p:nvSpPr>
          <p:cNvPr id="74" name="Shape 72"/>
          <p:cNvSpPr/>
          <p:nvPr/>
        </p:nvSpPr>
        <p:spPr>
          <a:xfrm>
            <a:off x="10287000" y="3657600"/>
            <a:ext cx="274320" cy="274320"/>
          </a:xfrm>
          <a:prstGeom prst="ellipse">
            <a:avLst/>
          </a:prstGeom>
          <a:solidFill>
            <a:srgbClr val="1E2761"/>
          </a:solidFill>
          <a:ln w="19050">
            <a:solidFill>
              <a:srgbClr val="FFFFFF"/>
            </a:solidFill>
            <a:prstDash val="solid"/>
          </a:ln>
        </p:spPr>
      </p:sp>
      <p:sp>
        <p:nvSpPr>
          <p:cNvPr id="75" name="Shape 73"/>
          <p:cNvSpPr/>
          <p:nvPr/>
        </p:nvSpPr>
        <p:spPr>
          <a:xfrm>
            <a:off x="10287000" y="4206240"/>
            <a:ext cx="274320" cy="274320"/>
          </a:xfrm>
          <a:prstGeom prst="ellipse">
            <a:avLst/>
          </a:prstGeom>
          <a:solidFill>
            <a:srgbClr val="1E2761"/>
          </a:solidFill>
          <a:ln w="19050">
            <a:solidFill>
              <a:srgbClr val="FFFFFF"/>
            </a:solidFill>
            <a:prstDash val="solid"/>
          </a:ln>
        </p:spPr>
      </p:sp>
      <p:sp>
        <p:nvSpPr>
          <p:cNvPr id="76" name="Text 74"/>
          <p:cNvSpPr txBox="1"/>
          <p:nvPr/>
        </p:nvSpPr>
        <p:spPr>
          <a:xfrm>
            <a:off x="914400" y="5029200"/>
            <a:ext cx="2377440" cy="274320"/>
          </a:xfrm>
          <a:prstGeom prst="rect">
            <a:avLst/>
          </a:prstGeom>
          <a:noFill/>
          <a:ln/>
        </p:spPr>
        <p:txBody>
          <a:bodyPr wrap="square" lIns="0" tIns="0" rIns="0" bIns="0" rtlCol="0" anchor="ctr"/>
          <a:lstStyle/>
          <a:p>
            <a:pPr algn="ctr" indent="0" marL="0">
              <a:buNone/>
            </a:pPr>
            <a:r>
              <a:rPr lang="en-US" sz="1050" b="1" spc="100" kern="0" dirty="0">
                <a:solidFill>
                  <a:srgbClr val="1E2761"/>
                </a:solidFill>
                <a:latin typeface="Calibri" pitchFamily="34" charset="0"/>
                <a:ea typeface="Calibri" pitchFamily="34" charset="-122"/>
                <a:cs typeface="Calibri" pitchFamily="34" charset="-120"/>
              </a:rPr>
              <a:t>ENTRADA · 512 DIM</a:t>
            </a:r>
            <a:endParaRPr lang="en-US" sz="1050" dirty="0"/>
          </a:p>
        </p:txBody>
      </p:sp>
      <p:sp>
        <p:nvSpPr>
          <p:cNvPr id="77" name="Text 75"/>
          <p:cNvSpPr txBox="1"/>
          <p:nvPr/>
        </p:nvSpPr>
        <p:spPr>
          <a:xfrm>
            <a:off x="5120640" y="5029200"/>
            <a:ext cx="2377440" cy="274320"/>
          </a:xfrm>
          <a:prstGeom prst="rect">
            <a:avLst/>
          </a:prstGeom>
          <a:noFill/>
          <a:ln/>
        </p:spPr>
        <p:txBody>
          <a:bodyPr wrap="square" lIns="0" tIns="0" rIns="0" bIns="0" rtlCol="0" anchor="ctr"/>
          <a:lstStyle/>
          <a:p>
            <a:pPr algn="ctr" indent="0" marL="0">
              <a:buNone/>
            </a:pPr>
            <a:r>
              <a:rPr lang="en-US" sz="1050" b="1" spc="100" kern="0" dirty="0">
                <a:solidFill>
                  <a:srgbClr val="E8A33D"/>
                </a:solidFill>
                <a:latin typeface="Calibri" pitchFamily="34" charset="0"/>
                <a:ea typeface="Calibri" pitchFamily="34" charset="-122"/>
                <a:cs typeface="Calibri" pitchFamily="34" charset="-120"/>
              </a:rPr>
              <a:t>OCULTA · 2048 DIM</a:t>
            </a:r>
            <a:endParaRPr lang="en-US" sz="1050" dirty="0"/>
          </a:p>
        </p:txBody>
      </p:sp>
      <p:sp>
        <p:nvSpPr>
          <p:cNvPr id="78" name="Text 76"/>
          <p:cNvSpPr txBox="1"/>
          <p:nvPr/>
        </p:nvSpPr>
        <p:spPr>
          <a:xfrm>
            <a:off x="9235440" y="5029200"/>
            <a:ext cx="2377440" cy="274320"/>
          </a:xfrm>
          <a:prstGeom prst="rect">
            <a:avLst/>
          </a:prstGeom>
          <a:noFill/>
          <a:ln/>
        </p:spPr>
        <p:txBody>
          <a:bodyPr wrap="square" lIns="0" tIns="0" rIns="0" bIns="0" rtlCol="0" anchor="ctr"/>
          <a:lstStyle/>
          <a:p>
            <a:pPr algn="ctr" indent="0" marL="0">
              <a:buNone/>
            </a:pPr>
            <a:r>
              <a:rPr lang="en-US" sz="1050" b="1" spc="100" kern="0" dirty="0">
                <a:solidFill>
                  <a:srgbClr val="1E2761"/>
                </a:solidFill>
                <a:latin typeface="Calibri" pitchFamily="34" charset="0"/>
                <a:ea typeface="Calibri" pitchFamily="34" charset="-122"/>
                <a:cs typeface="Calibri" pitchFamily="34" charset="-120"/>
              </a:rPr>
              <a:t>SAÍDA · 512 DIM</a:t>
            </a:r>
            <a:endParaRPr lang="en-US" sz="1050" dirty="0"/>
          </a:p>
        </p:txBody>
      </p:sp>
      <p:sp>
        <p:nvSpPr>
          <p:cNvPr id="79" name="Shape 77"/>
          <p:cNvSpPr/>
          <p:nvPr/>
        </p:nvSpPr>
        <p:spPr>
          <a:xfrm>
            <a:off x="548640" y="5440680"/>
            <a:ext cx="11094415" cy="868680"/>
          </a:xfrm>
          <a:prstGeom prst="roundRect">
            <a:avLst>
              <a:gd name="adj" fmla="val 10526"/>
            </a:avLst>
          </a:prstGeom>
          <a:solidFill>
            <a:srgbClr val="F0F4FC"/>
          </a:solidFill>
          <a:ln/>
        </p:spPr>
      </p:sp>
      <p:sp>
        <p:nvSpPr>
          <p:cNvPr id="80" name="Text 78"/>
          <p:cNvSpPr txBox="1"/>
          <p:nvPr/>
        </p:nvSpPr>
        <p:spPr>
          <a:xfrm>
            <a:off x="868680" y="5440680"/>
            <a:ext cx="10454335" cy="868680"/>
          </a:xfrm>
          <a:prstGeom prst="rect">
            <a:avLst/>
          </a:prstGeom>
          <a:noFill/>
          <a:ln/>
        </p:spPr>
        <p:txBody>
          <a:bodyPr wrap="square" lIns="0" tIns="0" rIns="0" bIns="0" rtlCol="0" anchor="ctr"/>
          <a:lstStyle/>
          <a:p>
            <a:pPr indent="0" marL="0">
              <a:lnSpc>
                <a:spcPts val="1700"/>
              </a:lnSpc>
              <a:buNone/>
            </a:pPr>
            <a:r>
              <a:rPr lang="en-US" sz="1300" b="1" dirty="0">
                <a:solidFill>
                  <a:srgbClr val="1E2761"/>
                </a:solidFill>
                <a:latin typeface="Calibri" pitchFamily="34" charset="0"/>
                <a:ea typeface="Calibri" pitchFamily="34" charset="-122"/>
                <a:cs typeface="Calibri" pitchFamily="34" charset="-120"/>
              </a:rPr>
              <a:t>Isto é literalmente a Feed-Forward do Transformer: </a:t>
            </a:r>
            <a:pPr indent="0" marL="0">
              <a:lnSpc>
                <a:spcPts val="1700"/>
              </a:lnSpc>
              <a:buNone/>
            </a:pPr>
            <a:r>
              <a:rPr lang="en-US" sz="1300" dirty="0">
                <a:solidFill>
                  <a:srgbClr val="1A1A2E"/>
                </a:solidFill>
                <a:latin typeface="Calibri" pitchFamily="34" charset="0"/>
                <a:ea typeface="Calibri" pitchFamily="34" charset="-122"/>
                <a:cs typeface="Calibri" pitchFamily="34" charset="-120"/>
              </a:rPr>
              <a:t>camada densa que expande cada vetor (512 → 2048 dim), aplica uma ativação (não-linearidade), e volta a comprimir (2048 → 512 dim).</a:t>
            </a:r>
            <a:pPr indent="0" marL="0">
              <a:lnSpc>
                <a:spcPts val="1700"/>
              </a:lnSpc>
              <a:buNone/>
            </a:pPr>
            <a:endParaRPr lang="en-US" sz="1300" dirty="0"/>
          </a:p>
          <a:p>
            <a:pPr indent="0" marL="0">
              <a:lnSpc>
                <a:spcPts val="1700"/>
              </a:lnSpc>
              <a:buNone/>
            </a:pPr>
            <a:r>
              <a:rPr lang="en-US" sz="1300" i="1" dirty="0">
                <a:solidFill>
                  <a:srgbClr val="5C6B8A"/>
                </a:solidFill>
                <a:latin typeface="Calibri" pitchFamily="34" charset="0"/>
                <a:ea typeface="Calibri" pitchFamily="34" charset="-122"/>
                <a:cs typeface="Calibri" pitchFamily="34" charset="-120"/>
              </a:rPr>
              <a:t>Cada linha do desenho é um peso — são esses pesos que o treino ajusta.</a:t>
            </a:r>
            <a:endParaRPr lang="en-US" sz="1300" dirty="0"/>
          </a:p>
        </p:txBody>
      </p:sp>
      <p:sp>
        <p:nvSpPr>
          <p:cNvPr id="82" name="Text 79"/>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ARQUITETURA DO MODELO</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Rede neural, aplicada: Self-Attention</a:t>
            </a:r>
            <a:endParaRPr lang="en-US" sz="3200" dirty="0"/>
          </a:p>
        </p:txBody>
      </p:sp>
      <p:sp>
        <p:nvSpPr>
          <p:cNvPr id="4" name="Text 2"/>
          <p:cNvSpPr txBox="1"/>
          <p:nvPr/>
        </p:nvSpPr>
        <p:spPr>
          <a:xfrm>
            <a:off x="548640" y="1481328"/>
            <a:ext cx="11094415" cy="274320"/>
          </a:xfrm>
          <a:prstGeom prst="rect">
            <a:avLst/>
          </a:prstGeom>
          <a:noFill/>
          <a:ln/>
        </p:spPr>
        <p:txBody>
          <a:bodyPr wrap="square" lIns="0" tIns="0" rIns="0" bIns="0" rtlCol="0" anchor="ctr"/>
          <a:lstStyle/>
          <a:p>
            <a:pPr indent="0" marL="0">
              <a:buNone/>
            </a:pPr>
            <a:r>
              <a:rPr lang="en-US" sz="1300" i="1" dirty="0">
                <a:solidFill>
                  <a:srgbClr val="5C6B8A"/>
                </a:solidFill>
                <a:latin typeface="Calibri" pitchFamily="34" charset="0"/>
                <a:ea typeface="Calibri" pitchFamily="34" charset="-122"/>
                <a:cs typeface="Calibri" pitchFamily="34" charset="-120"/>
              </a:rPr>
              <a:t>Aplicado ao Transformer: como cada palavra “olha” as outras da mesma frase (slide 12)</a:t>
            </a:r>
            <a:endParaRPr lang="en-US" sz="1300" dirty="0"/>
          </a:p>
        </p:txBody>
      </p:sp>
      <p:sp>
        <p:nvSpPr>
          <p:cNvPr id="5" name="Text 3"/>
          <p:cNvSpPr txBox="1"/>
          <p:nvPr/>
        </p:nvSpPr>
        <p:spPr>
          <a:xfrm>
            <a:off x="548640" y="1783080"/>
            <a:ext cx="11094415" cy="274320"/>
          </a:xfrm>
          <a:prstGeom prst="rect">
            <a:avLst/>
          </a:prstGeom>
          <a:noFill/>
          <a:ln/>
        </p:spPr>
        <p:txBody>
          <a:bodyPr wrap="square" lIns="0" tIns="0" rIns="0" bIns="0" rtlCol="0" anchor="ctr"/>
          <a:lstStyle/>
          <a:p>
            <a:pPr algn="ctr" indent="0" marL="0">
              <a:buNone/>
            </a:pPr>
            <a:r>
              <a:rPr lang="en-US" sz="1250" i="1" dirty="0">
                <a:solidFill>
                  <a:srgbClr val="1A1A2E"/>
                </a:solidFill>
                <a:latin typeface="Calibri" pitchFamily="34" charset="0"/>
                <a:ea typeface="Calibri" pitchFamily="34" charset="-122"/>
                <a:cs typeface="Calibri" pitchFamily="34" charset="-120"/>
              </a:rPr>
              <a:t>“O animal não atravessou a rua porque estava cansado.”</a:t>
            </a:r>
            <a:endParaRPr lang="en-US" sz="1250" dirty="0"/>
          </a:p>
        </p:txBody>
      </p:sp>
      <p:sp>
        <p:nvSpPr>
          <p:cNvPr id="6" name="Shape 4"/>
          <p:cNvSpPr/>
          <p:nvPr/>
        </p:nvSpPr>
        <p:spPr>
          <a:xfrm>
            <a:off x="2377440" y="2758440"/>
            <a:ext cx="7406640" cy="914"/>
          </a:xfrm>
          <a:prstGeom prst="line">
            <a:avLst/>
          </a:prstGeom>
          <a:noFill/>
          <a:ln w="6350">
            <a:solidFill>
              <a:srgbClr val="B9C6E8">
                <a:alpha val="65000"/>
              </a:srgbClr>
            </a:solidFill>
            <a:prstDash val="solid"/>
          </a:ln>
        </p:spPr>
      </p:sp>
      <p:sp>
        <p:nvSpPr>
          <p:cNvPr id="7" name="Shape 5"/>
          <p:cNvSpPr/>
          <p:nvPr/>
        </p:nvSpPr>
        <p:spPr>
          <a:xfrm>
            <a:off x="2377440" y="2758440"/>
            <a:ext cx="7406640" cy="426720"/>
          </a:xfrm>
          <a:prstGeom prst="line">
            <a:avLst/>
          </a:prstGeom>
          <a:noFill/>
          <a:ln w="6350">
            <a:solidFill>
              <a:srgbClr val="B9C6E8">
                <a:alpha val="65000"/>
              </a:srgbClr>
            </a:solidFill>
            <a:prstDash val="solid"/>
          </a:ln>
        </p:spPr>
      </p:sp>
      <p:sp>
        <p:nvSpPr>
          <p:cNvPr id="8" name="Shape 6"/>
          <p:cNvSpPr/>
          <p:nvPr/>
        </p:nvSpPr>
        <p:spPr>
          <a:xfrm>
            <a:off x="2377440" y="2758440"/>
            <a:ext cx="7406640" cy="853440"/>
          </a:xfrm>
          <a:prstGeom prst="line">
            <a:avLst/>
          </a:prstGeom>
          <a:noFill/>
          <a:ln w="6350">
            <a:solidFill>
              <a:srgbClr val="B9C6E8">
                <a:alpha val="65000"/>
              </a:srgbClr>
            </a:solidFill>
            <a:prstDash val="solid"/>
          </a:ln>
        </p:spPr>
      </p:sp>
      <p:sp>
        <p:nvSpPr>
          <p:cNvPr id="9" name="Shape 7"/>
          <p:cNvSpPr/>
          <p:nvPr/>
        </p:nvSpPr>
        <p:spPr>
          <a:xfrm>
            <a:off x="2377440" y="2758440"/>
            <a:ext cx="7406640" cy="1280160"/>
          </a:xfrm>
          <a:prstGeom prst="line">
            <a:avLst/>
          </a:prstGeom>
          <a:noFill/>
          <a:ln w="6350">
            <a:solidFill>
              <a:srgbClr val="B9C6E8">
                <a:alpha val="65000"/>
              </a:srgbClr>
            </a:solidFill>
            <a:prstDash val="solid"/>
          </a:ln>
        </p:spPr>
      </p:sp>
      <p:sp>
        <p:nvSpPr>
          <p:cNvPr id="10" name="Shape 8"/>
          <p:cNvSpPr/>
          <p:nvPr/>
        </p:nvSpPr>
        <p:spPr>
          <a:xfrm>
            <a:off x="2377440" y="2758440"/>
            <a:ext cx="7406640" cy="1706880"/>
          </a:xfrm>
          <a:prstGeom prst="line">
            <a:avLst/>
          </a:prstGeom>
          <a:noFill/>
          <a:ln w="6350">
            <a:solidFill>
              <a:srgbClr val="B9C6E8">
                <a:alpha val="65000"/>
              </a:srgbClr>
            </a:solidFill>
            <a:prstDash val="solid"/>
          </a:ln>
        </p:spPr>
      </p:sp>
      <p:sp>
        <p:nvSpPr>
          <p:cNvPr id="11" name="Shape 9"/>
          <p:cNvSpPr/>
          <p:nvPr/>
        </p:nvSpPr>
        <p:spPr>
          <a:xfrm flipV="1">
            <a:off x="2377440" y="2758440"/>
            <a:ext cx="7406640" cy="426720"/>
          </a:xfrm>
          <a:prstGeom prst="line">
            <a:avLst/>
          </a:prstGeom>
          <a:noFill/>
          <a:ln w="6350">
            <a:solidFill>
              <a:srgbClr val="B9C6E8">
                <a:alpha val="65000"/>
              </a:srgbClr>
            </a:solidFill>
            <a:prstDash val="solid"/>
          </a:ln>
        </p:spPr>
      </p:sp>
      <p:sp>
        <p:nvSpPr>
          <p:cNvPr id="12" name="Shape 10"/>
          <p:cNvSpPr/>
          <p:nvPr/>
        </p:nvSpPr>
        <p:spPr>
          <a:xfrm>
            <a:off x="2377440" y="3185160"/>
            <a:ext cx="7406640" cy="914"/>
          </a:xfrm>
          <a:prstGeom prst="line">
            <a:avLst/>
          </a:prstGeom>
          <a:noFill/>
          <a:ln w="6350">
            <a:solidFill>
              <a:srgbClr val="B9C6E8">
                <a:alpha val="65000"/>
              </a:srgbClr>
            </a:solidFill>
            <a:prstDash val="solid"/>
          </a:ln>
        </p:spPr>
      </p:sp>
      <p:sp>
        <p:nvSpPr>
          <p:cNvPr id="13" name="Shape 11"/>
          <p:cNvSpPr/>
          <p:nvPr/>
        </p:nvSpPr>
        <p:spPr>
          <a:xfrm>
            <a:off x="2377440" y="3185160"/>
            <a:ext cx="7406640" cy="426720"/>
          </a:xfrm>
          <a:prstGeom prst="line">
            <a:avLst/>
          </a:prstGeom>
          <a:noFill/>
          <a:ln w="6350">
            <a:solidFill>
              <a:srgbClr val="B9C6E8">
                <a:alpha val="65000"/>
              </a:srgbClr>
            </a:solidFill>
            <a:prstDash val="solid"/>
          </a:ln>
        </p:spPr>
      </p:sp>
      <p:sp>
        <p:nvSpPr>
          <p:cNvPr id="14" name="Shape 12"/>
          <p:cNvSpPr/>
          <p:nvPr/>
        </p:nvSpPr>
        <p:spPr>
          <a:xfrm>
            <a:off x="2377440" y="3185160"/>
            <a:ext cx="7406640" cy="853440"/>
          </a:xfrm>
          <a:prstGeom prst="line">
            <a:avLst/>
          </a:prstGeom>
          <a:noFill/>
          <a:ln w="6350">
            <a:solidFill>
              <a:srgbClr val="B9C6E8">
                <a:alpha val="65000"/>
              </a:srgbClr>
            </a:solidFill>
            <a:prstDash val="solid"/>
          </a:ln>
        </p:spPr>
      </p:sp>
      <p:sp>
        <p:nvSpPr>
          <p:cNvPr id="15" name="Shape 13"/>
          <p:cNvSpPr/>
          <p:nvPr/>
        </p:nvSpPr>
        <p:spPr>
          <a:xfrm>
            <a:off x="2377440" y="3185160"/>
            <a:ext cx="7406640" cy="1280160"/>
          </a:xfrm>
          <a:prstGeom prst="line">
            <a:avLst/>
          </a:prstGeom>
          <a:noFill/>
          <a:ln w="6350">
            <a:solidFill>
              <a:srgbClr val="B9C6E8">
                <a:alpha val="65000"/>
              </a:srgbClr>
            </a:solidFill>
            <a:prstDash val="solid"/>
          </a:ln>
        </p:spPr>
      </p:sp>
      <p:sp>
        <p:nvSpPr>
          <p:cNvPr id="16" name="Shape 14"/>
          <p:cNvSpPr/>
          <p:nvPr/>
        </p:nvSpPr>
        <p:spPr>
          <a:xfrm flipV="1">
            <a:off x="2377440" y="2758440"/>
            <a:ext cx="7406640" cy="853440"/>
          </a:xfrm>
          <a:prstGeom prst="line">
            <a:avLst/>
          </a:prstGeom>
          <a:noFill/>
          <a:ln w="6350">
            <a:solidFill>
              <a:srgbClr val="B9C6E8">
                <a:alpha val="65000"/>
              </a:srgbClr>
            </a:solidFill>
            <a:prstDash val="solid"/>
          </a:ln>
        </p:spPr>
      </p:sp>
      <p:sp>
        <p:nvSpPr>
          <p:cNvPr id="17" name="Shape 15"/>
          <p:cNvSpPr/>
          <p:nvPr/>
        </p:nvSpPr>
        <p:spPr>
          <a:xfrm flipV="1">
            <a:off x="2377440" y="3185160"/>
            <a:ext cx="7406640" cy="426720"/>
          </a:xfrm>
          <a:prstGeom prst="line">
            <a:avLst/>
          </a:prstGeom>
          <a:noFill/>
          <a:ln w="6350">
            <a:solidFill>
              <a:srgbClr val="B9C6E8">
                <a:alpha val="65000"/>
              </a:srgbClr>
            </a:solidFill>
            <a:prstDash val="solid"/>
          </a:ln>
        </p:spPr>
      </p:sp>
      <p:sp>
        <p:nvSpPr>
          <p:cNvPr id="18" name="Shape 16"/>
          <p:cNvSpPr/>
          <p:nvPr/>
        </p:nvSpPr>
        <p:spPr>
          <a:xfrm>
            <a:off x="2377440" y="3611880"/>
            <a:ext cx="7406640" cy="914"/>
          </a:xfrm>
          <a:prstGeom prst="line">
            <a:avLst/>
          </a:prstGeom>
          <a:noFill/>
          <a:ln w="6350">
            <a:solidFill>
              <a:srgbClr val="B9C6E8">
                <a:alpha val="65000"/>
              </a:srgbClr>
            </a:solidFill>
            <a:prstDash val="solid"/>
          </a:ln>
        </p:spPr>
      </p:sp>
      <p:sp>
        <p:nvSpPr>
          <p:cNvPr id="19" name="Shape 17"/>
          <p:cNvSpPr/>
          <p:nvPr/>
        </p:nvSpPr>
        <p:spPr>
          <a:xfrm>
            <a:off x="2377440" y="3611880"/>
            <a:ext cx="7406640" cy="426720"/>
          </a:xfrm>
          <a:prstGeom prst="line">
            <a:avLst/>
          </a:prstGeom>
          <a:noFill/>
          <a:ln w="6350">
            <a:solidFill>
              <a:srgbClr val="B9C6E8">
                <a:alpha val="65000"/>
              </a:srgbClr>
            </a:solidFill>
            <a:prstDash val="solid"/>
          </a:ln>
        </p:spPr>
      </p:sp>
      <p:sp>
        <p:nvSpPr>
          <p:cNvPr id="20" name="Shape 18"/>
          <p:cNvSpPr/>
          <p:nvPr/>
        </p:nvSpPr>
        <p:spPr>
          <a:xfrm>
            <a:off x="2377440" y="3611880"/>
            <a:ext cx="7406640" cy="853440"/>
          </a:xfrm>
          <a:prstGeom prst="line">
            <a:avLst/>
          </a:prstGeom>
          <a:noFill/>
          <a:ln w="6350">
            <a:solidFill>
              <a:srgbClr val="B9C6E8">
                <a:alpha val="65000"/>
              </a:srgbClr>
            </a:solidFill>
            <a:prstDash val="solid"/>
          </a:ln>
        </p:spPr>
      </p:sp>
      <p:sp>
        <p:nvSpPr>
          <p:cNvPr id="21" name="Shape 19"/>
          <p:cNvSpPr/>
          <p:nvPr/>
        </p:nvSpPr>
        <p:spPr>
          <a:xfrm flipV="1">
            <a:off x="2377440" y="2758440"/>
            <a:ext cx="7406640" cy="1280160"/>
          </a:xfrm>
          <a:prstGeom prst="line">
            <a:avLst/>
          </a:prstGeom>
          <a:noFill/>
          <a:ln w="6350">
            <a:solidFill>
              <a:srgbClr val="B9C6E8">
                <a:alpha val="65000"/>
              </a:srgbClr>
            </a:solidFill>
            <a:prstDash val="solid"/>
          </a:ln>
        </p:spPr>
      </p:sp>
      <p:sp>
        <p:nvSpPr>
          <p:cNvPr id="22" name="Shape 20"/>
          <p:cNvSpPr/>
          <p:nvPr/>
        </p:nvSpPr>
        <p:spPr>
          <a:xfrm flipV="1">
            <a:off x="2377440" y="3185160"/>
            <a:ext cx="7406640" cy="853440"/>
          </a:xfrm>
          <a:prstGeom prst="line">
            <a:avLst/>
          </a:prstGeom>
          <a:noFill/>
          <a:ln w="6350">
            <a:solidFill>
              <a:srgbClr val="B9C6E8">
                <a:alpha val="65000"/>
              </a:srgbClr>
            </a:solidFill>
            <a:prstDash val="solid"/>
          </a:ln>
        </p:spPr>
      </p:sp>
      <p:sp>
        <p:nvSpPr>
          <p:cNvPr id="23" name="Shape 21"/>
          <p:cNvSpPr/>
          <p:nvPr/>
        </p:nvSpPr>
        <p:spPr>
          <a:xfrm flipV="1">
            <a:off x="2377440" y="3611880"/>
            <a:ext cx="7406640" cy="426720"/>
          </a:xfrm>
          <a:prstGeom prst="line">
            <a:avLst/>
          </a:prstGeom>
          <a:noFill/>
          <a:ln w="6350">
            <a:solidFill>
              <a:srgbClr val="B9C6E8">
                <a:alpha val="65000"/>
              </a:srgbClr>
            </a:solidFill>
            <a:prstDash val="solid"/>
          </a:ln>
        </p:spPr>
      </p:sp>
      <p:sp>
        <p:nvSpPr>
          <p:cNvPr id="24" name="Shape 22"/>
          <p:cNvSpPr/>
          <p:nvPr/>
        </p:nvSpPr>
        <p:spPr>
          <a:xfrm>
            <a:off x="2377440" y="4038600"/>
            <a:ext cx="7406640" cy="914"/>
          </a:xfrm>
          <a:prstGeom prst="line">
            <a:avLst/>
          </a:prstGeom>
          <a:noFill/>
          <a:ln w="6350">
            <a:solidFill>
              <a:srgbClr val="B9C6E8">
                <a:alpha val="65000"/>
              </a:srgbClr>
            </a:solidFill>
            <a:prstDash val="solid"/>
          </a:ln>
        </p:spPr>
      </p:sp>
      <p:sp>
        <p:nvSpPr>
          <p:cNvPr id="25" name="Shape 23"/>
          <p:cNvSpPr/>
          <p:nvPr/>
        </p:nvSpPr>
        <p:spPr>
          <a:xfrm>
            <a:off x="2377440" y="4038600"/>
            <a:ext cx="7406640" cy="426720"/>
          </a:xfrm>
          <a:prstGeom prst="line">
            <a:avLst/>
          </a:prstGeom>
          <a:noFill/>
          <a:ln w="6350">
            <a:solidFill>
              <a:srgbClr val="B9C6E8">
                <a:alpha val="65000"/>
              </a:srgbClr>
            </a:solidFill>
            <a:prstDash val="solid"/>
          </a:ln>
        </p:spPr>
      </p:sp>
      <p:sp>
        <p:nvSpPr>
          <p:cNvPr id="26" name="Shape 24"/>
          <p:cNvSpPr/>
          <p:nvPr/>
        </p:nvSpPr>
        <p:spPr>
          <a:xfrm flipV="1">
            <a:off x="2377440" y="2758440"/>
            <a:ext cx="7406640" cy="1706880"/>
          </a:xfrm>
          <a:prstGeom prst="line">
            <a:avLst/>
          </a:prstGeom>
          <a:noFill/>
          <a:ln w="6350">
            <a:solidFill>
              <a:srgbClr val="B9C6E8">
                <a:alpha val="65000"/>
              </a:srgbClr>
            </a:solidFill>
            <a:prstDash val="solid"/>
          </a:ln>
        </p:spPr>
      </p:sp>
      <p:sp>
        <p:nvSpPr>
          <p:cNvPr id="27" name="Shape 25"/>
          <p:cNvSpPr/>
          <p:nvPr/>
        </p:nvSpPr>
        <p:spPr>
          <a:xfrm flipV="1">
            <a:off x="2377440" y="3185160"/>
            <a:ext cx="7406640" cy="1280160"/>
          </a:xfrm>
          <a:prstGeom prst="line">
            <a:avLst/>
          </a:prstGeom>
          <a:noFill/>
          <a:ln w="6350">
            <a:solidFill>
              <a:srgbClr val="B9C6E8">
                <a:alpha val="65000"/>
              </a:srgbClr>
            </a:solidFill>
            <a:prstDash val="solid"/>
          </a:ln>
        </p:spPr>
      </p:sp>
      <p:sp>
        <p:nvSpPr>
          <p:cNvPr id="28" name="Shape 26"/>
          <p:cNvSpPr/>
          <p:nvPr/>
        </p:nvSpPr>
        <p:spPr>
          <a:xfrm flipV="1">
            <a:off x="2377440" y="3611880"/>
            <a:ext cx="7406640" cy="853440"/>
          </a:xfrm>
          <a:prstGeom prst="line">
            <a:avLst/>
          </a:prstGeom>
          <a:noFill/>
          <a:ln w="6350">
            <a:solidFill>
              <a:srgbClr val="B9C6E8">
                <a:alpha val="65000"/>
              </a:srgbClr>
            </a:solidFill>
            <a:prstDash val="solid"/>
          </a:ln>
        </p:spPr>
      </p:sp>
      <p:sp>
        <p:nvSpPr>
          <p:cNvPr id="29" name="Shape 27"/>
          <p:cNvSpPr/>
          <p:nvPr/>
        </p:nvSpPr>
        <p:spPr>
          <a:xfrm flipV="1">
            <a:off x="2377440" y="4038600"/>
            <a:ext cx="7406640" cy="426720"/>
          </a:xfrm>
          <a:prstGeom prst="line">
            <a:avLst/>
          </a:prstGeom>
          <a:noFill/>
          <a:ln w="6350">
            <a:solidFill>
              <a:srgbClr val="B9C6E8">
                <a:alpha val="65000"/>
              </a:srgbClr>
            </a:solidFill>
            <a:prstDash val="solid"/>
          </a:ln>
        </p:spPr>
      </p:sp>
      <p:sp>
        <p:nvSpPr>
          <p:cNvPr id="30" name="Shape 28"/>
          <p:cNvSpPr/>
          <p:nvPr/>
        </p:nvSpPr>
        <p:spPr>
          <a:xfrm>
            <a:off x="2377440" y="4465320"/>
            <a:ext cx="7406640" cy="914"/>
          </a:xfrm>
          <a:prstGeom prst="line">
            <a:avLst/>
          </a:prstGeom>
          <a:noFill/>
          <a:ln w="6350">
            <a:solidFill>
              <a:srgbClr val="B9C6E8">
                <a:alpha val="65000"/>
              </a:srgbClr>
            </a:solidFill>
            <a:prstDash val="solid"/>
          </a:ln>
        </p:spPr>
      </p:sp>
      <p:sp>
        <p:nvSpPr>
          <p:cNvPr id="31" name="Shape 29"/>
          <p:cNvSpPr/>
          <p:nvPr/>
        </p:nvSpPr>
        <p:spPr>
          <a:xfrm>
            <a:off x="2377440" y="2758440"/>
            <a:ext cx="7406640" cy="1706880"/>
          </a:xfrm>
          <a:prstGeom prst="line">
            <a:avLst/>
          </a:prstGeom>
          <a:noFill/>
          <a:ln w="28575">
            <a:solidFill>
              <a:srgbClr val="E8A33D"/>
            </a:solidFill>
            <a:prstDash val="solid"/>
          </a:ln>
        </p:spPr>
      </p:sp>
      <p:sp>
        <p:nvSpPr>
          <p:cNvPr id="32" name="Shape 30"/>
          <p:cNvSpPr/>
          <p:nvPr/>
        </p:nvSpPr>
        <p:spPr>
          <a:xfrm>
            <a:off x="2249424" y="2630424"/>
            <a:ext cx="256032" cy="256032"/>
          </a:xfrm>
          <a:prstGeom prst="ellipse">
            <a:avLst/>
          </a:prstGeom>
          <a:solidFill>
            <a:srgbClr val="1E2761"/>
          </a:solidFill>
          <a:ln w="19050">
            <a:solidFill>
              <a:srgbClr val="FFFFFF"/>
            </a:solidFill>
            <a:prstDash val="solid"/>
          </a:ln>
        </p:spPr>
      </p:sp>
      <p:sp>
        <p:nvSpPr>
          <p:cNvPr id="33" name="Text 31"/>
          <p:cNvSpPr txBox="1"/>
          <p:nvPr/>
        </p:nvSpPr>
        <p:spPr>
          <a:xfrm>
            <a:off x="777240" y="2621280"/>
            <a:ext cx="1371600" cy="274320"/>
          </a:xfrm>
          <a:prstGeom prst="rect">
            <a:avLst/>
          </a:prstGeom>
          <a:noFill/>
          <a:ln/>
        </p:spPr>
        <p:txBody>
          <a:bodyPr wrap="square" lIns="0" tIns="0" rIns="0" bIns="0" rtlCol="0" anchor="ctr"/>
          <a:lstStyle/>
          <a:p>
            <a:pPr algn="r" indent="0" marL="0">
              <a:buNone/>
            </a:pPr>
            <a:r>
              <a:rPr lang="en-US" sz="1100" b="1" dirty="0">
                <a:solidFill>
                  <a:srgbClr val="1E2761"/>
                </a:solidFill>
                <a:latin typeface="Calibri" pitchFamily="34" charset="0"/>
                <a:ea typeface="Calibri" pitchFamily="34" charset="-122"/>
                <a:cs typeface="Calibri" pitchFamily="34" charset="-120"/>
              </a:rPr>
              <a:t>animal</a:t>
            </a:r>
            <a:endParaRPr lang="en-US" sz="1100" dirty="0"/>
          </a:p>
        </p:txBody>
      </p:sp>
      <p:sp>
        <p:nvSpPr>
          <p:cNvPr id="34" name="Shape 32"/>
          <p:cNvSpPr/>
          <p:nvPr/>
        </p:nvSpPr>
        <p:spPr>
          <a:xfrm>
            <a:off x="2249424" y="3057144"/>
            <a:ext cx="256032" cy="256032"/>
          </a:xfrm>
          <a:prstGeom prst="ellipse">
            <a:avLst/>
          </a:prstGeom>
          <a:solidFill>
            <a:srgbClr val="1E2761"/>
          </a:solidFill>
          <a:ln w="19050">
            <a:solidFill>
              <a:srgbClr val="FFFFFF"/>
            </a:solidFill>
            <a:prstDash val="solid"/>
          </a:ln>
        </p:spPr>
      </p:sp>
      <p:sp>
        <p:nvSpPr>
          <p:cNvPr id="35" name="Text 33"/>
          <p:cNvSpPr txBox="1"/>
          <p:nvPr/>
        </p:nvSpPr>
        <p:spPr>
          <a:xfrm>
            <a:off x="777240" y="3048000"/>
            <a:ext cx="1371600" cy="274320"/>
          </a:xfrm>
          <a:prstGeom prst="rect">
            <a:avLst/>
          </a:prstGeom>
          <a:noFill/>
          <a:ln/>
        </p:spPr>
        <p:txBody>
          <a:bodyPr wrap="square" lIns="0" tIns="0" rIns="0" bIns="0" rtlCol="0" anchor="ctr"/>
          <a:lstStyle/>
          <a:p>
            <a:pPr algn="r" indent="0" marL="0">
              <a:buNone/>
            </a:pPr>
            <a:r>
              <a:rPr lang="en-US" sz="1100" dirty="0">
                <a:solidFill>
                  <a:srgbClr val="5C6B8A"/>
                </a:solidFill>
                <a:latin typeface="Calibri" pitchFamily="34" charset="0"/>
                <a:ea typeface="Calibri" pitchFamily="34" charset="-122"/>
                <a:cs typeface="Calibri" pitchFamily="34" charset="-120"/>
              </a:rPr>
              <a:t>não</a:t>
            </a:r>
            <a:endParaRPr lang="en-US" sz="1100" dirty="0"/>
          </a:p>
        </p:txBody>
      </p:sp>
      <p:sp>
        <p:nvSpPr>
          <p:cNvPr id="36" name="Shape 34"/>
          <p:cNvSpPr/>
          <p:nvPr/>
        </p:nvSpPr>
        <p:spPr>
          <a:xfrm>
            <a:off x="2249424" y="3483864"/>
            <a:ext cx="256032" cy="256032"/>
          </a:xfrm>
          <a:prstGeom prst="ellipse">
            <a:avLst/>
          </a:prstGeom>
          <a:solidFill>
            <a:srgbClr val="1E2761"/>
          </a:solidFill>
          <a:ln w="19050">
            <a:solidFill>
              <a:srgbClr val="FFFFFF"/>
            </a:solidFill>
            <a:prstDash val="solid"/>
          </a:ln>
        </p:spPr>
      </p:sp>
      <p:sp>
        <p:nvSpPr>
          <p:cNvPr id="37" name="Text 35"/>
          <p:cNvSpPr txBox="1"/>
          <p:nvPr/>
        </p:nvSpPr>
        <p:spPr>
          <a:xfrm>
            <a:off x="777240" y="3474720"/>
            <a:ext cx="1371600" cy="274320"/>
          </a:xfrm>
          <a:prstGeom prst="rect">
            <a:avLst/>
          </a:prstGeom>
          <a:noFill/>
          <a:ln/>
        </p:spPr>
        <p:txBody>
          <a:bodyPr wrap="square" lIns="0" tIns="0" rIns="0" bIns="0" rtlCol="0" anchor="ctr"/>
          <a:lstStyle/>
          <a:p>
            <a:pPr algn="r" indent="0" marL="0">
              <a:buNone/>
            </a:pPr>
            <a:r>
              <a:rPr lang="en-US" sz="1100" dirty="0">
                <a:solidFill>
                  <a:srgbClr val="5C6B8A"/>
                </a:solidFill>
                <a:latin typeface="Calibri" pitchFamily="34" charset="0"/>
                <a:ea typeface="Calibri" pitchFamily="34" charset="-122"/>
                <a:cs typeface="Calibri" pitchFamily="34" charset="-120"/>
              </a:rPr>
              <a:t>atravessou</a:t>
            </a:r>
            <a:endParaRPr lang="en-US" sz="1100" dirty="0"/>
          </a:p>
        </p:txBody>
      </p:sp>
      <p:sp>
        <p:nvSpPr>
          <p:cNvPr id="38" name="Shape 36"/>
          <p:cNvSpPr/>
          <p:nvPr/>
        </p:nvSpPr>
        <p:spPr>
          <a:xfrm>
            <a:off x="2249424" y="3910584"/>
            <a:ext cx="256032" cy="256032"/>
          </a:xfrm>
          <a:prstGeom prst="ellipse">
            <a:avLst/>
          </a:prstGeom>
          <a:solidFill>
            <a:srgbClr val="1E2761"/>
          </a:solidFill>
          <a:ln w="19050">
            <a:solidFill>
              <a:srgbClr val="FFFFFF"/>
            </a:solidFill>
            <a:prstDash val="solid"/>
          </a:ln>
        </p:spPr>
      </p:sp>
      <p:sp>
        <p:nvSpPr>
          <p:cNvPr id="39" name="Text 37"/>
          <p:cNvSpPr txBox="1"/>
          <p:nvPr/>
        </p:nvSpPr>
        <p:spPr>
          <a:xfrm>
            <a:off x="777240" y="3901440"/>
            <a:ext cx="1371600" cy="274320"/>
          </a:xfrm>
          <a:prstGeom prst="rect">
            <a:avLst/>
          </a:prstGeom>
          <a:noFill/>
          <a:ln/>
        </p:spPr>
        <p:txBody>
          <a:bodyPr wrap="square" lIns="0" tIns="0" rIns="0" bIns="0" rtlCol="0" anchor="ctr"/>
          <a:lstStyle/>
          <a:p>
            <a:pPr algn="r" indent="0" marL="0">
              <a:buNone/>
            </a:pPr>
            <a:r>
              <a:rPr lang="en-US" sz="1100" dirty="0">
                <a:solidFill>
                  <a:srgbClr val="5C6B8A"/>
                </a:solidFill>
                <a:latin typeface="Calibri" pitchFamily="34" charset="0"/>
                <a:ea typeface="Calibri" pitchFamily="34" charset="-122"/>
                <a:cs typeface="Calibri" pitchFamily="34" charset="-120"/>
              </a:rPr>
              <a:t>porque</a:t>
            </a:r>
            <a:endParaRPr lang="en-US" sz="1100" dirty="0"/>
          </a:p>
        </p:txBody>
      </p:sp>
      <p:sp>
        <p:nvSpPr>
          <p:cNvPr id="40" name="Shape 38"/>
          <p:cNvSpPr/>
          <p:nvPr/>
        </p:nvSpPr>
        <p:spPr>
          <a:xfrm>
            <a:off x="2249424" y="4337304"/>
            <a:ext cx="256032" cy="256032"/>
          </a:xfrm>
          <a:prstGeom prst="ellipse">
            <a:avLst/>
          </a:prstGeom>
          <a:solidFill>
            <a:srgbClr val="1E2761"/>
          </a:solidFill>
          <a:ln w="19050">
            <a:solidFill>
              <a:srgbClr val="FFFFFF"/>
            </a:solidFill>
            <a:prstDash val="solid"/>
          </a:ln>
        </p:spPr>
      </p:sp>
      <p:sp>
        <p:nvSpPr>
          <p:cNvPr id="41" name="Text 39"/>
          <p:cNvSpPr txBox="1"/>
          <p:nvPr/>
        </p:nvSpPr>
        <p:spPr>
          <a:xfrm>
            <a:off x="777240" y="4328160"/>
            <a:ext cx="1371600" cy="274320"/>
          </a:xfrm>
          <a:prstGeom prst="rect">
            <a:avLst/>
          </a:prstGeom>
          <a:noFill/>
          <a:ln/>
        </p:spPr>
        <p:txBody>
          <a:bodyPr wrap="square" lIns="0" tIns="0" rIns="0" bIns="0" rtlCol="0" anchor="ctr"/>
          <a:lstStyle/>
          <a:p>
            <a:pPr algn="r" indent="0" marL="0">
              <a:buNone/>
            </a:pPr>
            <a:r>
              <a:rPr lang="en-US" sz="1100" dirty="0">
                <a:solidFill>
                  <a:srgbClr val="5C6B8A"/>
                </a:solidFill>
                <a:latin typeface="Calibri" pitchFamily="34" charset="0"/>
                <a:ea typeface="Calibri" pitchFamily="34" charset="-122"/>
                <a:cs typeface="Calibri" pitchFamily="34" charset="-120"/>
              </a:rPr>
              <a:t>estava</a:t>
            </a:r>
            <a:endParaRPr lang="en-US" sz="1100" dirty="0"/>
          </a:p>
        </p:txBody>
      </p:sp>
      <p:sp>
        <p:nvSpPr>
          <p:cNvPr id="42" name="Shape 40"/>
          <p:cNvSpPr/>
          <p:nvPr/>
        </p:nvSpPr>
        <p:spPr>
          <a:xfrm>
            <a:off x="9656064" y="2630424"/>
            <a:ext cx="256032" cy="256032"/>
          </a:xfrm>
          <a:prstGeom prst="ellipse">
            <a:avLst/>
          </a:prstGeom>
          <a:solidFill>
            <a:srgbClr val="1E2761"/>
          </a:solidFill>
          <a:ln w="19050">
            <a:solidFill>
              <a:srgbClr val="FFFFFF"/>
            </a:solidFill>
            <a:prstDash val="solid"/>
          </a:ln>
        </p:spPr>
      </p:sp>
      <p:sp>
        <p:nvSpPr>
          <p:cNvPr id="43" name="Text 41"/>
          <p:cNvSpPr txBox="1"/>
          <p:nvPr/>
        </p:nvSpPr>
        <p:spPr>
          <a:xfrm>
            <a:off x="10012680" y="2621280"/>
            <a:ext cx="1371600" cy="274320"/>
          </a:xfrm>
          <a:prstGeom prst="rect">
            <a:avLst/>
          </a:prstGeom>
          <a:noFill/>
          <a:ln/>
        </p:spPr>
        <p:txBody>
          <a:bodyPr wrap="square" lIns="0" tIns="0" rIns="0" bIns="0" rtlCol="0" anchor="ctr"/>
          <a:lstStyle/>
          <a:p>
            <a:pPr algn="l" indent="0" marL="0">
              <a:buNone/>
            </a:pPr>
            <a:r>
              <a:rPr lang="en-US" sz="1100" dirty="0">
                <a:solidFill>
                  <a:srgbClr val="5C6B8A"/>
                </a:solidFill>
                <a:latin typeface="Calibri" pitchFamily="34" charset="0"/>
                <a:ea typeface="Calibri" pitchFamily="34" charset="-122"/>
                <a:cs typeface="Calibri" pitchFamily="34" charset="-120"/>
              </a:rPr>
              <a:t>animal</a:t>
            </a:r>
            <a:endParaRPr lang="en-US" sz="1100" dirty="0"/>
          </a:p>
        </p:txBody>
      </p:sp>
      <p:sp>
        <p:nvSpPr>
          <p:cNvPr id="44" name="Shape 42"/>
          <p:cNvSpPr/>
          <p:nvPr/>
        </p:nvSpPr>
        <p:spPr>
          <a:xfrm>
            <a:off x="9656064" y="3057144"/>
            <a:ext cx="256032" cy="256032"/>
          </a:xfrm>
          <a:prstGeom prst="ellipse">
            <a:avLst/>
          </a:prstGeom>
          <a:solidFill>
            <a:srgbClr val="1E2761"/>
          </a:solidFill>
          <a:ln w="19050">
            <a:solidFill>
              <a:srgbClr val="FFFFFF"/>
            </a:solidFill>
            <a:prstDash val="solid"/>
          </a:ln>
        </p:spPr>
      </p:sp>
      <p:sp>
        <p:nvSpPr>
          <p:cNvPr id="45" name="Text 43"/>
          <p:cNvSpPr txBox="1"/>
          <p:nvPr/>
        </p:nvSpPr>
        <p:spPr>
          <a:xfrm>
            <a:off x="10012680" y="3048000"/>
            <a:ext cx="1371600" cy="274320"/>
          </a:xfrm>
          <a:prstGeom prst="rect">
            <a:avLst/>
          </a:prstGeom>
          <a:noFill/>
          <a:ln/>
        </p:spPr>
        <p:txBody>
          <a:bodyPr wrap="square" lIns="0" tIns="0" rIns="0" bIns="0" rtlCol="0" anchor="ctr"/>
          <a:lstStyle/>
          <a:p>
            <a:pPr algn="l" indent="0" marL="0">
              <a:buNone/>
            </a:pPr>
            <a:r>
              <a:rPr lang="en-US" sz="1100" dirty="0">
                <a:solidFill>
                  <a:srgbClr val="5C6B8A"/>
                </a:solidFill>
                <a:latin typeface="Calibri" pitchFamily="34" charset="0"/>
                <a:ea typeface="Calibri" pitchFamily="34" charset="-122"/>
                <a:cs typeface="Calibri" pitchFamily="34" charset="-120"/>
              </a:rPr>
              <a:t>não</a:t>
            </a:r>
            <a:endParaRPr lang="en-US" sz="1100" dirty="0"/>
          </a:p>
        </p:txBody>
      </p:sp>
      <p:sp>
        <p:nvSpPr>
          <p:cNvPr id="46" name="Shape 44"/>
          <p:cNvSpPr/>
          <p:nvPr/>
        </p:nvSpPr>
        <p:spPr>
          <a:xfrm>
            <a:off x="9656064" y="3483864"/>
            <a:ext cx="256032" cy="256032"/>
          </a:xfrm>
          <a:prstGeom prst="ellipse">
            <a:avLst/>
          </a:prstGeom>
          <a:solidFill>
            <a:srgbClr val="1E2761"/>
          </a:solidFill>
          <a:ln w="19050">
            <a:solidFill>
              <a:srgbClr val="FFFFFF"/>
            </a:solidFill>
            <a:prstDash val="solid"/>
          </a:ln>
        </p:spPr>
      </p:sp>
      <p:sp>
        <p:nvSpPr>
          <p:cNvPr id="47" name="Text 45"/>
          <p:cNvSpPr txBox="1"/>
          <p:nvPr/>
        </p:nvSpPr>
        <p:spPr>
          <a:xfrm>
            <a:off x="10012680" y="3474720"/>
            <a:ext cx="1371600" cy="274320"/>
          </a:xfrm>
          <a:prstGeom prst="rect">
            <a:avLst/>
          </a:prstGeom>
          <a:noFill/>
          <a:ln/>
        </p:spPr>
        <p:txBody>
          <a:bodyPr wrap="square" lIns="0" tIns="0" rIns="0" bIns="0" rtlCol="0" anchor="ctr"/>
          <a:lstStyle/>
          <a:p>
            <a:pPr algn="l" indent="0" marL="0">
              <a:buNone/>
            </a:pPr>
            <a:r>
              <a:rPr lang="en-US" sz="1100" dirty="0">
                <a:solidFill>
                  <a:srgbClr val="5C6B8A"/>
                </a:solidFill>
                <a:latin typeface="Calibri" pitchFamily="34" charset="0"/>
                <a:ea typeface="Calibri" pitchFamily="34" charset="-122"/>
                <a:cs typeface="Calibri" pitchFamily="34" charset="-120"/>
              </a:rPr>
              <a:t>atravessou</a:t>
            </a:r>
            <a:endParaRPr lang="en-US" sz="1100" dirty="0"/>
          </a:p>
        </p:txBody>
      </p:sp>
      <p:sp>
        <p:nvSpPr>
          <p:cNvPr id="48" name="Shape 46"/>
          <p:cNvSpPr/>
          <p:nvPr/>
        </p:nvSpPr>
        <p:spPr>
          <a:xfrm>
            <a:off x="9656064" y="3910584"/>
            <a:ext cx="256032" cy="256032"/>
          </a:xfrm>
          <a:prstGeom prst="ellipse">
            <a:avLst/>
          </a:prstGeom>
          <a:solidFill>
            <a:srgbClr val="1E2761"/>
          </a:solidFill>
          <a:ln w="19050">
            <a:solidFill>
              <a:srgbClr val="FFFFFF"/>
            </a:solidFill>
            <a:prstDash val="solid"/>
          </a:ln>
        </p:spPr>
      </p:sp>
      <p:sp>
        <p:nvSpPr>
          <p:cNvPr id="49" name="Text 47"/>
          <p:cNvSpPr txBox="1"/>
          <p:nvPr/>
        </p:nvSpPr>
        <p:spPr>
          <a:xfrm>
            <a:off x="10012680" y="3901440"/>
            <a:ext cx="1371600" cy="274320"/>
          </a:xfrm>
          <a:prstGeom prst="rect">
            <a:avLst/>
          </a:prstGeom>
          <a:noFill/>
          <a:ln/>
        </p:spPr>
        <p:txBody>
          <a:bodyPr wrap="square" lIns="0" tIns="0" rIns="0" bIns="0" rtlCol="0" anchor="ctr"/>
          <a:lstStyle/>
          <a:p>
            <a:pPr algn="l" indent="0" marL="0">
              <a:buNone/>
            </a:pPr>
            <a:r>
              <a:rPr lang="en-US" sz="1100" dirty="0">
                <a:solidFill>
                  <a:srgbClr val="5C6B8A"/>
                </a:solidFill>
                <a:latin typeface="Calibri" pitchFamily="34" charset="0"/>
                <a:ea typeface="Calibri" pitchFamily="34" charset="-122"/>
                <a:cs typeface="Calibri" pitchFamily="34" charset="-120"/>
              </a:rPr>
              <a:t>porque</a:t>
            </a:r>
            <a:endParaRPr lang="en-US" sz="1100" dirty="0"/>
          </a:p>
        </p:txBody>
      </p:sp>
      <p:sp>
        <p:nvSpPr>
          <p:cNvPr id="50" name="Shape 48"/>
          <p:cNvSpPr/>
          <p:nvPr/>
        </p:nvSpPr>
        <p:spPr>
          <a:xfrm>
            <a:off x="9656064" y="4337304"/>
            <a:ext cx="256032" cy="256032"/>
          </a:xfrm>
          <a:prstGeom prst="ellipse">
            <a:avLst/>
          </a:prstGeom>
          <a:solidFill>
            <a:srgbClr val="1E2761"/>
          </a:solidFill>
          <a:ln w="19050">
            <a:solidFill>
              <a:srgbClr val="FFFFFF"/>
            </a:solidFill>
            <a:prstDash val="solid"/>
          </a:ln>
        </p:spPr>
      </p:sp>
      <p:sp>
        <p:nvSpPr>
          <p:cNvPr id="51" name="Text 49"/>
          <p:cNvSpPr txBox="1"/>
          <p:nvPr/>
        </p:nvSpPr>
        <p:spPr>
          <a:xfrm>
            <a:off x="10012680" y="4328160"/>
            <a:ext cx="1371600" cy="274320"/>
          </a:xfrm>
          <a:prstGeom prst="rect">
            <a:avLst/>
          </a:prstGeom>
          <a:noFill/>
          <a:ln/>
        </p:spPr>
        <p:txBody>
          <a:bodyPr wrap="square" lIns="0" tIns="0" rIns="0" bIns="0" rtlCol="0" anchor="ctr"/>
          <a:lstStyle/>
          <a:p>
            <a:pPr algn="l" indent="0" marL="0">
              <a:buNone/>
            </a:pPr>
            <a:r>
              <a:rPr lang="en-US" sz="1100" b="1" dirty="0">
                <a:solidFill>
                  <a:srgbClr val="1E2761"/>
                </a:solidFill>
                <a:latin typeface="Calibri" pitchFamily="34" charset="0"/>
                <a:ea typeface="Calibri" pitchFamily="34" charset="-122"/>
                <a:cs typeface="Calibri" pitchFamily="34" charset="-120"/>
              </a:rPr>
              <a:t>estava</a:t>
            </a:r>
            <a:endParaRPr lang="en-US" sz="1100" dirty="0"/>
          </a:p>
        </p:txBody>
      </p:sp>
      <p:sp>
        <p:nvSpPr>
          <p:cNvPr id="52" name="Text 50"/>
          <p:cNvSpPr txBox="1"/>
          <p:nvPr/>
        </p:nvSpPr>
        <p:spPr>
          <a:xfrm>
            <a:off x="1188720" y="5029200"/>
            <a:ext cx="2377440" cy="274320"/>
          </a:xfrm>
          <a:prstGeom prst="rect">
            <a:avLst/>
          </a:prstGeom>
          <a:noFill/>
          <a:ln/>
        </p:spPr>
        <p:txBody>
          <a:bodyPr wrap="square" lIns="0" tIns="0" rIns="0" bIns="0" rtlCol="0" anchor="ctr"/>
          <a:lstStyle/>
          <a:p>
            <a:pPr algn="ctr" indent="0" marL="0">
              <a:buNone/>
            </a:pPr>
            <a:r>
              <a:rPr lang="en-US" sz="1050" b="1" spc="100" kern="0" dirty="0">
                <a:solidFill>
                  <a:srgbClr val="1E2761"/>
                </a:solidFill>
                <a:latin typeface="Calibri" pitchFamily="34" charset="0"/>
                <a:ea typeface="Calibri" pitchFamily="34" charset="-122"/>
                <a:cs typeface="Calibri" pitchFamily="34" charset="-120"/>
              </a:rPr>
              <a:t>ENTRADA (MESMA FRASE)</a:t>
            </a:r>
            <a:endParaRPr lang="en-US" sz="1050" dirty="0"/>
          </a:p>
        </p:txBody>
      </p:sp>
      <p:sp>
        <p:nvSpPr>
          <p:cNvPr id="53" name="Text 51"/>
          <p:cNvSpPr txBox="1"/>
          <p:nvPr/>
        </p:nvSpPr>
        <p:spPr>
          <a:xfrm>
            <a:off x="8595360" y="5029200"/>
            <a:ext cx="2377440" cy="274320"/>
          </a:xfrm>
          <a:prstGeom prst="rect">
            <a:avLst/>
          </a:prstGeom>
          <a:noFill/>
          <a:ln/>
        </p:spPr>
        <p:txBody>
          <a:bodyPr wrap="square" lIns="0" tIns="0" rIns="0" bIns="0" rtlCol="0" anchor="ctr"/>
          <a:lstStyle/>
          <a:p>
            <a:pPr algn="ctr" indent="0" marL="0">
              <a:buNone/>
            </a:pPr>
            <a:r>
              <a:rPr lang="en-US" sz="1050" b="1" spc="100" kern="0" dirty="0">
                <a:solidFill>
                  <a:srgbClr val="1E2761"/>
                </a:solidFill>
                <a:latin typeface="Calibri" pitchFamily="34" charset="0"/>
                <a:ea typeface="Calibri" pitchFamily="34" charset="-122"/>
                <a:cs typeface="Calibri" pitchFamily="34" charset="-120"/>
              </a:rPr>
              <a:t>SAÍDA CONTEXTUALIZADA</a:t>
            </a:r>
            <a:endParaRPr lang="en-US" sz="1050" dirty="0"/>
          </a:p>
        </p:txBody>
      </p:sp>
      <p:sp>
        <p:nvSpPr>
          <p:cNvPr id="54" name="Shape 52"/>
          <p:cNvSpPr/>
          <p:nvPr/>
        </p:nvSpPr>
        <p:spPr>
          <a:xfrm>
            <a:off x="548640" y="5440680"/>
            <a:ext cx="11094415" cy="868680"/>
          </a:xfrm>
          <a:prstGeom prst="roundRect">
            <a:avLst>
              <a:gd name="adj" fmla="val 10526"/>
            </a:avLst>
          </a:prstGeom>
          <a:solidFill>
            <a:srgbClr val="F0F4FC"/>
          </a:solidFill>
          <a:ln/>
        </p:spPr>
      </p:sp>
      <p:sp>
        <p:nvSpPr>
          <p:cNvPr id="55" name="Text 53"/>
          <p:cNvSpPr txBox="1"/>
          <p:nvPr/>
        </p:nvSpPr>
        <p:spPr>
          <a:xfrm>
            <a:off x="868680" y="5440680"/>
            <a:ext cx="10454335" cy="868680"/>
          </a:xfrm>
          <a:prstGeom prst="rect">
            <a:avLst/>
          </a:prstGeom>
          <a:noFill/>
          <a:ln/>
        </p:spPr>
        <p:txBody>
          <a:bodyPr wrap="square" lIns="0" tIns="0" rIns="0" bIns="0" rtlCol="0" anchor="ctr"/>
          <a:lstStyle/>
          <a:p>
            <a:pPr indent="0" marL="0">
              <a:lnSpc>
                <a:spcPts val="1700"/>
              </a:lnSpc>
              <a:buNone/>
            </a:pPr>
            <a:r>
              <a:rPr lang="en-US" sz="1300" b="1" dirty="0">
                <a:solidFill>
                  <a:srgbClr val="1E2761"/>
                </a:solidFill>
                <a:latin typeface="Calibri" pitchFamily="34" charset="0"/>
                <a:ea typeface="Calibri" pitchFamily="34" charset="-122"/>
                <a:cs typeface="Calibri" pitchFamily="34" charset="-120"/>
              </a:rPr>
              <a:t>Isto é a Self-Attention: </a:t>
            </a:r>
            <a:pPr indent="0" marL="0">
              <a:lnSpc>
                <a:spcPts val="1700"/>
              </a:lnSpc>
              <a:buNone/>
            </a:pPr>
            <a:r>
              <a:rPr lang="en-US" sz="1300" dirty="0">
                <a:solidFill>
                  <a:srgbClr val="1A1A2E"/>
                </a:solidFill>
                <a:latin typeface="Calibri" pitchFamily="34" charset="0"/>
                <a:ea typeface="Calibri" pitchFamily="34" charset="-122"/>
                <a:cs typeface="Calibri" pitchFamily="34" charset="-120"/>
              </a:rPr>
              <a:t>a saída de cada palavra é uma combinação ponderada de TODAS as palavras da mesma frase (linhas = pesos, via Query·Key, normalizados por softmax).</a:t>
            </a:r>
            <a:pPr indent="0" marL="0">
              <a:lnSpc>
                <a:spcPts val="1700"/>
              </a:lnSpc>
              <a:buNone/>
            </a:pPr>
            <a:endParaRPr lang="en-US" sz="1300" dirty="0"/>
          </a:p>
          <a:p>
            <a:pPr indent="0" marL="0">
              <a:lnSpc>
                <a:spcPts val="1700"/>
              </a:lnSpc>
              <a:buNone/>
            </a:pPr>
            <a:r>
              <a:rPr lang="en-US" sz="1300" i="1" dirty="0">
                <a:solidFill>
                  <a:srgbClr val="5C6B8A"/>
                </a:solidFill>
                <a:latin typeface="Calibri" pitchFamily="34" charset="0"/>
                <a:ea typeface="Calibri" pitchFamily="34" charset="-122"/>
                <a:cs typeface="Calibri" pitchFamily="34" charset="-120"/>
              </a:rPr>
              <a:t>Repare: “estava” (saída) presta muita atenção a “animal” (entrada) — é assim que o modelo resolve a quem “estava” se refere.</a:t>
            </a:r>
            <a:endParaRPr lang="en-US" sz="1300" dirty="0"/>
          </a:p>
        </p:txBody>
      </p:sp>
      <p:sp>
        <p:nvSpPr>
          <p:cNvPr id="57" name="Text 54"/>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ARQUITETURA DO MODELO</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Rede neural, aplicada: Cross-Attention</a:t>
            </a:r>
            <a:endParaRPr lang="en-US" sz="3200" dirty="0"/>
          </a:p>
        </p:txBody>
      </p:sp>
      <p:sp>
        <p:nvSpPr>
          <p:cNvPr id="4" name="Text 2"/>
          <p:cNvSpPr txBox="1"/>
          <p:nvPr/>
        </p:nvSpPr>
        <p:spPr>
          <a:xfrm>
            <a:off x="548640" y="1481328"/>
            <a:ext cx="11094415" cy="274320"/>
          </a:xfrm>
          <a:prstGeom prst="rect">
            <a:avLst/>
          </a:prstGeom>
          <a:noFill/>
          <a:ln/>
        </p:spPr>
        <p:txBody>
          <a:bodyPr wrap="square" lIns="0" tIns="0" rIns="0" bIns="0" rtlCol="0" anchor="ctr"/>
          <a:lstStyle/>
          <a:p>
            <a:pPr indent="0" marL="0">
              <a:buNone/>
            </a:pPr>
            <a:r>
              <a:rPr lang="en-US" sz="1300" i="1" dirty="0">
                <a:solidFill>
                  <a:srgbClr val="5C6B8A"/>
                </a:solidFill>
                <a:latin typeface="Calibri" pitchFamily="34" charset="0"/>
                <a:ea typeface="Calibri" pitchFamily="34" charset="-122"/>
                <a:cs typeface="Calibri" pitchFamily="34" charset="-120"/>
              </a:rPr>
              <a:t>Aplicado ao Transformer: como o decoder consulta a saída do encoder (slide 12)</a:t>
            </a:r>
            <a:endParaRPr lang="en-US" sz="1300" dirty="0"/>
          </a:p>
        </p:txBody>
      </p:sp>
      <p:sp>
        <p:nvSpPr>
          <p:cNvPr id="5" name="Text 3"/>
          <p:cNvSpPr txBox="1"/>
          <p:nvPr/>
        </p:nvSpPr>
        <p:spPr>
          <a:xfrm>
            <a:off x="548640" y="1783080"/>
            <a:ext cx="11094415" cy="274320"/>
          </a:xfrm>
          <a:prstGeom prst="rect">
            <a:avLst/>
          </a:prstGeom>
          <a:noFill/>
          <a:ln/>
        </p:spPr>
        <p:txBody>
          <a:bodyPr wrap="square" lIns="0" tIns="0" rIns="0" bIns="0" rtlCol="0" anchor="ctr"/>
          <a:lstStyle/>
          <a:p>
            <a:pPr algn="ctr" indent="0" marL="0">
              <a:buNone/>
            </a:pPr>
            <a:r>
              <a:rPr lang="en-US" sz="1250" i="1" dirty="0">
                <a:solidFill>
                  <a:srgbClr val="1A1A2E"/>
                </a:solidFill>
                <a:latin typeface="Calibri" pitchFamily="34" charset="0"/>
                <a:ea typeface="Calibri" pitchFamily="34" charset="-122"/>
                <a:cs typeface="Calibri" pitchFamily="34" charset="-120"/>
              </a:rPr>
              <a:t>Mesmo exemplo do slide 13: gerando “What is photosynthesis?” a partir do contexto lido</a:t>
            </a:r>
            <a:endParaRPr lang="en-US" sz="1250" dirty="0"/>
          </a:p>
        </p:txBody>
      </p:sp>
      <p:sp>
        <p:nvSpPr>
          <p:cNvPr id="6" name="Shape 4"/>
          <p:cNvSpPr/>
          <p:nvPr/>
        </p:nvSpPr>
        <p:spPr>
          <a:xfrm>
            <a:off x="2377440" y="2697480"/>
            <a:ext cx="7406640" cy="274320"/>
          </a:xfrm>
          <a:prstGeom prst="line">
            <a:avLst/>
          </a:prstGeom>
          <a:noFill/>
          <a:ln w="6350">
            <a:solidFill>
              <a:srgbClr val="B9C6E8">
                <a:alpha val="65000"/>
              </a:srgbClr>
            </a:solidFill>
            <a:prstDash val="solid"/>
          </a:ln>
        </p:spPr>
      </p:sp>
      <p:sp>
        <p:nvSpPr>
          <p:cNvPr id="7" name="Shape 5"/>
          <p:cNvSpPr/>
          <p:nvPr/>
        </p:nvSpPr>
        <p:spPr>
          <a:xfrm>
            <a:off x="2377440" y="2697480"/>
            <a:ext cx="7406640" cy="914400"/>
          </a:xfrm>
          <a:prstGeom prst="line">
            <a:avLst/>
          </a:prstGeom>
          <a:noFill/>
          <a:ln w="6350">
            <a:solidFill>
              <a:srgbClr val="B9C6E8">
                <a:alpha val="65000"/>
              </a:srgbClr>
            </a:solidFill>
            <a:prstDash val="solid"/>
          </a:ln>
        </p:spPr>
      </p:sp>
      <p:sp>
        <p:nvSpPr>
          <p:cNvPr id="8" name="Shape 6"/>
          <p:cNvSpPr/>
          <p:nvPr/>
        </p:nvSpPr>
        <p:spPr>
          <a:xfrm>
            <a:off x="2377440" y="2697480"/>
            <a:ext cx="7406640" cy="1554480"/>
          </a:xfrm>
          <a:prstGeom prst="line">
            <a:avLst/>
          </a:prstGeom>
          <a:noFill/>
          <a:ln w="6350">
            <a:solidFill>
              <a:srgbClr val="B9C6E8">
                <a:alpha val="65000"/>
              </a:srgbClr>
            </a:solidFill>
            <a:prstDash val="solid"/>
          </a:ln>
        </p:spPr>
      </p:sp>
      <p:sp>
        <p:nvSpPr>
          <p:cNvPr id="9" name="Shape 7"/>
          <p:cNvSpPr/>
          <p:nvPr/>
        </p:nvSpPr>
        <p:spPr>
          <a:xfrm flipV="1">
            <a:off x="2377440" y="2971800"/>
            <a:ext cx="7406640" cy="91440"/>
          </a:xfrm>
          <a:prstGeom prst="line">
            <a:avLst/>
          </a:prstGeom>
          <a:noFill/>
          <a:ln w="6350">
            <a:solidFill>
              <a:srgbClr val="B9C6E8">
                <a:alpha val="65000"/>
              </a:srgbClr>
            </a:solidFill>
            <a:prstDash val="solid"/>
          </a:ln>
        </p:spPr>
      </p:sp>
      <p:sp>
        <p:nvSpPr>
          <p:cNvPr id="10" name="Shape 8"/>
          <p:cNvSpPr/>
          <p:nvPr/>
        </p:nvSpPr>
        <p:spPr>
          <a:xfrm>
            <a:off x="2377440" y="3063240"/>
            <a:ext cx="7406640" cy="548640"/>
          </a:xfrm>
          <a:prstGeom prst="line">
            <a:avLst/>
          </a:prstGeom>
          <a:noFill/>
          <a:ln w="6350">
            <a:solidFill>
              <a:srgbClr val="B9C6E8">
                <a:alpha val="65000"/>
              </a:srgbClr>
            </a:solidFill>
            <a:prstDash val="solid"/>
          </a:ln>
        </p:spPr>
      </p:sp>
      <p:sp>
        <p:nvSpPr>
          <p:cNvPr id="11" name="Shape 9"/>
          <p:cNvSpPr/>
          <p:nvPr/>
        </p:nvSpPr>
        <p:spPr>
          <a:xfrm>
            <a:off x="2377440" y="3063240"/>
            <a:ext cx="7406640" cy="1188720"/>
          </a:xfrm>
          <a:prstGeom prst="line">
            <a:avLst/>
          </a:prstGeom>
          <a:noFill/>
          <a:ln w="6350">
            <a:solidFill>
              <a:srgbClr val="B9C6E8">
                <a:alpha val="65000"/>
              </a:srgbClr>
            </a:solidFill>
            <a:prstDash val="solid"/>
          </a:ln>
        </p:spPr>
      </p:sp>
      <p:sp>
        <p:nvSpPr>
          <p:cNvPr id="12" name="Shape 10"/>
          <p:cNvSpPr/>
          <p:nvPr/>
        </p:nvSpPr>
        <p:spPr>
          <a:xfrm flipV="1">
            <a:off x="2377440" y="2971800"/>
            <a:ext cx="7406640" cy="457200"/>
          </a:xfrm>
          <a:prstGeom prst="line">
            <a:avLst/>
          </a:prstGeom>
          <a:noFill/>
          <a:ln w="6350">
            <a:solidFill>
              <a:srgbClr val="B9C6E8">
                <a:alpha val="65000"/>
              </a:srgbClr>
            </a:solidFill>
            <a:prstDash val="solid"/>
          </a:ln>
        </p:spPr>
      </p:sp>
      <p:sp>
        <p:nvSpPr>
          <p:cNvPr id="13" name="Shape 11"/>
          <p:cNvSpPr/>
          <p:nvPr/>
        </p:nvSpPr>
        <p:spPr>
          <a:xfrm>
            <a:off x="2377440" y="3429000"/>
            <a:ext cx="7406640" cy="182880"/>
          </a:xfrm>
          <a:prstGeom prst="line">
            <a:avLst/>
          </a:prstGeom>
          <a:noFill/>
          <a:ln w="6350">
            <a:solidFill>
              <a:srgbClr val="B9C6E8">
                <a:alpha val="65000"/>
              </a:srgbClr>
            </a:solidFill>
            <a:prstDash val="solid"/>
          </a:ln>
        </p:spPr>
      </p:sp>
      <p:sp>
        <p:nvSpPr>
          <p:cNvPr id="14" name="Shape 12"/>
          <p:cNvSpPr/>
          <p:nvPr/>
        </p:nvSpPr>
        <p:spPr>
          <a:xfrm>
            <a:off x="2377440" y="3429000"/>
            <a:ext cx="7406640" cy="822960"/>
          </a:xfrm>
          <a:prstGeom prst="line">
            <a:avLst/>
          </a:prstGeom>
          <a:noFill/>
          <a:ln w="6350">
            <a:solidFill>
              <a:srgbClr val="B9C6E8">
                <a:alpha val="65000"/>
              </a:srgbClr>
            </a:solidFill>
            <a:prstDash val="solid"/>
          </a:ln>
        </p:spPr>
      </p:sp>
      <p:sp>
        <p:nvSpPr>
          <p:cNvPr id="15" name="Shape 13"/>
          <p:cNvSpPr/>
          <p:nvPr/>
        </p:nvSpPr>
        <p:spPr>
          <a:xfrm flipV="1">
            <a:off x="2377440" y="2971800"/>
            <a:ext cx="7406640" cy="822960"/>
          </a:xfrm>
          <a:prstGeom prst="line">
            <a:avLst/>
          </a:prstGeom>
          <a:noFill/>
          <a:ln w="6350">
            <a:solidFill>
              <a:srgbClr val="B9C6E8">
                <a:alpha val="65000"/>
              </a:srgbClr>
            </a:solidFill>
            <a:prstDash val="solid"/>
          </a:ln>
        </p:spPr>
      </p:sp>
      <p:sp>
        <p:nvSpPr>
          <p:cNvPr id="16" name="Shape 14"/>
          <p:cNvSpPr/>
          <p:nvPr/>
        </p:nvSpPr>
        <p:spPr>
          <a:xfrm flipV="1">
            <a:off x="2377440" y="3611880"/>
            <a:ext cx="7406640" cy="182880"/>
          </a:xfrm>
          <a:prstGeom prst="line">
            <a:avLst/>
          </a:prstGeom>
          <a:noFill/>
          <a:ln w="6350">
            <a:solidFill>
              <a:srgbClr val="B9C6E8">
                <a:alpha val="65000"/>
              </a:srgbClr>
            </a:solidFill>
            <a:prstDash val="solid"/>
          </a:ln>
        </p:spPr>
      </p:sp>
      <p:sp>
        <p:nvSpPr>
          <p:cNvPr id="17" name="Shape 15"/>
          <p:cNvSpPr/>
          <p:nvPr/>
        </p:nvSpPr>
        <p:spPr>
          <a:xfrm>
            <a:off x="2377440" y="3794760"/>
            <a:ext cx="7406640" cy="457200"/>
          </a:xfrm>
          <a:prstGeom prst="line">
            <a:avLst/>
          </a:prstGeom>
          <a:noFill/>
          <a:ln w="6350">
            <a:solidFill>
              <a:srgbClr val="B9C6E8">
                <a:alpha val="65000"/>
              </a:srgbClr>
            </a:solidFill>
            <a:prstDash val="solid"/>
          </a:ln>
        </p:spPr>
      </p:sp>
      <p:sp>
        <p:nvSpPr>
          <p:cNvPr id="18" name="Shape 16"/>
          <p:cNvSpPr/>
          <p:nvPr/>
        </p:nvSpPr>
        <p:spPr>
          <a:xfrm flipV="1">
            <a:off x="2377440" y="2971800"/>
            <a:ext cx="7406640" cy="1188720"/>
          </a:xfrm>
          <a:prstGeom prst="line">
            <a:avLst/>
          </a:prstGeom>
          <a:noFill/>
          <a:ln w="6350">
            <a:solidFill>
              <a:srgbClr val="B9C6E8">
                <a:alpha val="65000"/>
              </a:srgbClr>
            </a:solidFill>
            <a:prstDash val="solid"/>
          </a:ln>
        </p:spPr>
      </p:sp>
      <p:sp>
        <p:nvSpPr>
          <p:cNvPr id="19" name="Shape 17"/>
          <p:cNvSpPr/>
          <p:nvPr/>
        </p:nvSpPr>
        <p:spPr>
          <a:xfrm flipV="1">
            <a:off x="2377440" y="3611880"/>
            <a:ext cx="7406640" cy="548640"/>
          </a:xfrm>
          <a:prstGeom prst="line">
            <a:avLst/>
          </a:prstGeom>
          <a:noFill/>
          <a:ln w="6350">
            <a:solidFill>
              <a:srgbClr val="B9C6E8">
                <a:alpha val="65000"/>
              </a:srgbClr>
            </a:solidFill>
            <a:prstDash val="solid"/>
          </a:ln>
        </p:spPr>
      </p:sp>
      <p:sp>
        <p:nvSpPr>
          <p:cNvPr id="20" name="Shape 18"/>
          <p:cNvSpPr/>
          <p:nvPr/>
        </p:nvSpPr>
        <p:spPr>
          <a:xfrm>
            <a:off x="2377440" y="4160520"/>
            <a:ext cx="7406640" cy="91440"/>
          </a:xfrm>
          <a:prstGeom prst="line">
            <a:avLst/>
          </a:prstGeom>
          <a:noFill/>
          <a:ln w="6350">
            <a:solidFill>
              <a:srgbClr val="B9C6E8">
                <a:alpha val="65000"/>
              </a:srgbClr>
            </a:solidFill>
            <a:prstDash val="solid"/>
          </a:ln>
        </p:spPr>
      </p:sp>
      <p:sp>
        <p:nvSpPr>
          <p:cNvPr id="21" name="Shape 19"/>
          <p:cNvSpPr/>
          <p:nvPr/>
        </p:nvSpPr>
        <p:spPr>
          <a:xfrm flipV="1">
            <a:off x="2377440" y="2971800"/>
            <a:ext cx="7406640" cy="1554480"/>
          </a:xfrm>
          <a:prstGeom prst="line">
            <a:avLst/>
          </a:prstGeom>
          <a:noFill/>
          <a:ln w="6350">
            <a:solidFill>
              <a:srgbClr val="B9C6E8">
                <a:alpha val="65000"/>
              </a:srgbClr>
            </a:solidFill>
            <a:prstDash val="solid"/>
          </a:ln>
        </p:spPr>
      </p:sp>
      <p:sp>
        <p:nvSpPr>
          <p:cNvPr id="22" name="Shape 20"/>
          <p:cNvSpPr/>
          <p:nvPr/>
        </p:nvSpPr>
        <p:spPr>
          <a:xfrm flipV="1">
            <a:off x="2377440" y="3611880"/>
            <a:ext cx="7406640" cy="914400"/>
          </a:xfrm>
          <a:prstGeom prst="line">
            <a:avLst/>
          </a:prstGeom>
          <a:noFill/>
          <a:ln w="6350">
            <a:solidFill>
              <a:srgbClr val="B9C6E8">
                <a:alpha val="65000"/>
              </a:srgbClr>
            </a:solidFill>
            <a:prstDash val="solid"/>
          </a:ln>
        </p:spPr>
      </p:sp>
      <p:sp>
        <p:nvSpPr>
          <p:cNvPr id="23" name="Shape 21"/>
          <p:cNvSpPr/>
          <p:nvPr/>
        </p:nvSpPr>
        <p:spPr>
          <a:xfrm flipV="1">
            <a:off x="2377440" y="4251960"/>
            <a:ext cx="7406640" cy="274320"/>
          </a:xfrm>
          <a:prstGeom prst="line">
            <a:avLst/>
          </a:prstGeom>
          <a:noFill/>
          <a:ln w="6350">
            <a:solidFill>
              <a:srgbClr val="B9C6E8">
                <a:alpha val="65000"/>
              </a:srgbClr>
            </a:solidFill>
            <a:prstDash val="solid"/>
          </a:ln>
        </p:spPr>
      </p:sp>
      <p:sp>
        <p:nvSpPr>
          <p:cNvPr id="24" name="Shape 22"/>
          <p:cNvSpPr/>
          <p:nvPr/>
        </p:nvSpPr>
        <p:spPr>
          <a:xfrm>
            <a:off x="2377440" y="2697480"/>
            <a:ext cx="7406640" cy="1554480"/>
          </a:xfrm>
          <a:prstGeom prst="line">
            <a:avLst/>
          </a:prstGeom>
          <a:noFill/>
          <a:ln w="28575">
            <a:solidFill>
              <a:srgbClr val="E8A33D"/>
            </a:solidFill>
            <a:prstDash val="solid"/>
          </a:ln>
        </p:spPr>
      </p:sp>
      <p:sp>
        <p:nvSpPr>
          <p:cNvPr id="25" name="Shape 23"/>
          <p:cNvSpPr/>
          <p:nvPr/>
        </p:nvSpPr>
        <p:spPr>
          <a:xfrm>
            <a:off x="2249424" y="2569464"/>
            <a:ext cx="256032" cy="256032"/>
          </a:xfrm>
          <a:prstGeom prst="ellipse">
            <a:avLst/>
          </a:prstGeom>
          <a:solidFill>
            <a:srgbClr val="1E2761"/>
          </a:solidFill>
          <a:ln w="19050">
            <a:solidFill>
              <a:srgbClr val="FFFFFF"/>
            </a:solidFill>
            <a:prstDash val="solid"/>
          </a:ln>
        </p:spPr>
      </p:sp>
      <p:sp>
        <p:nvSpPr>
          <p:cNvPr id="26" name="Text 24"/>
          <p:cNvSpPr txBox="1"/>
          <p:nvPr/>
        </p:nvSpPr>
        <p:spPr>
          <a:xfrm>
            <a:off x="640080" y="2569464"/>
            <a:ext cx="1508760" cy="256032"/>
          </a:xfrm>
          <a:prstGeom prst="rect">
            <a:avLst/>
          </a:prstGeom>
          <a:noFill/>
          <a:ln/>
        </p:spPr>
        <p:txBody>
          <a:bodyPr wrap="square" lIns="0" tIns="0" rIns="0" bIns="0" rtlCol="0" anchor="ctr"/>
          <a:lstStyle/>
          <a:p>
            <a:pPr algn="r" indent="0" marL="0">
              <a:buNone/>
            </a:pPr>
            <a:r>
              <a:rPr lang="en-US" sz="1000" b="1" dirty="0">
                <a:solidFill>
                  <a:srgbClr val="1E2761"/>
                </a:solidFill>
                <a:latin typeface="Calibri" pitchFamily="34" charset="0"/>
                <a:ea typeface="Calibri" pitchFamily="34" charset="-122"/>
                <a:cs typeface="Calibri" pitchFamily="34" charset="-120"/>
              </a:rPr>
              <a:t>Photosynthesis</a:t>
            </a:r>
            <a:endParaRPr lang="en-US" sz="1000" dirty="0"/>
          </a:p>
        </p:txBody>
      </p:sp>
      <p:sp>
        <p:nvSpPr>
          <p:cNvPr id="27" name="Shape 25"/>
          <p:cNvSpPr/>
          <p:nvPr/>
        </p:nvSpPr>
        <p:spPr>
          <a:xfrm>
            <a:off x="2249424" y="2935224"/>
            <a:ext cx="256032" cy="256032"/>
          </a:xfrm>
          <a:prstGeom prst="ellipse">
            <a:avLst/>
          </a:prstGeom>
          <a:solidFill>
            <a:srgbClr val="1E2761"/>
          </a:solidFill>
          <a:ln w="19050">
            <a:solidFill>
              <a:srgbClr val="FFFFFF"/>
            </a:solidFill>
            <a:prstDash val="solid"/>
          </a:ln>
        </p:spPr>
      </p:sp>
      <p:sp>
        <p:nvSpPr>
          <p:cNvPr id="28" name="Text 26"/>
          <p:cNvSpPr txBox="1"/>
          <p:nvPr/>
        </p:nvSpPr>
        <p:spPr>
          <a:xfrm>
            <a:off x="640080" y="2935224"/>
            <a:ext cx="1508760" cy="256032"/>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plants</a:t>
            </a:r>
            <a:endParaRPr lang="en-US" sz="1000" dirty="0"/>
          </a:p>
        </p:txBody>
      </p:sp>
      <p:sp>
        <p:nvSpPr>
          <p:cNvPr id="29" name="Shape 27"/>
          <p:cNvSpPr/>
          <p:nvPr/>
        </p:nvSpPr>
        <p:spPr>
          <a:xfrm>
            <a:off x="2249424" y="3300984"/>
            <a:ext cx="256032" cy="256032"/>
          </a:xfrm>
          <a:prstGeom prst="ellipse">
            <a:avLst/>
          </a:prstGeom>
          <a:solidFill>
            <a:srgbClr val="1E2761"/>
          </a:solidFill>
          <a:ln w="19050">
            <a:solidFill>
              <a:srgbClr val="FFFFFF"/>
            </a:solidFill>
            <a:prstDash val="solid"/>
          </a:ln>
        </p:spPr>
      </p:sp>
      <p:sp>
        <p:nvSpPr>
          <p:cNvPr id="30" name="Text 28"/>
          <p:cNvSpPr txBox="1"/>
          <p:nvPr/>
        </p:nvSpPr>
        <p:spPr>
          <a:xfrm>
            <a:off x="640080" y="3300984"/>
            <a:ext cx="1508760" cy="256032"/>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light</a:t>
            </a:r>
            <a:endParaRPr lang="en-US" sz="1000" dirty="0"/>
          </a:p>
        </p:txBody>
      </p:sp>
      <p:sp>
        <p:nvSpPr>
          <p:cNvPr id="31" name="Shape 29"/>
          <p:cNvSpPr/>
          <p:nvPr/>
        </p:nvSpPr>
        <p:spPr>
          <a:xfrm>
            <a:off x="2249424" y="3666744"/>
            <a:ext cx="256032" cy="256032"/>
          </a:xfrm>
          <a:prstGeom prst="ellipse">
            <a:avLst/>
          </a:prstGeom>
          <a:solidFill>
            <a:srgbClr val="1E2761"/>
          </a:solidFill>
          <a:ln w="19050">
            <a:solidFill>
              <a:srgbClr val="FFFFFF"/>
            </a:solidFill>
            <a:prstDash val="solid"/>
          </a:ln>
        </p:spPr>
      </p:sp>
      <p:sp>
        <p:nvSpPr>
          <p:cNvPr id="32" name="Text 30"/>
          <p:cNvSpPr txBox="1"/>
          <p:nvPr/>
        </p:nvSpPr>
        <p:spPr>
          <a:xfrm>
            <a:off x="640080" y="3666744"/>
            <a:ext cx="1508760" cy="256032"/>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energy</a:t>
            </a:r>
            <a:endParaRPr lang="en-US" sz="1000" dirty="0"/>
          </a:p>
        </p:txBody>
      </p:sp>
      <p:sp>
        <p:nvSpPr>
          <p:cNvPr id="33" name="Shape 31"/>
          <p:cNvSpPr/>
          <p:nvPr/>
        </p:nvSpPr>
        <p:spPr>
          <a:xfrm>
            <a:off x="2249424" y="4032504"/>
            <a:ext cx="256032" cy="256032"/>
          </a:xfrm>
          <a:prstGeom prst="ellipse">
            <a:avLst/>
          </a:prstGeom>
          <a:solidFill>
            <a:srgbClr val="1E2761"/>
          </a:solidFill>
          <a:ln w="19050">
            <a:solidFill>
              <a:srgbClr val="FFFFFF"/>
            </a:solidFill>
            <a:prstDash val="solid"/>
          </a:ln>
        </p:spPr>
      </p:sp>
      <p:sp>
        <p:nvSpPr>
          <p:cNvPr id="34" name="Text 32"/>
          <p:cNvSpPr txBox="1"/>
          <p:nvPr/>
        </p:nvSpPr>
        <p:spPr>
          <a:xfrm>
            <a:off x="640080" y="4032504"/>
            <a:ext cx="1508760" cy="256032"/>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chemical</a:t>
            </a:r>
            <a:endParaRPr lang="en-US" sz="1000" dirty="0"/>
          </a:p>
        </p:txBody>
      </p:sp>
      <p:sp>
        <p:nvSpPr>
          <p:cNvPr id="35" name="Shape 33"/>
          <p:cNvSpPr/>
          <p:nvPr/>
        </p:nvSpPr>
        <p:spPr>
          <a:xfrm>
            <a:off x="2249424" y="4398264"/>
            <a:ext cx="256032" cy="256032"/>
          </a:xfrm>
          <a:prstGeom prst="ellipse">
            <a:avLst/>
          </a:prstGeom>
          <a:solidFill>
            <a:srgbClr val="1E2761"/>
          </a:solidFill>
          <a:ln w="19050">
            <a:solidFill>
              <a:srgbClr val="FFFFFF"/>
            </a:solidFill>
            <a:prstDash val="solid"/>
          </a:ln>
        </p:spPr>
      </p:sp>
      <p:sp>
        <p:nvSpPr>
          <p:cNvPr id="36" name="Text 34"/>
          <p:cNvSpPr txBox="1"/>
          <p:nvPr/>
        </p:nvSpPr>
        <p:spPr>
          <a:xfrm>
            <a:off x="640080" y="4398264"/>
            <a:ext cx="1508760" cy="256032"/>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carbohydrate</a:t>
            </a:r>
            <a:endParaRPr lang="en-US" sz="1000" dirty="0"/>
          </a:p>
        </p:txBody>
      </p:sp>
      <p:sp>
        <p:nvSpPr>
          <p:cNvPr id="37" name="Shape 35"/>
          <p:cNvSpPr/>
          <p:nvPr/>
        </p:nvSpPr>
        <p:spPr>
          <a:xfrm>
            <a:off x="9656064" y="2843784"/>
            <a:ext cx="256032" cy="256032"/>
          </a:xfrm>
          <a:prstGeom prst="ellipse">
            <a:avLst/>
          </a:prstGeom>
          <a:solidFill>
            <a:srgbClr val="3A4A8F"/>
          </a:solidFill>
          <a:ln w="19050">
            <a:solidFill>
              <a:srgbClr val="FFFFFF"/>
            </a:solidFill>
            <a:prstDash val="solid"/>
          </a:ln>
        </p:spPr>
      </p:sp>
      <p:sp>
        <p:nvSpPr>
          <p:cNvPr id="38" name="Text 36"/>
          <p:cNvSpPr txBox="1"/>
          <p:nvPr/>
        </p:nvSpPr>
        <p:spPr>
          <a:xfrm>
            <a:off x="10012680" y="2834640"/>
            <a:ext cx="1463040" cy="274320"/>
          </a:xfrm>
          <a:prstGeom prst="rect">
            <a:avLst/>
          </a:prstGeom>
          <a:noFill/>
          <a:ln/>
        </p:spPr>
        <p:txBody>
          <a:bodyPr wrap="square" lIns="0" tIns="0" rIns="0" bIns="0" rtlCol="0" anchor="ctr"/>
          <a:lstStyle/>
          <a:p>
            <a:pPr algn="l" indent="0" marL="0">
              <a:buNone/>
            </a:pPr>
            <a:r>
              <a:rPr lang="en-US" sz="1100" dirty="0">
                <a:solidFill>
                  <a:srgbClr val="5C6B8A"/>
                </a:solidFill>
                <a:latin typeface="Calibri" pitchFamily="34" charset="0"/>
                <a:ea typeface="Calibri" pitchFamily="34" charset="-122"/>
                <a:cs typeface="Calibri" pitchFamily="34" charset="-120"/>
              </a:rPr>
              <a:t>What</a:t>
            </a:r>
            <a:endParaRPr lang="en-US" sz="1100" dirty="0"/>
          </a:p>
        </p:txBody>
      </p:sp>
      <p:sp>
        <p:nvSpPr>
          <p:cNvPr id="39" name="Shape 37"/>
          <p:cNvSpPr/>
          <p:nvPr/>
        </p:nvSpPr>
        <p:spPr>
          <a:xfrm>
            <a:off x="9656064" y="3483864"/>
            <a:ext cx="256032" cy="256032"/>
          </a:xfrm>
          <a:prstGeom prst="ellipse">
            <a:avLst/>
          </a:prstGeom>
          <a:solidFill>
            <a:srgbClr val="3A4A8F"/>
          </a:solidFill>
          <a:ln w="19050">
            <a:solidFill>
              <a:srgbClr val="FFFFFF"/>
            </a:solidFill>
            <a:prstDash val="solid"/>
          </a:ln>
        </p:spPr>
      </p:sp>
      <p:sp>
        <p:nvSpPr>
          <p:cNvPr id="40" name="Text 38"/>
          <p:cNvSpPr txBox="1"/>
          <p:nvPr/>
        </p:nvSpPr>
        <p:spPr>
          <a:xfrm>
            <a:off x="10012680" y="3474720"/>
            <a:ext cx="1463040" cy="274320"/>
          </a:xfrm>
          <a:prstGeom prst="rect">
            <a:avLst/>
          </a:prstGeom>
          <a:noFill/>
          <a:ln/>
        </p:spPr>
        <p:txBody>
          <a:bodyPr wrap="square" lIns="0" tIns="0" rIns="0" bIns="0" rtlCol="0" anchor="ctr"/>
          <a:lstStyle/>
          <a:p>
            <a:pPr algn="l" indent="0" marL="0">
              <a:buNone/>
            </a:pPr>
            <a:r>
              <a:rPr lang="en-US" sz="1100" dirty="0">
                <a:solidFill>
                  <a:srgbClr val="5C6B8A"/>
                </a:solidFill>
                <a:latin typeface="Calibri" pitchFamily="34" charset="0"/>
                <a:ea typeface="Calibri" pitchFamily="34" charset="-122"/>
                <a:cs typeface="Calibri" pitchFamily="34" charset="-120"/>
              </a:rPr>
              <a:t>is</a:t>
            </a:r>
            <a:endParaRPr lang="en-US" sz="1100" dirty="0"/>
          </a:p>
        </p:txBody>
      </p:sp>
      <p:sp>
        <p:nvSpPr>
          <p:cNvPr id="41" name="Shape 39"/>
          <p:cNvSpPr/>
          <p:nvPr/>
        </p:nvSpPr>
        <p:spPr>
          <a:xfrm>
            <a:off x="9656064" y="4123944"/>
            <a:ext cx="256032" cy="256032"/>
          </a:xfrm>
          <a:prstGeom prst="ellipse">
            <a:avLst/>
          </a:prstGeom>
          <a:solidFill>
            <a:srgbClr val="3A4A8F"/>
          </a:solidFill>
          <a:ln w="19050">
            <a:solidFill>
              <a:srgbClr val="FFFFFF"/>
            </a:solidFill>
            <a:prstDash val="solid"/>
          </a:ln>
        </p:spPr>
      </p:sp>
      <p:sp>
        <p:nvSpPr>
          <p:cNvPr id="42" name="Text 40"/>
          <p:cNvSpPr txBox="1"/>
          <p:nvPr/>
        </p:nvSpPr>
        <p:spPr>
          <a:xfrm>
            <a:off x="10012680" y="4114800"/>
            <a:ext cx="1463040" cy="274320"/>
          </a:xfrm>
          <a:prstGeom prst="rect">
            <a:avLst/>
          </a:prstGeom>
          <a:noFill/>
          <a:ln/>
        </p:spPr>
        <p:txBody>
          <a:bodyPr wrap="square" lIns="0" tIns="0" rIns="0" bIns="0" rtlCol="0" anchor="ctr"/>
          <a:lstStyle/>
          <a:p>
            <a:pPr algn="l" indent="0" marL="0">
              <a:buNone/>
            </a:pPr>
            <a:r>
              <a:rPr lang="en-US" sz="1100" b="1" dirty="0">
                <a:solidFill>
                  <a:srgbClr val="1E2761"/>
                </a:solidFill>
                <a:latin typeface="Calibri" pitchFamily="34" charset="0"/>
                <a:ea typeface="Calibri" pitchFamily="34" charset="-122"/>
                <a:cs typeface="Calibri" pitchFamily="34" charset="-120"/>
              </a:rPr>
              <a:t>photosynthesis</a:t>
            </a:r>
            <a:endParaRPr lang="en-US" sz="1100" dirty="0"/>
          </a:p>
        </p:txBody>
      </p:sp>
      <p:sp>
        <p:nvSpPr>
          <p:cNvPr id="43" name="Text 41"/>
          <p:cNvSpPr txBox="1"/>
          <p:nvPr/>
        </p:nvSpPr>
        <p:spPr>
          <a:xfrm>
            <a:off x="1188720" y="5029200"/>
            <a:ext cx="2377440" cy="274320"/>
          </a:xfrm>
          <a:prstGeom prst="rect">
            <a:avLst/>
          </a:prstGeom>
          <a:noFill/>
          <a:ln/>
        </p:spPr>
        <p:txBody>
          <a:bodyPr wrap="square" lIns="0" tIns="0" rIns="0" bIns="0" rtlCol="0" anchor="ctr"/>
          <a:lstStyle/>
          <a:p>
            <a:pPr algn="ctr" indent="0" marL="0">
              <a:buNone/>
            </a:pPr>
            <a:r>
              <a:rPr lang="en-US" sz="1050" b="1" spc="100" kern="0" dirty="0">
                <a:solidFill>
                  <a:srgbClr val="1E2761"/>
                </a:solidFill>
                <a:latin typeface="Calibri" pitchFamily="34" charset="0"/>
                <a:ea typeface="Calibri" pitchFamily="34" charset="-122"/>
                <a:cs typeface="Calibri" pitchFamily="34" charset="-120"/>
              </a:rPr>
              <a:t>SAÍDA DO ENCODER</a:t>
            </a:r>
            <a:endParaRPr lang="en-US" sz="1050" dirty="0"/>
          </a:p>
        </p:txBody>
      </p:sp>
      <p:sp>
        <p:nvSpPr>
          <p:cNvPr id="44" name="Text 42"/>
          <p:cNvSpPr txBox="1"/>
          <p:nvPr/>
        </p:nvSpPr>
        <p:spPr>
          <a:xfrm>
            <a:off x="8595360" y="5029200"/>
            <a:ext cx="2377440" cy="274320"/>
          </a:xfrm>
          <a:prstGeom prst="rect">
            <a:avLst/>
          </a:prstGeom>
          <a:noFill/>
          <a:ln/>
        </p:spPr>
        <p:txBody>
          <a:bodyPr wrap="square" lIns="0" tIns="0" rIns="0" bIns="0" rtlCol="0" anchor="ctr"/>
          <a:lstStyle/>
          <a:p>
            <a:pPr algn="ctr" indent="0" marL="0">
              <a:buNone/>
            </a:pPr>
            <a:r>
              <a:rPr lang="en-US" sz="1050" b="1" spc="100" kern="0" dirty="0">
                <a:solidFill>
                  <a:srgbClr val="3A4A8F"/>
                </a:solidFill>
                <a:latin typeface="Calibri" pitchFamily="34" charset="0"/>
                <a:ea typeface="Calibri" pitchFamily="34" charset="-122"/>
                <a:cs typeface="Calibri" pitchFamily="34" charset="-120"/>
              </a:rPr>
              <a:t>PERGUNTA (DECODER)</a:t>
            </a:r>
            <a:endParaRPr lang="en-US" sz="1050" dirty="0"/>
          </a:p>
        </p:txBody>
      </p:sp>
      <p:sp>
        <p:nvSpPr>
          <p:cNvPr id="45" name="Shape 43"/>
          <p:cNvSpPr/>
          <p:nvPr/>
        </p:nvSpPr>
        <p:spPr>
          <a:xfrm>
            <a:off x="548640" y="5440680"/>
            <a:ext cx="11094415" cy="868680"/>
          </a:xfrm>
          <a:prstGeom prst="roundRect">
            <a:avLst>
              <a:gd name="adj" fmla="val 10526"/>
            </a:avLst>
          </a:prstGeom>
          <a:solidFill>
            <a:srgbClr val="F0F4FC"/>
          </a:solidFill>
          <a:ln/>
        </p:spPr>
      </p:sp>
      <p:sp>
        <p:nvSpPr>
          <p:cNvPr id="46" name="Text 44"/>
          <p:cNvSpPr txBox="1"/>
          <p:nvPr/>
        </p:nvSpPr>
        <p:spPr>
          <a:xfrm>
            <a:off x="868680" y="5440680"/>
            <a:ext cx="10454335" cy="868680"/>
          </a:xfrm>
          <a:prstGeom prst="rect">
            <a:avLst/>
          </a:prstGeom>
          <a:noFill/>
          <a:ln/>
        </p:spPr>
        <p:txBody>
          <a:bodyPr wrap="square" lIns="0" tIns="0" rIns="0" bIns="0" rtlCol="0" anchor="ctr"/>
          <a:lstStyle/>
          <a:p>
            <a:pPr indent="0" marL="0">
              <a:lnSpc>
                <a:spcPts val="1700"/>
              </a:lnSpc>
              <a:buNone/>
            </a:pPr>
            <a:r>
              <a:rPr lang="en-US" sz="1300" b="1" dirty="0">
                <a:solidFill>
                  <a:srgbClr val="1E2761"/>
                </a:solidFill>
                <a:latin typeface="Calibri" pitchFamily="34" charset="0"/>
                <a:ea typeface="Calibri" pitchFamily="34" charset="-122"/>
                <a:cs typeface="Calibri" pitchFamily="34" charset="-120"/>
              </a:rPr>
              <a:t>Isto é a Cross-Attention: </a:t>
            </a:r>
            <a:pPr indent="0" marL="0">
              <a:lnSpc>
                <a:spcPts val="1700"/>
              </a:lnSpc>
              <a:buNone/>
            </a:pPr>
            <a:r>
              <a:rPr lang="en-US" sz="1300" dirty="0">
                <a:solidFill>
                  <a:srgbClr val="1A1A2E"/>
                </a:solidFill>
                <a:latin typeface="Calibri" pitchFamily="34" charset="0"/>
                <a:ea typeface="Calibri" pitchFamily="34" charset="-122"/>
                <a:cs typeface="Calibri" pitchFamily="34" charset="-120"/>
              </a:rPr>
              <a:t>cada palavra que o decoder está escrevendo consulta TODAS as posições da saída do encoder (Query do decoder · Key do encoder).</a:t>
            </a:r>
            <a:pPr indent="0" marL="0">
              <a:lnSpc>
                <a:spcPts val="1700"/>
              </a:lnSpc>
              <a:buNone/>
            </a:pPr>
            <a:endParaRPr lang="en-US" sz="1300" dirty="0"/>
          </a:p>
          <a:p>
            <a:pPr indent="0" marL="0">
              <a:lnSpc>
                <a:spcPts val="1700"/>
              </a:lnSpc>
              <a:buNone/>
            </a:pPr>
            <a:r>
              <a:rPr lang="en-US" sz="1300" i="1" dirty="0">
                <a:solidFill>
                  <a:srgbClr val="5C6B8A"/>
                </a:solidFill>
                <a:latin typeface="Calibri" pitchFamily="34" charset="0"/>
                <a:ea typeface="Calibri" pitchFamily="34" charset="-122"/>
                <a:cs typeface="Calibri" pitchFamily="34" charset="-120"/>
              </a:rPr>
              <a:t>Repare: “photosynthesis” (sendo gerada) presta muita atenção a “Photosynthesis” (texto original) — é assim que o decoder “lê” o contexto enquanto escreve.</a:t>
            </a:r>
            <a:endParaRPr lang="en-US" sz="1300" dirty="0"/>
          </a:p>
        </p:txBody>
      </p:sp>
      <p:sp>
        <p:nvSpPr>
          <p:cNvPr id="48" name="Text 45"/>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ARQUITETURA DO MODELO</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Antes do T5: o que é um Transformer?</a:t>
            </a:r>
            <a:endParaRPr lang="en-US" sz="3200" dirty="0"/>
          </a:p>
        </p:txBody>
      </p:sp>
      <p:sp>
        <p:nvSpPr>
          <p:cNvPr id="4" name="Shape 2"/>
          <p:cNvSpPr/>
          <p:nvPr/>
        </p:nvSpPr>
        <p:spPr>
          <a:xfrm>
            <a:off x="548640" y="2011680"/>
            <a:ext cx="11094415" cy="960120"/>
          </a:xfrm>
          <a:prstGeom prst="roundRect">
            <a:avLst>
              <a:gd name="adj" fmla="val 9524"/>
            </a:avLst>
          </a:prstGeom>
          <a:solidFill>
            <a:srgbClr val="F0F4FC"/>
          </a:solidFill>
          <a:ln/>
        </p:spPr>
      </p:sp>
      <p:sp>
        <p:nvSpPr>
          <p:cNvPr id="5" name="Text 3"/>
          <p:cNvSpPr txBox="1"/>
          <p:nvPr/>
        </p:nvSpPr>
        <p:spPr>
          <a:xfrm>
            <a:off x="868680" y="2011680"/>
            <a:ext cx="10454335" cy="960120"/>
          </a:xfrm>
          <a:prstGeom prst="rect">
            <a:avLst/>
          </a:prstGeom>
          <a:noFill/>
          <a:ln/>
        </p:spPr>
        <p:txBody>
          <a:bodyPr wrap="square" lIns="0" tIns="0" rIns="0" bIns="0" rtlCol="0" anchor="ctr"/>
          <a:lstStyle/>
          <a:p>
            <a:pPr indent="0" marL="0">
              <a:lnSpc>
                <a:spcPts val="1800"/>
              </a:lnSpc>
              <a:buNone/>
            </a:pPr>
            <a:r>
              <a:rPr lang="en-US" sz="1400" dirty="0">
                <a:solidFill>
                  <a:srgbClr val="1E2761"/>
                </a:solidFill>
                <a:latin typeface="Calibri" pitchFamily="34" charset="0"/>
                <a:ea typeface="Calibri" pitchFamily="34" charset="-122"/>
                <a:cs typeface="Calibri" pitchFamily="34" charset="-120"/>
              </a:rPr>
              <a:t>Transformer (2017): rede neural que usa attention (cada palavra “pondera” o quanto prestar atenção às outras) para processar o texto inteiro em paralelo — a base de praticamente todo modelo de linguagem atual.</a:t>
            </a:r>
            <a:endParaRPr lang="en-US" sz="1400" dirty="0"/>
          </a:p>
        </p:txBody>
      </p:sp>
      <p:sp>
        <p:nvSpPr>
          <p:cNvPr id="6" name="Shape 4"/>
          <p:cNvSpPr/>
          <p:nvPr/>
        </p:nvSpPr>
        <p:spPr>
          <a:xfrm>
            <a:off x="548640" y="3246120"/>
            <a:ext cx="3383280" cy="1965960"/>
          </a:xfrm>
          <a:prstGeom prst="roundRect">
            <a:avLst>
              <a:gd name="adj" fmla="val 4651"/>
            </a:avLst>
          </a:prstGeom>
          <a:solidFill>
            <a:srgbClr val="F0F4FC"/>
          </a:solidFill>
          <a:ln/>
        </p:spPr>
      </p:sp>
      <p:sp>
        <p:nvSpPr>
          <p:cNvPr id="7" name="Text 5"/>
          <p:cNvSpPr txBox="1"/>
          <p:nvPr/>
        </p:nvSpPr>
        <p:spPr>
          <a:xfrm>
            <a:off x="822960" y="3429000"/>
            <a:ext cx="2834640" cy="320040"/>
          </a:xfrm>
          <a:prstGeom prst="rect">
            <a:avLst/>
          </a:prstGeom>
          <a:noFill/>
          <a:ln/>
        </p:spPr>
        <p:txBody>
          <a:bodyPr wrap="square" lIns="0" tIns="0" rIns="0" bIns="0" rtlCol="0" anchor="ctr"/>
          <a:lstStyle/>
          <a:p>
            <a:pPr indent="0" marL="0">
              <a:buNone/>
            </a:pPr>
            <a:r>
              <a:rPr lang="en-US" sz="1250" b="1" spc="100" kern="0" dirty="0">
                <a:solidFill>
                  <a:srgbClr val="5C6B8A"/>
                </a:solidFill>
                <a:latin typeface="Calibri" pitchFamily="34" charset="0"/>
                <a:ea typeface="Calibri" pitchFamily="34" charset="-122"/>
                <a:cs typeface="Calibri" pitchFamily="34" charset="-120"/>
              </a:rPr>
              <a:t>ENCODER-ONLY</a:t>
            </a:r>
            <a:endParaRPr lang="en-US" sz="1250" dirty="0"/>
          </a:p>
        </p:txBody>
      </p:sp>
      <p:sp>
        <p:nvSpPr>
          <p:cNvPr id="8" name="Text 6"/>
          <p:cNvSpPr txBox="1"/>
          <p:nvPr/>
        </p:nvSpPr>
        <p:spPr>
          <a:xfrm>
            <a:off x="822960" y="3749040"/>
            <a:ext cx="2834640" cy="50292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BERT</a:t>
            </a:r>
            <a:endParaRPr lang="en-US" sz="2200" dirty="0"/>
          </a:p>
        </p:txBody>
      </p:sp>
      <p:sp>
        <p:nvSpPr>
          <p:cNvPr id="9" name="Text 7"/>
          <p:cNvSpPr txBox="1"/>
          <p:nvPr/>
        </p:nvSpPr>
        <p:spPr>
          <a:xfrm>
            <a:off x="822960" y="4343400"/>
            <a:ext cx="2834640" cy="777240"/>
          </a:xfrm>
          <a:prstGeom prst="rect">
            <a:avLst/>
          </a:prstGeom>
          <a:noFill/>
          <a:ln/>
        </p:spPr>
        <p:txBody>
          <a:bodyPr wrap="square" lIns="0" tIns="0" rIns="0" bIns="0" rtlCol="0" anchor="ctr"/>
          <a:lstStyle/>
          <a:p>
            <a:pPr indent="0" marL="0">
              <a:lnSpc>
                <a:spcPts val="1600"/>
              </a:lnSpc>
              <a:buNone/>
            </a:pPr>
            <a:r>
              <a:rPr lang="en-US" sz="1250" dirty="0">
                <a:solidFill>
                  <a:srgbClr val="5C6B8A"/>
                </a:solidFill>
                <a:latin typeface="Calibri" pitchFamily="34" charset="0"/>
                <a:ea typeface="Calibri" pitchFamily="34" charset="-122"/>
                <a:cs typeface="Calibri" pitchFamily="34" charset="-120"/>
              </a:rPr>
              <a:t>só entende o texto — não gera nada novo</a:t>
            </a:r>
            <a:endParaRPr lang="en-US" sz="1250" dirty="0"/>
          </a:p>
        </p:txBody>
      </p:sp>
      <p:sp>
        <p:nvSpPr>
          <p:cNvPr id="10" name="Shape 8"/>
          <p:cNvSpPr/>
          <p:nvPr/>
        </p:nvSpPr>
        <p:spPr>
          <a:xfrm>
            <a:off x="4297680" y="3246120"/>
            <a:ext cx="3383280" cy="1965960"/>
          </a:xfrm>
          <a:prstGeom prst="roundRect">
            <a:avLst>
              <a:gd name="adj" fmla="val 4651"/>
            </a:avLst>
          </a:prstGeom>
          <a:solidFill>
            <a:srgbClr val="F0F4FC"/>
          </a:solidFill>
          <a:ln/>
        </p:spPr>
      </p:sp>
      <p:sp>
        <p:nvSpPr>
          <p:cNvPr id="11" name="Text 9"/>
          <p:cNvSpPr txBox="1"/>
          <p:nvPr/>
        </p:nvSpPr>
        <p:spPr>
          <a:xfrm>
            <a:off x="4572000" y="3429000"/>
            <a:ext cx="2834640" cy="320040"/>
          </a:xfrm>
          <a:prstGeom prst="rect">
            <a:avLst/>
          </a:prstGeom>
          <a:noFill/>
          <a:ln/>
        </p:spPr>
        <p:txBody>
          <a:bodyPr wrap="square" lIns="0" tIns="0" rIns="0" bIns="0" rtlCol="0" anchor="ctr"/>
          <a:lstStyle/>
          <a:p>
            <a:pPr indent="0" marL="0">
              <a:buNone/>
            </a:pPr>
            <a:r>
              <a:rPr lang="en-US" sz="1250" b="1" spc="100" kern="0" dirty="0">
                <a:solidFill>
                  <a:srgbClr val="5C6B8A"/>
                </a:solidFill>
                <a:latin typeface="Calibri" pitchFamily="34" charset="0"/>
                <a:ea typeface="Calibri" pitchFamily="34" charset="-122"/>
                <a:cs typeface="Calibri" pitchFamily="34" charset="-120"/>
              </a:rPr>
              <a:t>DECODER-ONLY</a:t>
            </a:r>
            <a:endParaRPr lang="en-US" sz="1250" dirty="0"/>
          </a:p>
        </p:txBody>
      </p:sp>
      <p:sp>
        <p:nvSpPr>
          <p:cNvPr id="12" name="Text 10"/>
          <p:cNvSpPr txBox="1"/>
          <p:nvPr/>
        </p:nvSpPr>
        <p:spPr>
          <a:xfrm>
            <a:off x="4572000" y="3749040"/>
            <a:ext cx="2834640" cy="50292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GPT</a:t>
            </a:r>
            <a:endParaRPr lang="en-US" sz="2200" dirty="0"/>
          </a:p>
        </p:txBody>
      </p:sp>
      <p:sp>
        <p:nvSpPr>
          <p:cNvPr id="13" name="Text 11"/>
          <p:cNvSpPr txBox="1"/>
          <p:nvPr/>
        </p:nvSpPr>
        <p:spPr>
          <a:xfrm>
            <a:off x="4572000" y="4343400"/>
            <a:ext cx="2834640" cy="777240"/>
          </a:xfrm>
          <a:prstGeom prst="rect">
            <a:avLst/>
          </a:prstGeom>
          <a:noFill/>
          <a:ln/>
        </p:spPr>
        <p:txBody>
          <a:bodyPr wrap="square" lIns="0" tIns="0" rIns="0" bIns="0" rtlCol="0" anchor="ctr"/>
          <a:lstStyle/>
          <a:p>
            <a:pPr indent="0" marL="0">
              <a:lnSpc>
                <a:spcPts val="1600"/>
              </a:lnSpc>
              <a:buNone/>
            </a:pPr>
            <a:r>
              <a:rPr lang="en-US" sz="1250" dirty="0">
                <a:solidFill>
                  <a:srgbClr val="5C6B8A"/>
                </a:solidFill>
                <a:latin typeface="Calibri" pitchFamily="34" charset="0"/>
                <a:ea typeface="Calibri" pitchFamily="34" charset="-122"/>
                <a:cs typeface="Calibri" pitchFamily="34" charset="-120"/>
              </a:rPr>
              <a:t>gera texto, um token de cada vez — como o ChatGPT</a:t>
            </a:r>
            <a:endParaRPr lang="en-US" sz="1250" dirty="0"/>
          </a:p>
        </p:txBody>
      </p:sp>
      <p:sp>
        <p:nvSpPr>
          <p:cNvPr id="14" name="Shape 12"/>
          <p:cNvSpPr/>
          <p:nvPr/>
        </p:nvSpPr>
        <p:spPr>
          <a:xfrm>
            <a:off x="8046720" y="3246120"/>
            <a:ext cx="3383280" cy="1965960"/>
          </a:xfrm>
          <a:prstGeom prst="roundRect">
            <a:avLst>
              <a:gd name="adj" fmla="val 4651"/>
            </a:avLst>
          </a:prstGeom>
          <a:solidFill>
            <a:srgbClr val="1E2761"/>
          </a:solidFill>
          <a:ln/>
        </p:spPr>
      </p:sp>
      <p:sp>
        <p:nvSpPr>
          <p:cNvPr id="15" name="Text 13"/>
          <p:cNvSpPr txBox="1"/>
          <p:nvPr/>
        </p:nvSpPr>
        <p:spPr>
          <a:xfrm>
            <a:off x="8321040" y="3429000"/>
            <a:ext cx="2834640" cy="320040"/>
          </a:xfrm>
          <a:prstGeom prst="rect">
            <a:avLst/>
          </a:prstGeom>
          <a:noFill/>
          <a:ln/>
        </p:spPr>
        <p:txBody>
          <a:bodyPr wrap="square" lIns="0" tIns="0" rIns="0" bIns="0" rtlCol="0" anchor="ctr"/>
          <a:lstStyle/>
          <a:p>
            <a:pPr indent="0" marL="0">
              <a:buNone/>
            </a:pPr>
            <a:r>
              <a:rPr lang="en-US" sz="1250" b="1" spc="100" kern="0" dirty="0">
                <a:solidFill>
                  <a:srgbClr val="CADCFC"/>
                </a:solidFill>
                <a:latin typeface="Calibri" pitchFamily="34" charset="0"/>
                <a:ea typeface="Calibri" pitchFamily="34" charset="-122"/>
                <a:cs typeface="Calibri" pitchFamily="34" charset="-120"/>
              </a:rPr>
              <a:t>ENCODER-DECODER</a:t>
            </a:r>
            <a:endParaRPr lang="en-US" sz="1250" dirty="0"/>
          </a:p>
        </p:txBody>
      </p:sp>
      <p:sp>
        <p:nvSpPr>
          <p:cNvPr id="16" name="Text 14"/>
          <p:cNvSpPr txBox="1"/>
          <p:nvPr/>
        </p:nvSpPr>
        <p:spPr>
          <a:xfrm>
            <a:off x="8321040" y="3749040"/>
            <a:ext cx="2834640" cy="5029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T5 — o nosso</a:t>
            </a:r>
            <a:endParaRPr lang="en-US" sz="2200" dirty="0"/>
          </a:p>
        </p:txBody>
      </p:sp>
      <p:sp>
        <p:nvSpPr>
          <p:cNvPr id="17" name="Text 15"/>
          <p:cNvSpPr txBox="1"/>
          <p:nvPr/>
        </p:nvSpPr>
        <p:spPr>
          <a:xfrm>
            <a:off x="8321040" y="4343400"/>
            <a:ext cx="2834640" cy="777240"/>
          </a:xfrm>
          <a:prstGeom prst="rect">
            <a:avLst/>
          </a:prstGeom>
          <a:noFill/>
          <a:ln/>
        </p:spPr>
        <p:txBody>
          <a:bodyPr wrap="square" lIns="0" tIns="0" rIns="0" bIns="0" rtlCol="0" anchor="ctr"/>
          <a:lstStyle/>
          <a:p>
            <a:pPr indent="0" marL="0">
              <a:lnSpc>
                <a:spcPts val="1600"/>
              </a:lnSpc>
              <a:buNone/>
            </a:pPr>
            <a:r>
              <a:rPr lang="en-US" sz="1250" dirty="0">
                <a:solidFill>
                  <a:srgbClr val="CADCFC"/>
                </a:solidFill>
                <a:latin typeface="Calibri" pitchFamily="34" charset="0"/>
                <a:ea typeface="Calibri" pitchFamily="34" charset="-122"/>
                <a:cs typeface="Calibri" pitchFamily="34" charset="-120"/>
              </a:rPr>
              <a:t>lê com o encoder, escreve com o decoder</a:t>
            </a:r>
            <a:endParaRPr lang="en-US" sz="1250" dirty="0"/>
          </a:p>
        </p:txBody>
      </p:sp>
      <p:sp>
        <p:nvSpPr>
          <p:cNvPr id="18" name="Shape 16"/>
          <p:cNvSpPr/>
          <p:nvPr/>
        </p:nvSpPr>
        <p:spPr>
          <a:xfrm>
            <a:off x="548640" y="5440680"/>
            <a:ext cx="11094415" cy="685800"/>
          </a:xfrm>
          <a:prstGeom prst="roundRect">
            <a:avLst>
              <a:gd name="adj" fmla="val 13333"/>
            </a:avLst>
          </a:prstGeom>
          <a:solidFill>
            <a:srgbClr val="F0F4FC"/>
          </a:solidFill>
          <a:ln/>
        </p:spPr>
      </p:sp>
      <p:sp>
        <p:nvSpPr>
          <p:cNvPr id="19" name="Text 17"/>
          <p:cNvSpPr txBox="1"/>
          <p:nvPr/>
        </p:nvSpPr>
        <p:spPr>
          <a:xfrm>
            <a:off x="868680" y="5440680"/>
            <a:ext cx="10454335" cy="6858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Geração de perguntas precisa ler E escrever — por isso T5 (encoder-decoder), não BERT nem GPT</a:t>
            </a:r>
            <a:endParaRPr lang="en-US" sz="1400" dirty="0"/>
          </a:p>
        </p:txBody>
      </p:sp>
      <p:sp>
        <p:nvSpPr>
          <p:cNvPr id="21" name="Text 18"/>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ARQUITETURA DO MODELO</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T5-small: encoder–decoder</a:t>
            </a:r>
            <a:endParaRPr lang="en-US" sz="3200" dirty="0"/>
          </a:p>
        </p:txBody>
      </p:sp>
      <p:sp>
        <p:nvSpPr>
          <p:cNvPr id="4" name="Shape 2"/>
          <p:cNvSpPr/>
          <p:nvPr/>
        </p:nvSpPr>
        <p:spPr>
          <a:xfrm>
            <a:off x="548640" y="3611880"/>
            <a:ext cx="914400" cy="640080"/>
          </a:xfrm>
          <a:prstGeom prst="roundRect">
            <a:avLst>
              <a:gd name="adj" fmla="val 11429"/>
            </a:avLst>
          </a:prstGeom>
          <a:solidFill>
            <a:srgbClr val="F0F4FC"/>
          </a:solidFill>
          <a:ln/>
        </p:spPr>
      </p:sp>
      <p:sp>
        <p:nvSpPr>
          <p:cNvPr id="5" name="Text 3"/>
          <p:cNvSpPr txBox="1"/>
          <p:nvPr/>
        </p:nvSpPr>
        <p:spPr>
          <a:xfrm>
            <a:off x="548640" y="3611880"/>
            <a:ext cx="914400" cy="640080"/>
          </a:xfrm>
          <a:prstGeom prst="rect">
            <a:avLst/>
          </a:prstGeom>
          <a:noFill/>
          <a:ln/>
        </p:spPr>
        <p:txBody>
          <a:bodyPr wrap="square" lIns="0" tIns="0" rIns="0" bIns="0" rtlCol="0" anchor="ctr"/>
          <a:lstStyle/>
          <a:p>
            <a:pPr algn="ctr" indent="0" marL="0">
              <a:buNone/>
            </a:pPr>
            <a:r>
              <a:rPr lang="en-US" sz="1000" dirty="0">
                <a:solidFill>
                  <a:srgbClr val="1E2761"/>
                </a:solidFill>
                <a:latin typeface="Calibri" pitchFamily="34" charset="0"/>
                <a:ea typeface="Calibri" pitchFamily="34" charset="-122"/>
                <a:cs typeface="Calibri" pitchFamily="34" charset="-120"/>
              </a:rPr>
              <a:t>Texto</a:t>
            </a:r>
            <a:endParaRPr lang="en-US" sz="1000" dirty="0"/>
          </a:p>
          <a:p>
            <a:pPr algn="ctr" indent="0" marL="0">
              <a:buNone/>
            </a:pPr>
            <a:r>
              <a:rPr lang="en-US" sz="1000" dirty="0">
                <a:solidFill>
                  <a:srgbClr val="1E2761"/>
                </a:solidFill>
                <a:latin typeface="Calibri" pitchFamily="34" charset="0"/>
                <a:ea typeface="Calibri" pitchFamily="34" charset="-122"/>
                <a:cs typeface="Calibri" pitchFamily="34" charset="-120"/>
              </a:rPr>
              <a:t>de entrada</a:t>
            </a:r>
            <a:endParaRPr lang="en-US" sz="1000" dirty="0"/>
          </a:p>
        </p:txBody>
      </p:sp>
      <p:sp>
        <p:nvSpPr>
          <p:cNvPr id="6" name="Shape 4"/>
          <p:cNvSpPr/>
          <p:nvPr/>
        </p:nvSpPr>
        <p:spPr>
          <a:xfrm>
            <a:off x="1737360" y="2286000"/>
            <a:ext cx="3291840" cy="3291840"/>
          </a:xfrm>
          <a:prstGeom prst="roundRect">
            <a:avLst>
              <a:gd name="adj" fmla="val 3333"/>
            </a:avLst>
          </a:prstGeom>
          <a:solidFill>
            <a:srgbClr val="1E2761"/>
          </a:solidFill>
          <a:ln/>
        </p:spPr>
      </p:sp>
      <p:sp>
        <p:nvSpPr>
          <p:cNvPr id="7" name="Text 5"/>
          <p:cNvSpPr txBox="1"/>
          <p:nvPr/>
        </p:nvSpPr>
        <p:spPr>
          <a:xfrm>
            <a:off x="1737360" y="2450592"/>
            <a:ext cx="32918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Encoder</a:t>
            </a:r>
            <a:endParaRPr lang="en-US" sz="1500" dirty="0"/>
          </a:p>
        </p:txBody>
      </p:sp>
      <p:sp>
        <p:nvSpPr>
          <p:cNvPr id="8" name="Shape 6"/>
          <p:cNvSpPr/>
          <p:nvPr/>
        </p:nvSpPr>
        <p:spPr>
          <a:xfrm>
            <a:off x="2011680" y="3063240"/>
            <a:ext cx="2743200" cy="585216"/>
          </a:xfrm>
          <a:prstGeom prst="roundRect">
            <a:avLst>
              <a:gd name="adj" fmla="val 9375"/>
            </a:avLst>
          </a:prstGeom>
          <a:solidFill>
            <a:srgbClr val="FFFFFF">
              <a:alpha val="88000"/>
            </a:srgbClr>
          </a:solidFill>
          <a:ln w="12700">
            <a:solidFill>
              <a:srgbClr val="CADCFC"/>
            </a:solidFill>
            <a:prstDash val="solid"/>
          </a:ln>
        </p:spPr>
      </p:sp>
      <p:sp>
        <p:nvSpPr>
          <p:cNvPr id="9" name="Text 7"/>
          <p:cNvSpPr txBox="1"/>
          <p:nvPr/>
        </p:nvSpPr>
        <p:spPr>
          <a:xfrm>
            <a:off x="2148840" y="3108960"/>
            <a:ext cx="2468880" cy="23774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Self-Attention</a:t>
            </a:r>
            <a:endParaRPr lang="en-US" sz="1150" dirty="0"/>
          </a:p>
        </p:txBody>
      </p:sp>
      <p:sp>
        <p:nvSpPr>
          <p:cNvPr id="10" name="Text 8"/>
          <p:cNvSpPr txBox="1"/>
          <p:nvPr/>
        </p:nvSpPr>
        <p:spPr>
          <a:xfrm>
            <a:off x="2148840" y="3337560"/>
            <a:ext cx="2468880" cy="292608"/>
          </a:xfrm>
          <a:prstGeom prst="rect">
            <a:avLst/>
          </a:prstGeom>
          <a:noFill/>
          <a:ln/>
        </p:spPr>
        <p:txBody>
          <a:bodyPr wrap="square" lIns="0" tIns="0" rIns="0" bIns="0" rtlCol="0" anchor="ctr"/>
          <a:lstStyle/>
          <a:p>
            <a:pPr indent="0" marL="0">
              <a:lnSpc>
                <a:spcPts val="1000"/>
              </a:lnSpc>
              <a:buNone/>
            </a:pPr>
            <a:r>
              <a:rPr lang="en-US" sz="850" i="1" dirty="0">
                <a:solidFill>
                  <a:srgbClr val="5C6B8A"/>
                </a:solidFill>
                <a:latin typeface="Calibri" pitchFamily="34" charset="0"/>
                <a:ea typeface="Calibri" pitchFamily="34" charset="-122"/>
                <a:cs typeface="Calibri" pitchFamily="34" charset="-120"/>
              </a:rPr>
              <a:t>camada neural que aprende o quanto “olhar” cada palavra do texto</a:t>
            </a:r>
            <a:endParaRPr lang="en-US" sz="850" dirty="0"/>
          </a:p>
        </p:txBody>
      </p:sp>
      <p:sp>
        <p:nvSpPr>
          <p:cNvPr id="11" name="Shape 9"/>
          <p:cNvSpPr/>
          <p:nvPr/>
        </p:nvSpPr>
        <p:spPr>
          <a:xfrm>
            <a:off x="2011680" y="3758184"/>
            <a:ext cx="2743200" cy="585216"/>
          </a:xfrm>
          <a:prstGeom prst="roundRect">
            <a:avLst>
              <a:gd name="adj" fmla="val 9375"/>
            </a:avLst>
          </a:prstGeom>
          <a:solidFill>
            <a:srgbClr val="FFFFFF">
              <a:alpha val="88000"/>
            </a:srgbClr>
          </a:solidFill>
          <a:ln w="12700">
            <a:solidFill>
              <a:srgbClr val="CADCFC"/>
            </a:solidFill>
            <a:prstDash val="solid"/>
          </a:ln>
        </p:spPr>
      </p:sp>
      <p:sp>
        <p:nvSpPr>
          <p:cNvPr id="12" name="Text 10"/>
          <p:cNvSpPr txBox="1"/>
          <p:nvPr/>
        </p:nvSpPr>
        <p:spPr>
          <a:xfrm>
            <a:off x="2148840" y="3803904"/>
            <a:ext cx="2468880" cy="23774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Feed-Forward</a:t>
            </a:r>
            <a:endParaRPr lang="en-US" sz="1150" dirty="0"/>
          </a:p>
        </p:txBody>
      </p:sp>
      <p:sp>
        <p:nvSpPr>
          <p:cNvPr id="13" name="Text 11"/>
          <p:cNvSpPr txBox="1"/>
          <p:nvPr/>
        </p:nvSpPr>
        <p:spPr>
          <a:xfrm>
            <a:off x="2148840" y="4032504"/>
            <a:ext cx="2468880" cy="292608"/>
          </a:xfrm>
          <a:prstGeom prst="rect">
            <a:avLst/>
          </a:prstGeom>
          <a:noFill/>
          <a:ln/>
        </p:spPr>
        <p:txBody>
          <a:bodyPr wrap="square" lIns="0" tIns="0" rIns="0" bIns="0" rtlCol="0" anchor="ctr"/>
          <a:lstStyle/>
          <a:p>
            <a:pPr indent="0" marL="0">
              <a:lnSpc>
                <a:spcPts val="1000"/>
              </a:lnSpc>
              <a:buNone/>
            </a:pPr>
            <a:r>
              <a:rPr lang="en-US" sz="850" i="1" dirty="0">
                <a:solidFill>
                  <a:srgbClr val="5C6B8A"/>
                </a:solidFill>
                <a:latin typeface="Calibri" pitchFamily="34" charset="0"/>
                <a:ea typeface="Calibri" pitchFamily="34" charset="-122"/>
                <a:cs typeface="Calibri" pitchFamily="34" charset="-120"/>
              </a:rPr>
              <a:t>rede neural densa (2 camadas): processa cada posição sozinha, sem olhar as outras</a:t>
            </a:r>
            <a:endParaRPr lang="en-US" sz="850" dirty="0"/>
          </a:p>
        </p:txBody>
      </p:sp>
      <p:sp>
        <p:nvSpPr>
          <p:cNvPr id="14" name="Text 12"/>
          <p:cNvSpPr txBox="1"/>
          <p:nvPr/>
        </p:nvSpPr>
        <p:spPr>
          <a:xfrm>
            <a:off x="1920240" y="4526280"/>
            <a:ext cx="2926080" cy="960120"/>
          </a:xfrm>
          <a:prstGeom prst="rect">
            <a:avLst/>
          </a:prstGeom>
          <a:noFill/>
          <a:ln/>
        </p:spPr>
        <p:txBody>
          <a:bodyPr wrap="square" lIns="0" tIns="0" rIns="0" bIns="0" rtlCol="0" anchor="t"/>
          <a:lstStyle/>
          <a:p>
            <a:pPr algn="ctr" indent="0" marL="0">
              <a:buNone/>
            </a:pPr>
            <a:r>
              <a:rPr lang="en-US" sz="1050" i="1" dirty="0">
                <a:solidFill>
                  <a:srgbClr val="CADCFC"/>
                </a:solidFill>
                <a:latin typeface="Calibri" pitchFamily="34" charset="0"/>
                <a:ea typeface="Calibri" pitchFamily="34" charset="-122"/>
                <a:cs typeface="Calibri" pitchFamily="34" charset="-120"/>
              </a:rPr>
              <a:t>Lê o texto e entende o contexto de cada palavra</a:t>
            </a:r>
            <a:endParaRPr lang="en-US" sz="1050" dirty="0"/>
          </a:p>
        </p:txBody>
      </p:sp>
      <p:sp>
        <p:nvSpPr>
          <p:cNvPr id="15" name="Text 13"/>
          <p:cNvSpPr txBox="1"/>
          <p:nvPr/>
        </p:nvSpPr>
        <p:spPr>
          <a:xfrm>
            <a:off x="4343400" y="2450592"/>
            <a:ext cx="502920" cy="320040"/>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 6</a:t>
            </a:r>
            <a:endParaRPr lang="en-US" sz="1200" dirty="0"/>
          </a:p>
        </p:txBody>
      </p:sp>
      <p:sp>
        <p:nvSpPr>
          <p:cNvPr id="16" name="Shape 14"/>
          <p:cNvSpPr/>
          <p:nvPr/>
        </p:nvSpPr>
        <p:spPr>
          <a:xfrm>
            <a:off x="5852160" y="2286000"/>
            <a:ext cx="3291840" cy="3291840"/>
          </a:xfrm>
          <a:prstGeom prst="roundRect">
            <a:avLst>
              <a:gd name="adj" fmla="val 3333"/>
            </a:avLst>
          </a:prstGeom>
          <a:solidFill>
            <a:srgbClr val="3A4A8F"/>
          </a:solidFill>
          <a:ln/>
        </p:spPr>
      </p:sp>
      <p:sp>
        <p:nvSpPr>
          <p:cNvPr id="17" name="Text 15"/>
          <p:cNvSpPr txBox="1"/>
          <p:nvPr/>
        </p:nvSpPr>
        <p:spPr>
          <a:xfrm>
            <a:off x="5852160" y="2450592"/>
            <a:ext cx="32918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Decoder</a:t>
            </a:r>
            <a:endParaRPr lang="en-US" sz="1500" dirty="0"/>
          </a:p>
        </p:txBody>
      </p:sp>
      <p:sp>
        <p:nvSpPr>
          <p:cNvPr id="18" name="Shape 16"/>
          <p:cNvSpPr/>
          <p:nvPr/>
        </p:nvSpPr>
        <p:spPr>
          <a:xfrm>
            <a:off x="6126480" y="3063240"/>
            <a:ext cx="2743200" cy="585216"/>
          </a:xfrm>
          <a:prstGeom prst="roundRect">
            <a:avLst>
              <a:gd name="adj" fmla="val 9375"/>
            </a:avLst>
          </a:prstGeom>
          <a:solidFill>
            <a:srgbClr val="FFFFFF">
              <a:alpha val="88000"/>
            </a:srgbClr>
          </a:solidFill>
          <a:ln w="12700">
            <a:solidFill>
              <a:srgbClr val="CADCFC"/>
            </a:solidFill>
            <a:prstDash val="solid"/>
          </a:ln>
        </p:spPr>
      </p:sp>
      <p:sp>
        <p:nvSpPr>
          <p:cNvPr id="19" name="Text 17"/>
          <p:cNvSpPr txBox="1"/>
          <p:nvPr/>
        </p:nvSpPr>
        <p:spPr>
          <a:xfrm>
            <a:off x="6263640" y="3108960"/>
            <a:ext cx="2468880" cy="23774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Self-Attention</a:t>
            </a:r>
            <a:endParaRPr lang="en-US" sz="1150" dirty="0"/>
          </a:p>
        </p:txBody>
      </p:sp>
      <p:sp>
        <p:nvSpPr>
          <p:cNvPr id="20" name="Text 18"/>
          <p:cNvSpPr txBox="1"/>
          <p:nvPr/>
        </p:nvSpPr>
        <p:spPr>
          <a:xfrm>
            <a:off x="6263640" y="3337560"/>
            <a:ext cx="2468880" cy="292608"/>
          </a:xfrm>
          <a:prstGeom prst="rect">
            <a:avLst/>
          </a:prstGeom>
          <a:noFill/>
          <a:ln/>
        </p:spPr>
        <p:txBody>
          <a:bodyPr wrap="square" lIns="0" tIns="0" rIns="0" bIns="0" rtlCol="0" anchor="ctr"/>
          <a:lstStyle/>
          <a:p>
            <a:pPr indent="0" marL="0">
              <a:lnSpc>
                <a:spcPts val="1000"/>
              </a:lnSpc>
              <a:buNone/>
            </a:pPr>
            <a:r>
              <a:rPr lang="en-US" sz="850" i="1" dirty="0">
                <a:solidFill>
                  <a:srgbClr val="5C6B8A"/>
                </a:solidFill>
                <a:latin typeface="Calibri" pitchFamily="34" charset="0"/>
                <a:ea typeface="Calibri" pitchFamily="34" charset="-122"/>
                <a:cs typeface="Calibri" pitchFamily="34" charset="-120"/>
              </a:rPr>
              <a:t>camada neural que aprende o quanto “olhar” as palavras já geradas</a:t>
            </a:r>
            <a:endParaRPr lang="en-US" sz="850" dirty="0"/>
          </a:p>
        </p:txBody>
      </p:sp>
      <p:sp>
        <p:nvSpPr>
          <p:cNvPr id="21" name="Shape 19"/>
          <p:cNvSpPr/>
          <p:nvPr/>
        </p:nvSpPr>
        <p:spPr>
          <a:xfrm>
            <a:off x="6126480" y="3758184"/>
            <a:ext cx="2743200" cy="585216"/>
          </a:xfrm>
          <a:prstGeom prst="roundRect">
            <a:avLst>
              <a:gd name="adj" fmla="val 9375"/>
            </a:avLst>
          </a:prstGeom>
          <a:solidFill>
            <a:srgbClr val="FFFFFF">
              <a:alpha val="88000"/>
            </a:srgbClr>
          </a:solidFill>
          <a:ln w="12700">
            <a:solidFill>
              <a:srgbClr val="CADCFC"/>
            </a:solidFill>
            <a:prstDash val="solid"/>
          </a:ln>
        </p:spPr>
      </p:sp>
      <p:sp>
        <p:nvSpPr>
          <p:cNvPr id="22" name="Text 20"/>
          <p:cNvSpPr txBox="1"/>
          <p:nvPr/>
        </p:nvSpPr>
        <p:spPr>
          <a:xfrm>
            <a:off x="6263640" y="3803904"/>
            <a:ext cx="2468880" cy="23774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Cross-Attention</a:t>
            </a:r>
            <a:endParaRPr lang="en-US" sz="1150" dirty="0"/>
          </a:p>
        </p:txBody>
      </p:sp>
      <p:sp>
        <p:nvSpPr>
          <p:cNvPr id="23" name="Text 21"/>
          <p:cNvSpPr txBox="1"/>
          <p:nvPr/>
        </p:nvSpPr>
        <p:spPr>
          <a:xfrm>
            <a:off x="6263640" y="4032504"/>
            <a:ext cx="2468880" cy="292608"/>
          </a:xfrm>
          <a:prstGeom prst="rect">
            <a:avLst/>
          </a:prstGeom>
          <a:noFill/>
          <a:ln/>
        </p:spPr>
        <p:txBody>
          <a:bodyPr wrap="square" lIns="0" tIns="0" rIns="0" bIns="0" rtlCol="0" anchor="ctr"/>
          <a:lstStyle/>
          <a:p>
            <a:pPr indent="0" marL="0">
              <a:lnSpc>
                <a:spcPts val="1000"/>
              </a:lnSpc>
              <a:buNone/>
            </a:pPr>
            <a:r>
              <a:rPr lang="en-US" sz="850" i="1" dirty="0">
                <a:solidFill>
                  <a:srgbClr val="5C6B8A"/>
                </a:solidFill>
                <a:latin typeface="Calibri" pitchFamily="34" charset="0"/>
                <a:ea typeface="Calibri" pitchFamily="34" charset="-122"/>
                <a:cs typeface="Calibri" pitchFamily="34" charset="-120"/>
              </a:rPr>
              <a:t>camada neural que aprende a consultar o que o encoder leu</a:t>
            </a:r>
            <a:endParaRPr lang="en-US" sz="850" dirty="0"/>
          </a:p>
        </p:txBody>
      </p:sp>
      <p:sp>
        <p:nvSpPr>
          <p:cNvPr id="24" name="Shape 22"/>
          <p:cNvSpPr/>
          <p:nvPr/>
        </p:nvSpPr>
        <p:spPr>
          <a:xfrm>
            <a:off x="6126480" y="4453128"/>
            <a:ext cx="2743200" cy="585216"/>
          </a:xfrm>
          <a:prstGeom prst="roundRect">
            <a:avLst>
              <a:gd name="adj" fmla="val 9375"/>
            </a:avLst>
          </a:prstGeom>
          <a:solidFill>
            <a:srgbClr val="FFFFFF">
              <a:alpha val="88000"/>
            </a:srgbClr>
          </a:solidFill>
          <a:ln w="12700">
            <a:solidFill>
              <a:srgbClr val="CADCFC"/>
            </a:solidFill>
            <a:prstDash val="solid"/>
          </a:ln>
        </p:spPr>
      </p:sp>
      <p:sp>
        <p:nvSpPr>
          <p:cNvPr id="25" name="Text 23"/>
          <p:cNvSpPr txBox="1"/>
          <p:nvPr/>
        </p:nvSpPr>
        <p:spPr>
          <a:xfrm>
            <a:off x="6263640" y="4498848"/>
            <a:ext cx="2468880" cy="23774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Feed-Forward</a:t>
            </a:r>
            <a:endParaRPr lang="en-US" sz="1150" dirty="0"/>
          </a:p>
        </p:txBody>
      </p:sp>
      <p:sp>
        <p:nvSpPr>
          <p:cNvPr id="26" name="Text 24"/>
          <p:cNvSpPr txBox="1"/>
          <p:nvPr/>
        </p:nvSpPr>
        <p:spPr>
          <a:xfrm>
            <a:off x="6263640" y="4727448"/>
            <a:ext cx="2468880" cy="292608"/>
          </a:xfrm>
          <a:prstGeom prst="rect">
            <a:avLst/>
          </a:prstGeom>
          <a:noFill/>
          <a:ln/>
        </p:spPr>
        <p:txBody>
          <a:bodyPr wrap="square" lIns="0" tIns="0" rIns="0" bIns="0" rtlCol="0" anchor="ctr"/>
          <a:lstStyle/>
          <a:p>
            <a:pPr indent="0" marL="0">
              <a:lnSpc>
                <a:spcPts val="1000"/>
              </a:lnSpc>
              <a:buNone/>
            </a:pPr>
            <a:r>
              <a:rPr lang="en-US" sz="850" i="1" dirty="0">
                <a:solidFill>
                  <a:srgbClr val="5C6B8A"/>
                </a:solidFill>
                <a:latin typeface="Calibri" pitchFamily="34" charset="0"/>
                <a:ea typeface="Calibri" pitchFamily="34" charset="-122"/>
                <a:cs typeface="Calibri" pitchFamily="34" charset="-120"/>
              </a:rPr>
              <a:t>rede neural densa (2 camadas): processa cada posição sozinha, sem olhar as outras</a:t>
            </a:r>
            <a:endParaRPr lang="en-US" sz="850" dirty="0"/>
          </a:p>
        </p:txBody>
      </p:sp>
      <p:sp>
        <p:nvSpPr>
          <p:cNvPr id="27" name="Text 25"/>
          <p:cNvSpPr txBox="1"/>
          <p:nvPr/>
        </p:nvSpPr>
        <p:spPr>
          <a:xfrm>
            <a:off x="6035040" y="5221224"/>
            <a:ext cx="2926080" cy="265176"/>
          </a:xfrm>
          <a:prstGeom prst="rect">
            <a:avLst/>
          </a:prstGeom>
          <a:noFill/>
          <a:ln/>
        </p:spPr>
        <p:txBody>
          <a:bodyPr wrap="square" lIns="0" tIns="0" rIns="0" bIns="0" rtlCol="0" anchor="t"/>
          <a:lstStyle/>
          <a:p>
            <a:pPr algn="ctr" indent="0" marL="0">
              <a:buNone/>
            </a:pPr>
            <a:r>
              <a:rPr lang="en-US" sz="1050" i="1" dirty="0">
                <a:solidFill>
                  <a:srgbClr val="CADCFC"/>
                </a:solidFill>
                <a:latin typeface="Calibri" pitchFamily="34" charset="0"/>
                <a:ea typeface="Calibri" pitchFamily="34" charset="-122"/>
                <a:cs typeface="Calibri" pitchFamily="34" charset="-120"/>
              </a:rPr>
              <a:t>Escreve a pergunta, um token de cada vez</a:t>
            </a:r>
            <a:endParaRPr lang="en-US" sz="1050" dirty="0"/>
          </a:p>
        </p:txBody>
      </p:sp>
      <p:sp>
        <p:nvSpPr>
          <p:cNvPr id="28" name="Text 26"/>
          <p:cNvSpPr txBox="1"/>
          <p:nvPr/>
        </p:nvSpPr>
        <p:spPr>
          <a:xfrm>
            <a:off x="8458200" y="2450592"/>
            <a:ext cx="502920" cy="320040"/>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 6</a:t>
            </a:r>
            <a:endParaRPr lang="en-US" sz="1200" dirty="0"/>
          </a:p>
        </p:txBody>
      </p:sp>
      <p:sp>
        <p:nvSpPr>
          <p:cNvPr id="29" name="Shape 27"/>
          <p:cNvSpPr/>
          <p:nvPr/>
        </p:nvSpPr>
        <p:spPr>
          <a:xfrm>
            <a:off x="1554480" y="3794760"/>
            <a:ext cx="274320" cy="274320"/>
          </a:xfrm>
          <a:prstGeom prst="rightArrow">
            <a:avLst/>
          </a:prstGeom>
          <a:solidFill>
            <a:srgbClr val="CADCFC"/>
          </a:solidFill>
          <a:ln/>
        </p:spPr>
      </p:sp>
      <p:sp>
        <p:nvSpPr>
          <p:cNvPr id="30" name="Shape 28"/>
          <p:cNvSpPr/>
          <p:nvPr/>
        </p:nvSpPr>
        <p:spPr>
          <a:xfrm>
            <a:off x="5074920" y="3794760"/>
            <a:ext cx="274320" cy="274320"/>
          </a:xfrm>
          <a:prstGeom prst="rightArrow">
            <a:avLst/>
          </a:prstGeom>
          <a:solidFill>
            <a:srgbClr val="CADCFC"/>
          </a:solidFill>
          <a:ln/>
        </p:spPr>
      </p:sp>
      <p:sp>
        <p:nvSpPr>
          <p:cNvPr id="31" name="Shape 29"/>
          <p:cNvSpPr/>
          <p:nvPr/>
        </p:nvSpPr>
        <p:spPr>
          <a:xfrm>
            <a:off x="9235440" y="3794760"/>
            <a:ext cx="274320" cy="274320"/>
          </a:xfrm>
          <a:prstGeom prst="rightArrow">
            <a:avLst/>
          </a:prstGeom>
          <a:solidFill>
            <a:srgbClr val="CADCFC"/>
          </a:solidFill>
          <a:ln/>
        </p:spPr>
      </p:sp>
      <p:sp>
        <p:nvSpPr>
          <p:cNvPr id="32" name="Shape 30"/>
          <p:cNvSpPr/>
          <p:nvPr/>
        </p:nvSpPr>
        <p:spPr>
          <a:xfrm>
            <a:off x="9601200" y="3611880"/>
            <a:ext cx="1051560" cy="640080"/>
          </a:xfrm>
          <a:prstGeom prst="roundRect">
            <a:avLst>
              <a:gd name="adj" fmla="val 11429"/>
            </a:avLst>
          </a:prstGeom>
          <a:solidFill>
            <a:srgbClr val="F0F4FC"/>
          </a:solidFill>
          <a:ln/>
        </p:spPr>
      </p:sp>
      <p:sp>
        <p:nvSpPr>
          <p:cNvPr id="33" name="Text 31"/>
          <p:cNvSpPr txBox="1"/>
          <p:nvPr/>
        </p:nvSpPr>
        <p:spPr>
          <a:xfrm>
            <a:off x="9601200" y="3611880"/>
            <a:ext cx="1051560" cy="640080"/>
          </a:xfrm>
          <a:prstGeom prst="rect">
            <a:avLst/>
          </a:prstGeom>
          <a:noFill/>
          <a:ln/>
        </p:spPr>
        <p:txBody>
          <a:bodyPr wrap="square" lIns="0" tIns="0" rIns="0" bIns="0" rtlCol="0" anchor="ctr"/>
          <a:lstStyle/>
          <a:p>
            <a:pPr algn="ctr" indent="0" marL="0">
              <a:buNone/>
            </a:pPr>
            <a:r>
              <a:rPr lang="en-US" sz="1000" dirty="0">
                <a:solidFill>
                  <a:srgbClr val="1E2761"/>
                </a:solidFill>
                <a:latin typeface="Calibri" pitchFamily="34" charset="0"/>
                <a:ea typeface="Calibri" pitchFamily="34" charset="-122"/>
                <a:cs typeface="Calibri" pitchFamily="34" charset="-120"/>
              </a:rPr>
              <a:t>Pergunta</a:t>
            </a:r>
            <a:endParaRPr lang="en-US" sz="1000" dirty="0"/>
          </a:p>
          <a:p>
            <a:pPr algn="ctr" indent="0" marL="0">
              <a:buNone/>
            </a:pPr>
            <a:r>
              <a:rPr lang="en-US" sz="1000" dirty="0">
                <a:solidFill>
                  <a:srgbClr val="1E2761"/>
                </a:solidFill>
                <a:latin typeface="Calibri" pitchFamily="34" charset="0"/>
                <a:ea typeface="Calibri" pitchFamily="34" charset="-122"/>
                <a:cs typeface="Calibri" pitchFamily="34" charset="-120"/>
              </a:rPr>
              <a:t>gerada</a:t>
            </a:r>
            <a:endParaRPr lang="en-US" sz="1000" dirty="0"/>
          </a:p>
        </p:txBody>
      </p:sp>
      <p:sp>
        <p:nvSpPr>
          <p:cNvPr id="34" name="Text 32"/>
          <p:cNvSpPr txBox="1"/>
          <p:nvPr/>
        </p:nvSpPr>
        <p:spPr>
          <a:xfrm>
            <a:off x="548640" y="5577840"/>
            <a:ext cx="11094415" cy="548640"/>
          </a:xfrm>
          <a:prstGeom prst="rect">
            <a:avLst/>
          </a:prstGeom>
          <a:noFill/>
          <a:ln/>
        </p:spPr>
        <p:txBody>
          <a:bodyPr wrap="square" lIns="0" tIns="0" rIns="0" bIns="0" rtlCol="0" anchor="ctr"/>
          <a:lstStyle/>
          <a:p>
            <a:pPr algn="ctr" indent="0" marL="0">
              <a:buNone/>
            </a:pPr>
            <a:r>
              <a:rPr lang="en-US" sz="1300" i="1" dirty="0">
                <a:solidFill>
                  <a:srgbClr val="5C6B8A"/>
                </a:solidFill>
                <a:latin typeface="Calibri" pitchFamily="34" charset="0"/>
                <a:ea typeface="Calibri" pitchFamily="34" charset="-122"/>
                <a:cs typeface="Calibri" pitchFamily="34" charset="-120"/>
              </a:rPr>
              <a:t>~60M parâmetros · embeddings compartilhados — mesmo “dicionário” interno de palavras para ler e para escrever</a:t>
            </a:r>
            <a:endParaRPr lang="en-US" sz="1300" dirty="0"/>
          </a:p>
        </p:txBody>
      </p:sp>
      <p:sp>
        <p:nvSpPr>
          <p:cNvPr id="36" name="Text 33"/>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ARQUITETURA DO MODELO</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Execução passo a passo — exemplo real</a:t>
            </a:r>
            <a:endParaRPr lang="en-US" sz="3200" dirty="0"/>
          </a:p>
        </p:txBody>
      </p:sp>
      <p:sp>
        <p:nvSpPr>
          <p:cNvPr id="4" name="Text 2"/>
          <p:cNvSpPr txBox="1"/>
          <p:nvPr/>
        </p:nvSpPr>
        <p:spPr>
          <a:xfrm>
            <a:off x="548640" y="2148840"/>
            <a:ext cx="11094415" cy="365760"/>
          </a:xfrm>
          <a:prstGeom prst="rect">
            <a:avLst/>
          </a:prstGeom>
          <a:noFill/>
          <a:ln/>
        </p:spPr>
        <p:txBody>
          <a:bodyPr wrap="square" lIns="0" tIns="0" rIns="0" bIns="0" rtlCol="0" anchor="ctr"/>
          <a:lstStyle/>
          <a:p>
            <a:pPr indent="0" marL="0">
              <a:buNone/>
            </a:pPr>
            <a:r>
              <a:rPr lang="en-US" sz="1150" i="1" dirty="0">
                <a:solidFill>
                  <a:srgbClr val="5C6B8A"/>
                </a:solidFill>
                <a:latin typeface="Calibri" pitchFamily="34" charset="0"/>
                <a:ea typeface="Calibri" pitchFamily="34" charset="-122"/>
                <a:cs typeface="Calibri" pitchFamily="34" charset="-120"/>
              </a:rPr>
              <a:t>"generate question: Photosynthesis is a process used by plants to convert light energy into chemical energy..."</a:t>
            </a:r>
            <a:endParaRPr lang="en-US" sz="1150" dirty="0"/>
          </a:p>
        </p:txBody>
      </p:sp>
      <p:sp>
        <p:nvSpPr>
          <p:cNvPr id="5" name="Shape 3"/>
          <p:cNvSpPr/>
          <p:nvPr/>
        </p:nvSpPr>
        <p:spPr>
          <a:xfrm>
            <a:off x="548640" y="2651760"/>
            <a:ext cx="3429000" cy="1051560"/>
          </a:xfrm>
          <a:prstGeom prst="roundRect">
            <a:avLst>
              <a:gd name="adj" fmla="val 8696"/>
            </a:avLst>
          </a:prstGeom>
          <a:solidFill>
            <a:srgbClr val="F0F4FC"/>
          </a:solidFill>
          <a:ln/>
        </p:spPr>
      </p:sp>
      <p:sp>
        <p:nvSpPr>
          <p:cNvPr id="6" name="Shape 4"/>
          <p:cNvSpPr/>
          <p:nvPr/>
        </p:nvSpPr>
        <p:spPr>
          <a:xfrm>
            <a:off x="777240" y="2862072"/>
            <a:ext cx="457200" cy="457200"/>
          </a:xfrm>
          <a:prstGeom prst="ellipse">
            <a:avLst/>
          </a:prstGeom>
          <a:solidFill>
            <a:srgbClr val="1E2761"/>
          </a:solidFill>
          <a:ln/>
        </p:spPr>
      </p:sp>
      <p:sp>
        <p:nvSpPr>
          <p:cNvPr id="7" name="Text 5"/>
          <p:cNvSpPr txBox="1"/>
          <p:nvPr/>
        </p:nvSpPr>
        <p:spPr>
          <a:xfrm>
            <a:off x="777240" y="2862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417320" y="2788920"/>
            <a:ext cx="24231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Tokenização</a:t>
            </a:r>
            <a:endParaRPr lang="en-US" sz="1400" dirty="0"/>
          </a:p>
        </p:txBody>
      </p:sp>
      <p:sp>
        <p:nvSpPr>
          <p:cNvPr id="9" name="Text 7"/>
          <p:cNvSpPr txBox="1"/>
          <p:nvPr/>
        </p:nvSpPr>
        <p:spPr>
          <a:xfrm>
            <a:off x="1417320" y="3108960"/>
            <a:ext cx="2423160" cy="502920"/>
          </a:xfrm>
          <a:prstGeom prst="rect">
            <a:avLst/>
          </a:prstGeom>
          <a:noFill/>
          <a:ln/>
        </p:spPr>
        <p:txBody>
          <a:bodyPr wrap="square" lIns="0" tIns="0" rIns="0" bIns="0" rtlCol="0" anchor="ctr"/>
          <a:lstStyle/>
          <a:p>
            <a:pPr indent="0" marL="0">
              <a:buNone/>
            </a:pPr>
            <a:r>
              <a:rPr lang="en-US" sz="1050" dirty="0">
                <a:solidFill>
                  <a:srgbClr val="5C6B8A"/>
                </a:solidFill>
                <a:latin typeface="Calibri" pitchFamily="34" charset="0"/>
                <a:ea typeface="Calibri" pitchFamily="34" charset="-122"/>
                <a:cs typeface="Calibri" pitchFamily="34" charset="-120"/>
              </a:rPr>
              <a:t>56 tokens — pedaços de palavra, nem sempre a palavra inteira</a:t>
            </a:r>
            <a:endParaRPr lang="en-US" sz="1050" dirty="0"/>
          </a:p>
        </p:txBody>
      </p:sp>
      <p:sp>
        <p:nvSpPr>
          <p:cNvPr id="10" name="Shape 8"/>
          <p:cNvSpPr/>
          <p:nvPr/>
        </p:nvSpPr>
        <p:spPr>
          <a:xfrm>
            <a:off x="4297680" y="2651760"/>
            <a:ext cx="3429000" cy="1051560"/>
          </a:xfrm>
          <a:prstGeom prst="roundRect">
            <a:avLst>
              <a:gd name="adj" fmla="val 8696"/>
            </a:avLst>
          </a:prstGeom>
          <a:solidFill>
            <a:srgbClr val="F0F4FC"/>
          </a:solidFill>
          <a:ln/>
        </p:spPr>
      </p:sp>
      <p:sp>
        <p:nvSpPr>
          <p:cNvPr id="11" name="Shape 9"/>
          <p:cNvSpPr/>
          <p:nvPr/>
        </p:nvSpPr>
        <p:spPr>
          <a:xfrm>
            <a:off x="4526280" y="2862072"/>
            <a:ext cx="457200" cy="457200"/>
          </a:xfrm>
          <a:prstGeom prst="ellipse">
            <a:avLst/>
          </a:prstGeom>
          <a:solidFill>
            <a:srgbClr val="1E2761"/>
          </a:solidFill>
          <a:ln/>
        </p:spPr>
      </p:sp>
      <p:sp>
        <p:nvSpPr>
          <p:cNvPr id="12" name="Text 10"/>
          <p:cNvSpPr txBox="1"/>
          <p:nvPr/>
        </p:nvSpPr>
        <p:spPr>
          <a:xfrm>
            <a:off x="4526280" y="2862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5166360" y="2788920"/>
            <a:ext cx="24231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Encoder</a:t>
            </a:r>
            <a:endParaRPr lang="en-US" sz="1400" dirty="0"/>
          </a:p>
        </p:txBody>
      </p:sp>
      <p:sp>
        <p:nvSpPr>
          <p:cNvPr id="14" name="Text 12"/>
          <p:cNvSpPr txBox="1"/>
          <p:nvPr/>
        </p:nvSpPr>
        <p:spPr>
          <a:xfrm>
            <a:off x="5166360" y="3108960"/>
            <a:ext cx="2423160" cy="502920"/>
          </a:xfrm>
          <a:prstGeom prst="rect">
            <a:avLst/>
          </a:prstGeom>
          <a:noFill/>
          <a:ln/>
        </p:spPr>
        <p:txBody>
          <a:bodyPr wrap="square" lIns="0" tIns="0" rIns="0" bIns="0" rtlCol="0" anchor="ctr"/>
          <a:lstStyle/>
          <a:p>
            <a:pPr indent="0" marL="0">
              <a:buNone/>
            </a:pPr>
            <a:r>
              <a:rPr lang="en-US" sz="1050" dirty="0">
                <a:solidFill>
                  <a:srgbClr val="5C6B8A"/>
                </a:solidFill>
                <a:latin typeface="Calibri" pitchFamily="34" charset="0"/>
                <a:ea typeface="Calibri" pitchFamily="34" charset="-122"/>
                <a:cs typeface="Calibri" pitchFamily="34" charset="-120"/>
              </a:rPr>
              <a:t>saída (1, 56, 512) — 56 posições × 512 dim</a:t>
            </a:r>
            <a:endParaRPr lang="en-US" sz="1050" dirty="0"/>
          </a:p>
        </p:txBody>
      </p:sp>
      <p:sp>
        <p:nvSpPr>
          <p:cNvPr id="15" name="Shape 13"/>
          <p:cNvSpPr/>
          <p:nvPr/>
        </p:nvSpPr>
        <p:spPr>
          <a:xfrm>
            <a:off x="8046720" y="2651760"/>
            <a:ext cx="3429000" cy="1051560"/>
          </a:xfrm>
          <a:prstGeom prst="roundRect">
            <a:avLst>
              <a:gd name="adj" fmla="val 8696"/>
            </a:avLst>
          </a:prstGeom>
          <a:solidFill>
            <a:srgbClr val="F0F4FC"/>
          </a:solidFill>
          <a:ln/>
        </p:spPr>
      </p:sp>
      <p:sp>
        <p:nvSpPr>
          <p:cNvPr id="16" name="Shape 14"/>
          <p:cNvSpPr/>
          <p:nvPr/>
        </p:nvSpPr>
        <p:spPr>
          <a:xfrm>
            <a:off x="8275320" y="2862072"/>
            <a:ext cx="457200" cy="457200"/>
          </a:xfrm>
          <a:prstGeom prst="ellipse">
            <a:avLst/>
          </a:prstGeom>
          <a:solidFill>
            <a:srgbClr val="1E2761"/>
          </a:solidFill>
          <a:ln/>
        </p:spPr>
      </p:sp>
      <p:sp>
        <p:nvSpPr>
          <p:cNvPr id="17" name="Text 15"/>
          <p:cNvSpPr txBox="1"/>
          <p:nvPr/>
        </p:nvSpPr>
        <p:spPr>
          <a:xfrm>
            <a:off x="8275320" y="2862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8915400" y="2788920"/>
            <a:ext cx="24231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Decoder</a:t>
            </a:r>
            <a:endParaRPr lang="en-US" sz="1400" dirty="0"/>
          </a:p>
        </p:txBody>
      </p:sp>
      <p:sp>
        <p:nvSpPr>
          <p:cNvPr id="19" name="Text 17"/>
          <p:cNvSpPr txBox="1"/>
          <p:nvPr/>
        </p:nvSpPr>
        <p:spPr>
          <a:xfrm>
            <a:off x="8915400" y="3108960"/>
            <a:ext cx="2423160" cy="502920"/>
          </a:xfrm>
          <a:prstGeom prst="rect">
            <a:avLst/>
          </a:prstGeom>
          <a:noFill/>
          <a:ln/>
        </p:spPr>
        <p:txBody>
          <a:bodyPr wrap="square" lIns="0" tIns="0" rIns="0" bIns="0" rtlCol="0" anchor="ctr"/>
          <a:lstStyle/>
          <a:p>
            <a:pPr indent="0" marL="0">
              <a:buNone/>
            </a:pPr>
            <a:r>
              <a:rPr lang="en-US" sz="1050" dirty="0">
                <a:solidFill>
                  <a:srgbClr val="5C6B8A"/>
                </a:solidFill>
                <a:latin typeface="Calibri" pitchFamily="34" charset="0"/>
                <a:ea typeface="Calibri" pitchFamily="34" charset="-122"/>
                <a:cs typeface="Calibri" pitchFamily="34" charset="-120"/>
              </a:rPr>
              <a:t>gera 1 token por vez, autoregressivo</a:t>
            </a:r>
            <a:endParaRPr lang="en-US" sz="1050" dirty="0"/>
          </a:p>
        </p:txBody>
      </p:sp>
      <p:sp>
        <p:nvSpPr>
          <p:cNvPr id="20" name="Text 18"/>
          <p:cNvSpPr txBox="1"/>
          <p:nvPr/>
        </p:nvSpPr>
        <p:spPr>
          <a:xfrm>
            <a:off x="548640" y="3977640"/>
            <a:ext cx="11094415"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Geração token a token (greedy) — cada passo escolhe o token mais provável</a:t>
            </a:r>
            <a:endParaRPr lang="en-US" sz="1300" dirty="0"/>
          </a:p>
        </p:txBody>
      </p:sp>
      <p:sp>
        <p:nvSpPr>
          <p:cNvPr id="21" name="Shape 19"/>
          <p:cNvSpPr/>
          <p:nvPr/>
        </p:nvSpPr>
        <p:spPr>
          <a:xfrm>
            <a:off x="548640" y="4343400"/>
            <a:ext cx="1226782" cy="868680"/>
          </a:xfrm>
          <a:prstGeom prst="roundRect">
            <a:avLst>
              <a:gd name="adj" fmla="val 8421"/>
            </a:avLst>
          </a:prstGeom>
          <a:solidFill>
            <a:srgbClr val="F0F4FC"/>
          </a:solidFill>
          <a:ln/>
        </p:spPr>
      </p:sp>
      <p:sp>
        <p:nvSpPr>
          <p:cNvPr id="22" name="Text 20"/>
          <p:cNvSpPr txBox="1"/>
          <p:nvPr/>
        </p:nvSpPr>
        <p:spPr>
          <a:xfrm>
            <a:off x="548640" y="4434840"/>
            <a:ext cx="1226782" cy="41148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What</a:t>
            </a:r>
            <a:endParaRPr lang="en-US" sz="1300" dirty="0"/>
          </a:p>
        </p:txBody>
      </p:sp>
      <p:sp>
        <p:nvSpPr>
          <p:cNvPr id="23" name="Text 21"/>
          <p:cNvSpPr txBox="1"/>
          <p:nvPr/>
        </p:nvSpPr>
        <p:spPr>
          <a:xfrm>
            <a:off x="548640" y="4846320"/>
            <a:ext cx="1226782" cy="274320"/>
          </a:xfrm>
          <a:prstGeom prst="rect">
            <a:avLst/>
          </a:prstGeom>
          <a:noFill/>
          <a:ln/>
        </p:spPr>
        <p:txBody>
          <a:bodyPr wrap="square" lIns="0" tIns="0" rIns="0" bIns="0" rtlCol="0" anchor="ctr"/>
          <a:lstStyle/>
          <a:p>
            <a:pPr algn="ctr" indent="0" marL="0">
              <a:buNone/>
            </a:pPr>
            <a:r>
              <a:rPr lang="en-US" sz="900" dirty="0">
                <a:solidFill>
                  <a:srgbClr val="5C6B8A"/>
                </a:solidFill>
                <a:latin typeface="Calibri" pitchFamily="34" charset="0"/>
                <a:ea typeface="Calibri" pitchFamily="34" charset="-122"/>
                <a:cs typeface="Calibri" pitchFamily="34" charset="-120"/>
              </a:rPr>
              <a:t>p=.80</a:t>
            </a:r>
            <a:endParaRPr lang="en-US" sz="900" dirty="0"/>
          </a:p>
        </p:txBody>
      </p:sp>
      <p:sp>
        <p:nvSpPr>
          <p:cNvPr id="24" name="Shape 22"/>
          <p:cNvSpPr/>
          <p:nvPr/>
        </p:nvSpPr>
        <p:spPr>
          <a:xfrm>
            <a:off x="1793710" y="4690872"/>
            <a:ext cx="146304" cy="164592"/>
          </a:xfrm>
          <a:prstGeom prst="rightArrow">
            <a:avLst/>
          </a:prstGeom>
          <a:solidFill>
            <a:srgbClr val="CADCFC"/>
          </a:solidFill>
          <a:ln/>
        </p:spPr>
      </p:sp>
      <p:sp>
        <p:nvSpPr>
          <p:cNvPr id="25" name="Shape 23"/>
          <p:cNvSpPr/>
          <p:nvPr/>
        </p:nvSpPr>
        <p:spPr>
          <a:xfrm>
            <a:off x="1958302" y="4343400"/>
            <a:ext cx="1226782" cy="868680"/>
          </a:xfrm>
          <a:prstGeom prst="roundRect">
            <a:avLst>
              <a:gd name="adj" fmla="val 8421"/>
            </a:avLst>
          </a:prstGeom>
          <a:solidFill>
            <a:srgbClr val="F0F4FC"/>
          </a:solidFill>
          <a:ln/>
        </p:spPr>
      </p:sp>
      <p:sp>
        <p:nvSpPr>
          <p:cNvPr id="26" name="Text 24"/>
          <p:cNvSpPr txBox="1"/>
          <p:nvPr/>
        </p:nvSpPr>
        <p:spPr>
          <a:xfrm>
            <a:off x="1958302" y="4434840"/>
            <a:ext cx="1226782" cy="41148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is</a:t>
            </a:r>
            <a:endParaRPr lang="en-US" sz="1300" dirty="0"/>
          </a:p>
        </p:txBody>
      </p:sp>
      <p:sp>
        <p:nvSpPr>
          <p:cNvPr id="27" name="Text 25"/>
          <p:cNvSpPr txBox="1"/>
          <p:nvPr/>
        </p:nvSpPr>
        <p:spPr>
          <a:xfrm>
            <a:off x="1958302" y="4846320"/>
            <a:ext cx="1226782" cy="274320"/>
          </a:xfrm>
          <a:prstGeom prst="rect">
            <a:avLst/>
          </a:prstGeom>
          <a:noFill/>
          <a:ln/>
        </p:spPr>
        <p:txBody>
          <a:bodyPr wrap="square" lIns="0" tIns="0" rIns="0" bIns="0" rtlCol="0" anchor="ctr"/>
          <a:lstStyle/>
          <a:p>
            <a:pPr algn="ctr" indent="0" marL="0">
              <a:buNone/>
            </a:pPr>
            <a:r>
              <a:rPr lang="en-US" sz="900" dirty="0">
                <a:solidFill>
                  <a:srgbClr val="5C6B8A"/>
                </a:solidFill>
                <a:latin typeface="Calibri" pitchFamily="34" charset="0"/>
                <a:ea typeface="Calibri" pitchFamily="34" charset="-122"/>
                <a:cs typeface="Calibri" pitchFamily="34" charset="-120"/>
              </a:rPr>
              <a:t>p=.54</a:t>
            </a:r>
            <a:endParaRPr lang="en-US" sz="900" dirty="0"/>
          </a:p>
        </p:txBody>
      </p:sp>
      <p:sp>
        <p:nvSpPr>
          <p:cNvPr id="28" name="Shape 26"/>
          <p:cNvSpPr/>
          <p:nvPr/>
        </p:nvSpPr>
        <p:spPr>
          <a:xfrm>
            <a:off x="3203372" y="4690872"/>
            <a:ext cx="146304" cy="164592"/>
          </a:xfrm>
          <a:prstGeom prst="rightArrow">
            <a:avLst/>
          </a:prstGeom>
          <a:solidFill>
            <a:srgbClr val="CADCFC"/>
          </a:solidFill>
          <a:ln/>
        </p:spPr>
      </p:sp>
      <p:sp>
        <p:nvSpPr>
          <p:cNvPr id="29" name="Shape 27"/>
          <p:cNvSpPr/>
          <p:nvPr/>
        </p:nvSpPr>
        <p:spPr>
          <a:xfrm>
            <a:off x="3367964" y="4343400"/>
            <a:ext cx="1226782" cy="868680"/>
          </a:xfrm>
          <a:prstGeom prst="roundRect">
            <a:avLst>
              <a:gd name="adj" fmla="val 8421"/>
            </a:avLst>
          </a:prstGeom>
          <a:solidFill>
            <a:srgbClr val="F0F4FC"/>
          </a:solidFill>
          <a:ln/>
        </p:spPr>
      </p:sp>
      <p:sp>
        <p:nvSpPr>
          <p:cNvPr id="30" name="Text 28"/>
          <p:cNvSpPr txBox="1"/>
          <p:nvPr/>
        </p:nvSpPr>
        <p:spPr>
          <a:xfrm>
            <a:off x="3367964" y="4434840"/>
            <a:ext cx="1226782" cy="41148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the</a:t>
            </a:r>
            <a:endParaRPr lang="en-US" sz="1300" dirty="0"/>
          </a:p>
        </p:txBody>
      </p:sp>
      <p:sp>
        <p:nvSpPr>
          <p:cNvPr id="31" name="Text 29"/>
          <p:cNvSpPr txBox="1"/>
          <p:nvPr/>
        </p:nvSpPr>
        <p:spPr>
          <a:xfrm>
            <a:off x="3367964" y="4846320"/>
            <a:ext cx="1226782" cy="274320"/>
          </a:xfrm>
          <a:prstGeom prst="rect">
            <a:avLst/>
          </a:prstGeom>
          <a:noFill/>
          <a:ln/>
        </p:spPr>
        <p:txBody>
          <a:bodyPr wrap="square" lIns="0" tIns="0" rIns="0" bIns="0" rtlCol="0" anchor="ctr"/>
          <a:lstStyle/>
          <a:p>
            <a:pPr algn="ctr" indent="0" marL="0">
              <a:buNone/>
            </a:pPr>
            <a:r>
              <a:rPr lang="en-US" sz="900" dirty="0">
                <a:solidFill>
                  <a:srgbClr val="5C6B8A"/>
                </a:solidFill>
                <a:latin typeface="Calibri" pitchFamily="34" charset="0"/>
                <a:ea typeface="Calibri" pitchFamily="34" charset="-122"/>
                <a:cs typeface="Calibri" pitchFamily="34" charset="-120"/>
              </a:rPr>
              <a:t>p=.37</a:t>
            </a:r>
            <a:endParaRPr lang="en-US" sz="900" dirty="0"/>
          </a:p>
        </p:txBody>
      </p:sp>
      <p:sp>
        <p:nvSpPr>
          <p:cNvPr id="32" name="Shape 30"/>
          <p:cNvSpPr/>
          <p:nvPr/>
        </p:nvSpPr>
        <p:spPr>
          <a:xfrm>
            <a:off x="4613034" y="4690872"/>
            <a:ext cx="146304" cy="164592"/>
          </a:xfrm>
          <a:prstGeom prst="rightArrow">
            <a:avLst/>
          </a:prstGeom>
          <a:solidFill>
            <a:srgbClr val="CADCFC"/>
          </a:solidFill>
          <a:ln/>
        </p:spPr>
      </p:sp>
      <p:sp>
        <p:nvSpPr>
          <p:cNvPr id="33" name="Shape 31"/>
          <p:cNvSpPr/>
          <p:nvPr/>
        </p:nvSpPr>
        <p:spPr>
          <a:xfrm>
            <a:off x="4777626" y="4343400"/>
            <a:ext cx="1226782" cy="868680"/>
          </a:xfrm>
          <a:prstGeom prst="roundRect">
            <a:avLst>
              <a:gd name="adj" fmla="val 8421"/>
            </a:avLst>
          </a:prstGeom>
          <a:solidFill>
            <a:srgbClr val="F0F4FC"/>
          </a:solidFill>
          <a:ln/>
        </p:spPr>
      </p:sp>
      <p:sp>
        <p:nvSpPr>
          <p:cNvPr id="34" name="Text 32"/>
          <p:cNvSpPr txBox="1"/>
          <p:nvPr/>
        </p:nvSpPr>
        <p:spPr>
          <a:xfrm>
            <a:off x="4777626" y="4434840"/>
            <a:ext cx="1226782" cy="41148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term</a:t>
            </a:r>
            <a:endParaRPr lang="en-US" sz="1300" dirty="0"/>
          </a:p>
        </p:txBody>
      </p:sp>
      <p:sp>
        <p:nvSpPr>
          <p:cNvPr id="35" name="Text 33"/>
          <p:cNvSpPr txBox="1"/>
          <p:nvPr/>
        </p:nvSpPr>
        <p:spPr>
          <a:xfrm>
            <a:off x="4777626" y="4846320"/>
            <a:ext cx="1226782" cy="274320"/>
          </a:xfrm>
          <a:prstGeom prst="rect">
            <a:avLst/>
          </a:prstGeom>
          <a:noFill/>
          <a:ln/>
        </p:spPr>
        <p:txBody>
          <a:bodyPr wrap="square" lIns="0" tIns="0" rIns="0" bIns="0" rtlCol="0" anchor="ctr"/>
          <a:lstStyle/>
          <a:p>
            <a:pPr algn="ctr" indent="0" marL="0">
              <a:buNone/>
            </a:pPr>
            <a:r>
              <a:rPr lang="en-US" sz="900" dirty="0">
                <a:solidFill>
                  <a:srgbClr val="5C6B8A"/>
                </a:solidFill>
                <a:latin typeface="Calibri" pitchFamily="34" charset="0"/>
                <a:ea typeface="Calibri" pitchFamily="34" charset="-122"/>
                <a:cs typeface="Calibri" pitchFamily="34" charset="-120"/>
              </a:rPr>
              <a:t>p=.16</a:t>
            </a:r>
            <a:endParaRPr lang="en-US" sz="900" dirty="0"/>
          </a:p>
        </p:txBody>
      </p:sp>
      <p:sp>
        <p:nvSpPr>
          <p:cNvPr id="36" name="Shape 34"/>
          <p:cNvSpPr/>
          <p:nvPr/>
        </p:nvSpPr>
        <p:spPr>
          <a:xfrm>
            <a:off x="6022696" y="4690872"/>
            <a:ext cx="146304" cy="164592"/>
          </a:xfrm>
          <a:prstGeom prst="rightArrow">
            <a:avLst/>
          </a:prstGeom>
          <a:solidFill>
            <a:srgbClr val="CADCFC"/>
          </a:solidFill>
          <a:ln/>
        </p:spPr>
      </p:sp>
      <p:sp>
        <p:nvSpPr>
          <p:cNvPr id="37" name="Shape 35"/>
          <p:cNvSpPr/>
          <p:nvPr/>
        </p:nvSpPr>
        <p:spPr>
          <a:xfrm>
            <a:off x="6187288" y="4343400"/>
            <a:ext cx="1226782" cy="868680"/>
          </a:xfrm>
          <a:prstGeom prst="roundRect">
            <a:avLst>
              <a:gd name="adj" fmla="val 8421"/>
            </a:avLst>
          </a:prstGeom>
          <a:solidFill>
            <a:srgbClr val="F0F4FC"/>
          </a:solidFill>
          <a:ln/>
        </p:spPr>
      </p:sp>
      <p:sp>
        <p:nvSpPr>
          <p:cNvPr id="38" name="Text 36"/>
          <p:cNvSpPr txBox="1"/>
          <p:nvPr/>
        </p:nvSpPr>
        <p:spPr>
          <a:xfrm>
            <a:off x="6187288" y="4434840"/>
            <a:ext cx="1226782" cy="41148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for</a:t>
            </a:r>
            <a:endParaRPr lang="en-US" sz="1300" dirty="0"/>
          </a:p>
        </p:txBody>
      </p:sp>
      <p:sp>
        <p:nvSpPr>
          <p:cNvPr id="39" name="Text 37"/>
          <p:cNvSpPr txBox="1"/>
          <p:nvPr/>
        </p:nvSpPr>
        <p:spPr>
          <a:xfrm>
            <a:off x="6187288" y="4846320"/>
            <a:ext cx="1226782" cy="274320"/>
          </a:xfrm>
          <a:prstGeom prst="rect">
            <a:avLst/>
          </a:prstGeom>
          <a:noFill/>
          <a:ln/>
        </p:spPr>
        <p:txBody>
          <a:bodyPr wrap="square" lIns="0" tIns="0" rIns="0" bIns="0" rtlCol="0" anchor="ctr"/>
          <a:lstStyle/>
          <a:p>
            <a:pPr algn="ctr" indent="0" marL="0">
              <a:buNone/>
            </a:pPr>
            <a:r>
              <a:rPr lang="en-US" sz="900" dirty="0">
                <a:solidFill>
                  <a:srgbClr val="5C6B8A"/>
                </a:solidFill>
                <a:latin typeface="Calibri" pitchFamily="34" charset="0"/>
                <a:ea typeface="Calibri" pitchFamily="34" charset="-122"/>
                <a:cs typeface="Calibri" pitchFamily="34" charset="-120"/>
              </a:rPr>
              <a:t>p=.82</a:t>
            </a:r>
            <a:endParaRPr lang="en-US" sz="900" dirty="0"/>
          </a:p>
        </p:txBody>
      </p:sp>
      <p:sp>
        <p:nvSpPr>
          <p:cNvPr id="40" name="Shape 38"/>
          <p:cNvSpPr/>
          <p:nvPr/>
        </p:nvSpPr>
        <p:spPr>
          <a:xfrm>
            <a:off x="7432357" y="4690872"/>
            <a:ext cx="146304" cy="164592"/>
          </a:xfrm>
          <a:prstGeom prst="rightArrow">
            <a:avLst/>
          </a:prstGeom>
          <a:solidFill>
            <a:srgbClr val="CADCFC"/>
          </a:solidFill>
          <a:ln/>
        </p:spPr>
      </p:sp>
      <p:sp>
        <p:nvSpPr>
          <p:cNvPr id="41" name="Shape 39"/>
          <p:cNvSpPr/>
          <p:nvPr/>
        </p:nvSpPr>
        <p:spPr>
          <a:xfrm>
            <a:off x="7596950" y="4343400"/>
            <a:ext cx="1226782" cy="868680"/>
          </a:xfrm>
          <a:prstGeom prst="roundRect">
            <a:avLst>
              <a:gd name="adj" fmla="val 8421"/>
            </a:avLst>
          </a:prstGeom>
          <a:solidFill>
            <a:srgbClr val="F0F4FC"/>
          </a:solidFill>
          <a:ln/>
        </p:spPr>
      </p:sp>
      <p:sp>
        <p:nvSpPr>
          <p:cNvPr id="42" name="Text 40"/>
          <p:cNvSpPr txBox="1"/>
          <p:nvPr/>
        </p:nvSpPr>
        <p:spPr>
          <a:xfrm>
            <a:off x="7596950" y="4434840"/>
            <a:ext cx="1226782" cy="41148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photo</a:t>
            </a:r>
            <a:endParaRPr lang="en-US" sz="1300" dirty="0"/>
          </a:p>
        </p:txBody>
      </p:sp>
      <p:sp>
        <p:nvSpPr>
          <p:cNvPr id="43" name="Text 41"/>
          <p:cNvSpPr txBox="1"/>
          <p:nvPr/>
        </p:nvSpPr>
        <p:spPr>
          <a:xfrm>
            <a:off x="7596950" y="4846320"/>
            <a:ext cx="1226782" cy="274320"/>
          </a:xfrm>
          <a:prstGeom prst="rect">
            <a:avLst/>
          </a:prstGeom>
          <a:noFill/>
          <a:ln/>
        </p:spPr>
        <p:txBody>
          <a:bodyPr wrap="square" lIns="0" tIns="0" rIns="0" bIns="0" rtlCol="0" anchor="ctr"/>
          <a:lstStyle/>
          <a:p>
            <a:pPr algn="ctr" indent="0" marL="0">
              <a:buNone/>
            </a:pPr>
            <a:r>
              <a:rPr lang="en-US" sz="900" dirty="0">
                <a:solidFill>
                  <a:srgbClr val="5C6B8A"/>
                </a:solidFill>
                <a:latin typeface="Calibri" pitchFamily="34" charset="0"/>
                <a:ea typeface="Calibri" pitchFamily="34" charset="-122"/>
                <a:cs typeface="Calibri" pitchFamily="34" charset="-120"/>
              </a:rPr>
              <a:t>p=.73</a:t>
            </a:r>
            <a:endParaRPr lang="en-US" sz="900" dirty="0"/>
          </a:p>
        </p:txBody>
      </p:sp>
      <p:sp>
        <p:nvSpPr>
          <p:cNvPr id="44" name="Shape 42"/>
          <p:cNvSpPr/>
          <p:nvPr/>
        </p:nvSpPr>
        <p:spPr>
          <a:xfrm>
            <a:off x="8842019" y="4690872"/>
            <a:ext cx="146304" cy="164592"/>
          </a:xfrm>
          <a:prstGeom prst="rightArrow">
            <a:avLst/>
          </a:prstGeom>
          <a:solidFill>
            <a:srgbClr val="CADCFC"/>
          </a:solidFill>
          <a:ln/>
        </p:spPr>
      </p:sp>
      <p:sp>
        <p:nvSpPr>
          <p:cNvPr id="45" name="Shape 43"/>
          <p:cNvSpPr/>
          <p:nvPr/>
        </p:nvSpPr>
        <p:spPr>
          <a:xfrm>
            <a:off x="9006611" y="4343400"/>
            <a:ext cx="1226782" cy="868680"/>
          </a:xfrm>
          <a:prstGeom prst="roundRect">
            <a:avLst>
              <a:gd name="adj" fmla="val 8421"/>
            </a:avLst>
          </a:prstGeom>
          <a:solidFill>
            <a:srgbClr val="F0F4FC"/>
          </a:solidFill>
          <a:ln/>
        </p:spPr>
      </p:sp>
      <p:sp>
        <p:nvSpPr>
          <p:cNvPr id="46" name="Text 44"/>
          <p:cNvSpPr txBox="1"/>
          <p:nvPr/>
        </p:nvSpPr>
        <p:spPr>
          <a:xfrm>
            <a:off x="9006611" y="4434840"/>
            <a:ext cx="1226782" cy="41148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synthesis</a:t>
            </a:r>
            <a:endParaRPr lang="en-US" sz="1300" dirty="0"/>
          </a:p>
        </p:txBody>
      </p:sp>
      <p:sp>
        <p:nvSpPr>
          <p:cNvPr id="47" name="Text 45"/>
          <p:cNvSpPr txBox="1"/>
          <p:nvPr/>
        </p:nvSpPr>
        <p:spPr>
          <a:xfrm>
            <a:off x="9006611" y="4846320"/>
            <a:ext cx="1226782" cy="274320"/>
          </a:xfrm>
          <a:prstGeom prst="rect">
            <a:avLst/>
          </a:prstGeom>
          <a:noFill/>
          <a:ln/>
        </p:spPr>
        <p:txBody>
          <a:bodyPr wrap="square" lIns="0" tIns="0" rIns="0" bIns="0" rtlCol="0" anchor="ctr"/>
          <a:lstStyle/>
          <a:p>
            <a:pPr algn="ctr" indent="0" marL="0">
              <a:buNone/>
            </a:pPr>
            <a:r>
              <a:rPr lang="en-US" sz="900" dirty="0">
                <a:solidFill>
                  <a:srgbClr val="5C6B8A"/>
                </a:solidFill>
                <a:latin typeface="Calibri" pitchFamily="34" charset="0"/>
                <a:ea typeface="Calibri" pitchFamily="34" charset="-122"/>
                <a:cs typeface="Calibri" pitchFamily="34" charset="-120"/>
              </a:rPr>
              <a:t>p=1.0</a:t>
            </a:r>
            <a:endParaRPr lang="en-US" sz="900" dirty="0"/>
          </a:p>
        </p:txBody>
      </p:sp>
      <p:sp>
        <p:nvSpPr>
          <p:cNvPr id="48" name="Shape 46"/>
          <p:cNvSpPr/>
          <p:nvPr/>
        </p:nvSpPr>
        <p:spPr>
          <a:xfrm>
            <a:off x="10251681" y="4690872"/>
            <a:ext cx="146304" cy="164592"/>
          </a:xfrm>
          <a:prstGeom prst="rightArrow">
            <a:avLst/>
          </a:prstGeom>
          <a:solidFill>
            <a:srgbClr val="CADCFC"/>
          </a:solidFill>
          <a:ln/>
        </p:spPr>
      </p:sp>
      <p:sp>
        <p:nvSpPr>
          <p:cNvPr id="49" name="Shape 47"/>
          <p:cNvSpPr/>
          <p:nvPr/>
        </p:nvSpPr>
        <p:spPr>
          <a:xfrm>
            <a:off x="10416273" y="4343400"/>
            <a:ext cx="1226782" cy="868680"/>
          </a:xfrm>
          <a:prstGeom prst="roundRect">
            <a:avLst>
              <a:gd name="adj" fmla="val 8421"/>
            </a:avLst>
          </a:prstGeom>
          <a:solidFill>
            <a:srgbClr val="1E2761"/>
          </a:solidFill>
          <a:ln/>
        </p:spPr>
      </p:sp>
      <p:sp>
        <p:nvSpPr>
          <p:cNvPr id="50" name="Text 48"/>
          <p:cNvSpPr txBox="1"/>
          <p:nvPr/>
        </p:nvSpPr>
        <p:spPr>
          <a:xfrm>
            <a:off x="10416273" y="4434840"/>
            <a:ext cx="1226782"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51" name="Text 49"/>
          <p:cNvSpPr txBox="1"/>
          <p:nvPr/>
        </p:nvSpPr>
        <p:spPr>
          <a:xfrm>
            <a:off x="10416273" y="4846320"/>
            <a:ext cx="1226782" cy="274320"/>
          </a:xfrm>
          <a:prstGeom prst="rect">
            <a:avLst/>
          </a:prstGeom>
          <a:noFill/>
          <a:ln/>
        </p:spPr>
        <p:txBody>
          <a:bodyPr wrap="square" lIns="0" tIns="0" rIns="0" bIns="0" rtlCol="0" anchor="ctr"/>
          <a:lstStyle/>
          <a:p>
            <a:pPr algn="ctr" indent="0" marL="0">
              <a:buNone/>
            </a:pPr>
            <a:r>
              <a:rPr lang="en-US" sz="900" dirty="0">
                <a:solidFill>
                  <a:srgbClr val="CADCFC"/>
                </a:solidFill>
                <a:latin typeface="Calibri" pitchFamily="34" charset="0"/>
                <a:ea typeface="Calibri" pitchFamily="34" charset="-122"/>
                <a:cs typeface="Calibri" pitchFamily="34" charset="-120"/>
              </a:rPr>
              <a:t>p=.76</a:t>
            </a:r>
            <a:endParaRPr lang="en-US" sz="900" dirty="0"/>
          </a:p>
        </p:txBody>
      </p:sp>
      <p:sp>
        <p:nvSpPr>
          <p:cNvPr id="52" name="Shape 50"/>
          <p:cNvSpPr/>
          <p:nvPr/>
        </p:nvSpPr>
        <p:spPr>
          <a:xfrm>
            <a:off x="548640" y="5349240"/>
            <a:ext cx="11094415" cy="1097280"/>
          </a:xfrm>
          <a:prstGeom prst="roundRect">
            <a:avLst>
              <a:gd name="adj" fmla="val 8333"/>
            </a:avLst>
          </a:prstGeom>
          <a:solidFill>
            <a:srgbClr val="1E2761"/>
          </a:solidFill>
          <a:ln/>
        </p:spPr>
      </p:sp>
      <p:sp>
        <p:nvSpPr>
          <p:cNvPr id="53" name="Text 51"/>
          <p:cNvSpPr txBox="1"/>
          <p:nvPr/>
        </p:nvSpPr>
        <p:spPr>
          <a:xfrm>
            <a:off x="822960" y="5458968"/>
            <a:ext cx="10545775" cy="868680"/>
          </a:xfrm>
          <a:prstGeom prst="rect">
            <a:avLst/>
          </a:prstGeom>
          <a:noFill/>
          <a:ln/>
        </p:spPr>
        <p:txBody>
          <a:bodyPr wrap="square" lIns="0" tIns="0" rIns="0" bIns="0" rtlCol="0" anchor="ctr"/>
          <a:lstStyle/>
          <a:p>
            <a:pPr indent="0" marL="0">
              <a:lnSpc>
                <a:spcPts val="1400"/>
              </a:lnSpc>
              <a:buNone/>
            </a:pPr>
            <a:r>
              <a:rPr lang="en-US" sz="1050" b="1" dirty="0">
                <a:solidFill>
                  <a:srgbClr val="CADCFC"/>
                </a:solidFill>
                <a:latin typeface="Calibri" pitchFamily="34" charset="0"/>
                <a:ea typeface="Calibri" pitchFamily="34" charset="-122"/>
                <a:cs typeface="Calibri" pitchFamily="34" charset="-120"/>
              </a:rPr>
              <a:t>Greedy (passo a passo acima — sempre a opção mais óbvia):  </a:t>
            </a:r>
            <a:pPr indent="0" marL="0">
              <a:lnSpc>
                <a:spcPts val="1400"/>
              </a:lnSpc>
              <a:buNone/>
            </a:pPr>
            <a:r>
              <a:rPr lang="en-US" sz="1050" dirty="0">
                <a:solidFill>
                  <a:srgbClr val="FFFFFF"/>
                </a:solidFill>
                <a:latin typeface="Calibri" pitchFamily="34" charset="0"/>
                <a:ea typeface="Calibri" pitchFamily="34" charset="-122"/>
                <a:cs typeface="Calibri" pitchFamily="34" charset="-120"/>
              </a:rPr>
              <a:t>“What is the term for photosynthesis?”
</a:t>
            </a:r>
            <a:pPr indent="0" marL="0">
              <a:lnSpc>
                <a:spcPts val="1400"/>
              </a:lnSpc>
              <a:buNone/>
            </a:pPr>
            <a:r>
              <a:rPr lang="en-US" sz="1050" b="1" dirty="0">
                <a:solidFill>
                  <a:srgbClr val="E8A33D"/>
                </a:solidFill>
                <a:latin typeface="Calibri" pitchFamily="34" charset="0"/>
                <a:ea typeface="Calibri" pitchFamily="34" charset="-122"/>
                <a:cs typeface="Calibri" pitchFamily="34" charset="-120"/>
              </a:rPr>
              <a:t>Beam search (usado de fato pelo modelo — testa várias opções antes de decidir):  </a:t>
            </a:r>
            <a:pPr indent="0" marL="0">
              <a:lnSpc>
                <a:spcPts val="1400"/>
              </a:lnSpc>
              <a:buNone/>
            </a:pPr>
            <a:r>
              <a:rPr lang="en-US" sz="1050" dirty="0">
                <a:solidFill>
                  <a:srgbClr val="FFFFFF"/>
                </a:solidFill>
                <a:latin typeface="Calibri" pitchFamily="34" charset="0"/>
                <a:ea typeface="Calibri" pitchFamily="34" charset="-122"/>
                <a:cs typeface="Calibri" pitchFamily="34" charset="-120"/>
              </a:rPr>
              <a:t>“What is a process used by plants to convert light energy into chemical energy?”</a:t>
            </a:r>
            <a:endParaRPr lang="en-US" sz="1050" dirty="0"/>
          </a:p>
        </p:txBody>
      </p:sp>
      <p:sp>
        <p:nvSpPr>
          <p:cNvPr id="55" name="Text 52"/>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METODOLOGIA DE AVALIAÇÃO</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O que cada métrica mede</a:t>
            </a:r>
            <a:endParaRPr lang="en-US" sz="3200" dirty="0"/>
          </a:p>
        </p:txBody>
      </p:sp>
      <p:sp>
        <p:nvSpPr>
          <p:cNvPr id="4" name="Shape 2"/>
          <p:cNvSpPr/>
          <p:nvPr/>
        </p:nvSpPr>
        <p:spPr>
          <a:xfrm>
            <a:off x="548640" y="2194560"/>
            <a:ext cx="2377440" cy="566928"/>
          </a:xfrm>
          <a:prstGeom prst="roundRect">
            <a:avLst>
              <a:gd name="adj" fmla="val 12903"/>
            </a:avLst>
          </a:prstGeom>
          <a:solidFill>
            <a:srgbClr val="1E2761"/>
          </a:solidFill>
          <a:ln/>
        </p:spPr>
      </p:sp>
      <p:sp>
        <p:nvSpPr>
          <p:cNvPr id="5" name="Text 3"/>
          <p:cNvSpPr txBox="1"/>
          <p:nvPr/>
        </p:nvSpPr>
        <p:spPr>
          <a:xfrm>
            <a:off x="548640" y="2194560"/>
            <a:ext cx="23774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BLEU</a:t>
            </a:r>
            <a:endParaRPr lang="en-US" sz="1300" dirty="0"/>
          </a:p>
        </p:txBody>
      </p:sp>
      <p:sp>
        <p:nvSpPr>
          <p:cNvPr id="6" name="Text 4"/>
          <p:cNvSpPr txBox="1"/>
          <p:nvPr/>
        </p:nvSpPr>
        <p:spPr>
          <a:xfrm>
            <a:off x="3200400" y="2194560"/>
            <a:ext cx="8229600" cy="566928"/>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Precisão de n-gramas entre a pergunta gerada e a referência, com penalidade por frases curtas demais.</a:t>
            </a:r>
            <a:endParaRPr lang="en-US" sz="1150" dirty="0"/>
          </a:p>
        </p:txBody>
      </p:sp>
      <p:sp>
        <p:nvSpPr>
          <p:cNvPr id="7" name="Shape 5"/>
          <p:cNvSpPr/>
          <p:nvPr/>
        </p:nvSpPr>
        <p:spPr>
          <a:xfrm>
            <a:off x="548640" y="2926080"/>
            <a:ext cx="2377440" cy="566928"/>
          </a:xfrm>
          <a:prstGeom prst="roundRect">
            <a:avLst>
              <a:gd name="adj" fmla="val 12903"/>
            </a:avLst>
          </a:prstGeom>
          <a:solidFill>
            <a:srgbClr val="1E2761"/>
          </a:solidFill>
          <a:ln/>
        </p:spPr>
      </p:sp>
      <p:sp>
        <p:nvSpPr>
          <p:cNvPr id="8" name="Text 6"/>
          <p:cNvSpPr txBox="1"/>
          <p:nvPr/>
        </p:nvSpPr>
        <p:spPr>
          <a:xfrm>
            <a:off x="548640" y="2926080"/>
            <a:ext cx="23774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ROUGE-1 / 2 / L</a:t>
            </a:r>
            <a:endParaRPr lang="en-US" sz="1300" dirty="0"/>
          </a:p>
        </p:txBody>
      </p:sp>
      <p:sp>
        <p:nvSpPr>
          <p:cNvPr id="9" name="Text 7"/>
          <p:cNvSpPr txBox="1"/>
          <p:nvPr/>
        </p:nvSpPr>
        <p:spPr>
          <a:xfrm>
            <a:off x="3200400" y="2926080"/>
            <a:ext cx="8229600" cy="566928"/>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Sobreposição de unigramas, bigramas e da maior subsequência comum com a referência (foco em recall).</a:t>
            </a:r>
            <a:endParaRPr lang="en-US" sz="1150" dirty="0"/>
          </a:p>
        </p:txBody>
      </p:sp>
      <p:sp>
        <p:nvSpPr>
          <p:cNvPr id="10" name="Shape 8"/>
          <p:cNvSpPr/>
          <p:nvPr/>
        </p:nvSpPr>
        <p:spPr>
          <a:xfrm>
            <a:off x="548640" y="3657600"/>
            <a:ext cx="2377440" cy="566928"/>
          </a:xfrm>
          <a:prstGeom prst="roundRect">
            <a:avLst>
              <a:gd name="adj" fmla="val 12903"/>
            </a:avLst>
          </a:prstGeom>
          <a:solidFill>
            <a:srgbClr val="1E2761"/>
          </a:solidFill>
          <a:ln/>
        </p:spPr>
      </p:sp>
      <p:sp>
        <p:nvSpPr>
          <p:cNvPr id="11" name="Text 9"/>
          <p:cNvSpPr txBox="1"/>
          <p:nvPr/>
        </p:nvSpPr>
        <p:spPr>
          <a:xfrm>
            <a:off x="548640" y="3657600"/>
            <a:ext cx="23774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METEOR</a:t>
            </a:r>
            <a:endParaRPr lang="en-US" sz="1300" dirty="0"/>
          </a:p>
        </p:txBody>
      </p:sp>
      <p:sp>
        <p:nvSpPr>
          <p:cNvPr id="12" name="Text 10"/>
          <p:cNvSpPr txBox="1"/>
          <p:nvPr/>
        </p:nvSpPr>
        <p:spPr>
          <a:xfrm>
            <a:off x="3200400" y="3657600"/>
            <a:ext cx="8229600" cy="566928"/>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Como o BLEU, mas alinha sinônimos e variações morfológicas — mais tolerante a paráfrases.</a:t>
            </a:r>
            <a:endParaRPr lang="en-US" sz="1150" dirty="0"/>
          </a:p>
        </p:txBody>
      </p:sp>
      <p:sp>
        <p:nvSpPr>
          <p:cNvPr id="13" name="Shape 11"/>
          <p:cNvSpPr/>
          <p:nvPr/>
        </p:nvSpPr>
        <p:spPr>
          <a:xfrm>
            <a:off x="548640" y="4389120"/>
            <a:ext cx="2377440" cy="566928"/>
          </a:xfrm>
          <a:prstGeom prst="roundRect">
            <a:avLst>
              <a:gd name="adj" fmla="val 12903"/>
            </a:avLst>
          </a:prstGeom>
          <a:solidFill>
            <a:srgbClr val="1E2761"/>
          </a:solidFill>
          <a:ln/>
        </p:spPr>
      </p:sp>
      <p:sp>
        <p:nvSpPr>
          <p:cNvPr id="14" name="Text 12"/>
          <p:cNvSpPr txBox="1"/>
          <p:nvPr/>
        </p:nvSpPr>
        <p:spPr>
          <a:xfrm>
            <a:off x="548640" y="4389120"/>
            <a:ext cx="23774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F1 (palavra)</a:t>
            </a:r>
            <a:endParaRPr lang="en-US" sz="1300" dirty="0"/>
          </a:p>
        </p:txBody>
      </p:sp>
      <p:sp>
        <p:nvSpPr>
          <p:cNvPr id="15" name="Text 13"/>
          <p:cNvSpPr txBox="1"/>
          <p:nvPr/>
        </p:nvSpPr>
        <p:spPr>
          <a:xfrm>
            <a:off x="3200400" y="4389120"/>
            <a:ext cx="8229600" cy="566928"/>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Média harmônica entre precisão e recall de palavras em comum, mesmo cálculo usado no SQuAD oficial.</a:t>
            </a:r>
            <a:endParaRPr lang="en-US" sz="1150" dirty="0"/>
          </a:p>
        </p:txBody>
      </p:sp>
      <p:sp>
        <p:nvSpPr>
          <p:cNvPr id="16" name="Shape 14"/>
          <p:cNvSpPr/>
          <p:nvPr/>
        </p:nvSpPr>
        <p:spPr>
          <a:xfrm>
            <a:off x="548640" y="5257800"/>
            <a:ext cx="11094415" cy="1097280"/>
          </a:xfrm>
          <a:prstGeom prst="roundRect">
            <a:avLst>
              <a:gd name="adj" fmla="val 8333"/>
            </a:avLst>
          </a:prstGeom>
          <a:solidFill>
            <a:srgbClr val="F0F4FC"/>
          </a:solidFill>
          <a:ln/>
        </p:spPr>
      </p:sp>
      <p:sp>
        <p:nvSpPr>
          <p:cNvPr id="17" name="Text 15"/>
          <p:cNvSpPr txBox="1"/>
          <p:nvPr/>
        </p:nvSpPr>
        <p:spPr>
          <a:xfrm>
            <a:off x="868680" y="5257800"/>
            <a:ext cx="10454335" cy="10972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Mesmas métricas do artigo; BERTScore/WikiSemRel entram com o TopicQG</a:t>
            </a:r>
            <a:endParaRPr lang="en-US" sz="1500" dirty="0"/>
          </a:p>
        </p:txBody>
      </p:sp>
      <p:sp>
        <p:nvSpPr>
          <p:cNvPr id="19" name="Text 16"/>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TREINAMENTO</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Ajuste fino (fine-tuning) do baseline</a:t>
            </a:r>
            <a:endParaRPr lang="en-US" sz="3200" dirty="0"/>
          </a:p>
          <a:p>
            <a:pPr indent="0" marL="0">
              <a:buNone/>
            </a:pPr>
            <a:r>
              <a:rPr lang="en-US" sz="3200" b="1" dirty="0">
                <a:solidFill>
                  <a:srgbClr val="1E2761"/>
                </a:solidFill>
                <a:latin typeface="Cambria" pitchFamily="34" charset="0"/>
                <a:ea typeface="Cambria" pitchFamily="34" charset="-122"/>
                <a:cs typeface="Cambria" pitchFamily="34" charset="-120"/>
              </a:rPr>
              <a:t>(sem tópico ainda)</a:t>
            </a:r>
            <a:endParaRPr lang="en-US" sz="3200" dirty="0"/>
          </a:p>
        </p:txBody>
      </p:sp>
      <p:sp>
        <p:nvSpPr>
          <p:cNvPr id="4" name="Shape 2"/>
          <p:cNvSpPr/>
          <p:nvPr/>
        </p:nvSpPr>
        <p:spPr>
          <a:xfrm>
            <a:off x="548640" y="2286000"/>
            <a:ext cx="2606040" cy="1554480"/>
          </a:xfrm>
          <a:prstGeom prst="roundRect">
            <a:avLst>
              <a:gd name="adj" fmla="val 5882"/>
            </a:avLst>
          </a:prstGeom>
          <a:solidFill>
            <a:srgbClr val="F0F4FC"/>
          </a:solidFill>
          <a:ln/>
        </p:spPr>
      </p:sp>
      <p:sp>
        <p:nvSpPr>
          <p:cNvPr id="5" name="Text 3"/>
          <p:cNvSpPr txBox="1"/>
          <p:nvPr/>
        </p:nvSpPr>
        <p:spPr>
          <a:xfrm>
            <a:off x="548640" y="2423160"/>
            <a:ext cx="2606040" cy="777240"/>
          </a:xfrm>
          <a:prstGeom prst="rect">
            <a:avLst/>
          </a:prstGeom>
          <a:noFill/>
          <a:ln/>
        </p:spPr>
        <p:txBody>
          <a:bodyPr wrap="square" lIns="0" tIns="0" rIns="0" bIns="0"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1e-3</a:t>
            </a:r>
            <a:endParaRPr lang="en-US" sz="2600" dirty="0"/>
          </a:p>
        </p:txBody>
      </p:sp>
      <p:sp>
        <p:nvSpPr>
          <p:cNvPr id="6" name="Text 4"/>
          <p:cNvSpPr txBox="1"/>
          <p:nvPr/>
        </p:nvSpPr>
        <p:spPr>
          <a:xfrm>
            <a:off x="548640" y="3200400"/>
            <a:ext cx="2606040" cy="502920"/>
          </a:xfrm>
          <a:prstGeom prst="rect">
            <a:avLst/>
          </a:prstGeom>
          <a:noFill/>
          <a:ln/>
        </p:spPr>
        <p:txBody>
          <a:bodyPr wrap="square" lIns="0" tIns="0" rIns="0" bIns="0" rtlCol="0" anchor="ctr"/>
          <a:lstStyle/>
          <a:p>
            <a:pPr algn="ctr" indent="0" marL="0">
              <a:buNone/>
            </a:pPr>
            <a:r>
              <a:rPr lang="en-US" sz="1200" dirty="0">
                <a:solidFill>
                  <a:srgbClr val="5C6B8A"/>
                </a:solidFill>
                <a:latin typeface="Calibri" pitchFamily="34" charset="0"/>
                <a:ea typeface="Calibri" pitchFamily="34" charset="-122"/>
                <a:cs typeface="Calibri" pitchFamily="34" charset="-120"/>
              </a:rPr>
              <a:t>Taxa de aprendizado (learning rate)</a:t>
            </a:r>
            <a:endParaRPr lang="en-US" sz="1200" dirty="0"/>
          </a:p>
        </p:txBody>
      </p:sp>
      <p:sp>
        <p:nvSpPr>
          <p:cNvPr id="7" name="Shape 5"/>
          <p:cNvSpPr/>
          <p:nvPr/>
        </p:nvSpPr>
        <p:spPr>
          <a:xfrm>
            <a:off x="3429000" y="2286000"/>
            <a:ext cx="2606040" cy="1554480"/>
          </a:xfrm>
          <a:prstGeom prst="roundRect">
            <a:avLst>
              <a:gd name="adj" fmla="val 5882"/>
            </a:avLst>
          </a:prstGeom>
          <a:solidFill>
            <a:srgbClr val="F0F4FC"/>
          </a:solidFill>
          <a:ln/>
        </p:spPr>
      </p:sp>
      <p:sp>
        <p:nvSpPr>
          <p:cNvPr id="8" name="Text 6"/>
          <p:cNvSpPr txBox="1"/>
          <p:nvPr/>
        </p:nvSpPr>
        <p:spPr>
          <a:xfrm>
            <a:off x="3429000" y="2423160"/>
            <a:ext cx="2606040" cy="777240"/>
          </a:xfrm>
          <a:prstGeom prst="rect">
            <a:avLst/>
          </a:prstGeom>
          <a:noFill/>
          <a:ln/>
        </p:spPr>
        <p:txBody>
          <a:bodyPr wrap="square" lIns="0" tIns="0" rIns="0" bIns="0"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64</a:t>
            </a:r>
            <a:endParaRPr lang="en-US" sz="2600" dirty="0"/>
          </a:p>
        </p:txBody>
      </p:sp>
      <p:sp>
        <p:nvSpPr>
          <p:cNvPr id="9" name="Text 7"/>
          <p:cNvSpPr txBox="1"/>
          <p:nvPr/>
        </p:nvSpPr>
        <p:spPr>
          <a:xfrm>
            <a:off x="3429000" y="3200400"/>
            <a:ext cx="2606040" cy="502920"/>
          </a:xfrm>
          <a:prstGeom prst="rect">
            <a:avLst/>
          </a:prstGeom>
          <a:noFill/>
          <a:ln/>
        </p:spPr>
        <p:txBody>
          <a:bodyPr wrap="square" lIns="0" tIns="0" rIns="0" bIns="0" rtlCol="0" anchor="ctr"/>
          <a:lstStyle/>
          <a:p>
            <a:pPr algn="ctr" indent="0" marL="0">
              <a:buNone/>
            </a:pPr>
            <a:r>
              <a:rPr lang="en-US" sz="1200" dirty="0">
                <a:solidFill>
                  <a:srgbClr val="5C6B8A"/>
                </a:solidFill>
                <a:latin typeface="Calibri" pitchFamily="34" charset="0"/>
                <a:ea typeface="Calibri" pitchFamily="34" charset="-122"/>
                <a:cs typeface="Calibri" pitchFamily="34" charset="-120"/>
              </a:rPr>
              <a:t>Batch efetivo</a:t>
            </a:r>
            <a:endParaRPr lang="en-US" sz="1200" dirty="0"/>
          </a:p>
        </p:txBody>
      </p:sp>
      <p:sp>
        <p:nvSpPr>
          <p:cNvPr id="10" name="Shape 8"/>
          <p:cNvSpPr/>
          <p:nvPr/>
        </p:nvSpPr>
        <p:spPr>
          <a:xfrm>
            <a:off x="6309360" y="2286000"/>
            <a:ext cx="2606040" cy="1554480"/>
          </a:xfrm>
          <a:prstGeom prst="roundRect">
            <a:avLst>
              <a:gd name="adj" fmla="val 5882"/>
            </a:avLst>
          </a:prstGeom>
          <a:solidFill>
            <a:srgbClr val="F0F4FC"/>
          </a:solidFill>
          <a:ln/>
        </p:spPr>
      </p:sp>
      <p:sp>
        <p:nvSpPr>
          <p:cNvPr id="11" name="Text 9"/>
          <p:cNvSpPr txBox="1"/>
          <p:nvPr/>
        </p:nvSpPr>
        <p:spPr>
          <a:xfrm>
            <a:off x="6309360" y="2423160"/>
            <a:ext cx="2606040" cy="777240"/>
          </a:xfrm>
          <a:prstGeom prst="rect">
            <a:avLst/>
          </a:prstGeom>
          <a:noFill/>
          <a:ln/>
        </p:spPr>
        <p:txBody>
          <a:bodyPr wrap="square" lIns="0" tIns="0" rIns="0" bIns="0"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512 / 128</a:t>
            </a:r>
            <a:endParaRPr lang="en-US" sz="2600" dirty="0"/>
          </a:p>
        </p:txBody>
      </p:sp>
      <p:sp>
        <p:nvSpPr>
          <p:cNvPr id="12" name="Text 10"/>
          <p:cNvSpPr txBox="1"/>
          <p:nvPr/>
        </p:nvSpPr>
        <p:spPr>
          <a:xfrm>
            <a:off x="6309360" y="3200400"/>
            <a:ext cx="2606040" cy="502920"/>
          </a:xfrm>
          <a:prstGeom prst="rect">
            <a:avLst/>
          </a:prstGeom>
          <a:noFill/>
          <a:ln/>
        </p:spPr>
        <p:txBody>
          <a:bodyPr wrap="square" lIns="0" tIns="0" rIns="0" bIns="0" rtlCol="0" anchor="ctr"/>
          <a:lstStyle/>
          <a:p>
            <a:pPr algn="ctr" indent="0" marL="0">
              <a:buNone/>
            </a:pPr>
            <a:r>
              <a:rPr lang="en-US" sz="1200" dirty="0">
                <a:solidFill>
                  <a:srgbClr val="5C6B8A"/>
                </a:solidFill>
                <a:latin typeface="Calibri" pitchFamily="34" charset="0"/>
                <a:ea typeface="Calibri" pitchFamily="34" charset="-122"/>
                <a:cs typeface="Calibri" pitchFamily="34" charset="-120"/>
              </a:rPr>
              <a:t>Tokens encoder / decoder</a:t>
            </a:r>
            <a:endParaRPr lang="en-US" sz="1200" dirty="0"/>
          </a:p>
        </p:txBody>
      </p:sp>
      <p:sp>
        <p:nvSpPr>
          <p:cNvPr id="13" name="Shape 11"/>
          <p:cNvSpPr/>
          <p:nvPr/>
        </p:nvSpPr>
        <p:spPr>
          <a:xfrm>
            <a:off x="9189720" y="2286000"/>
            <a:ext cx="2606040" cy="1554480"/>
          </a:xfrm>
          <a:prstGeom prst="roundRect">
            <a:avLst>
              <a:gd name="adj" fmla="val 5882"/>
            </a:avLst>
          </a:prstGeom>
          <a:solidFill>
            <a:srgbClr val="F0F4FC"/>
          </a:solidFill>
          <a:ln/>
        </p:spPr>
      </p:sp>
      <p:sp>
        <p:nvSpPr>
          <p:cNvPr id="14" name="Text 12"/>
          <p:cNvSpPr txBox="1"/>
          <p:nvPr/>
        </p:nvSpPr>
        <p:spPr>
          <a:xfrm>
            <a:off x="9189720" y="2423160"/>
            <a:ext cx="2606040" cy="777240"/>
          </a:xfrm>
          <a:prstGeom prst="rect">
            <a:avLst/>
          </a:prstGeom>
          <a:noFill/>
          <a:ln/>
        </p:spPr>
        <p:txBody>
          <a:bodyPr wrap="square" lIns="0" tIns="0" rIns="0" bIns="0"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 5</a:t>
            </a:r>
            <a:endParaRPr lang="en-US" sz="2600" dirty="0"/>
          </a:p>
        </p:txBody>
      </p:sp>
      <p:sp>
        <p:nvSpPr>
          <p:cNvPr id="15" name="Text 13"/>
          <p:cNvSpPr txBox="1"/>
          <p:nvPr/>
        </p:nvSpPr>
        <p:spPr>
          <a:xfrm>
            <a:off x="9189720" y="3200400"/>
            <a:ext cx="2606040" cy="502920"/>
          </a:xfrm>
          <a:prstGeom prst="rect">
            <a:avLst/>
          </a:prstGeom>
          <a:noFill/>
          <a:ln/>
        </p:spPr>
        <p:txBody>
          <a:bodyPr wrap="square" lIns="0" tIns="0" rIns="0" bIns="0" rtlCol="0" anchor="ctr"/>
          <a:lstStyle/>
          <a:p>
            <a:pPr algn="ctr" indent="0" marL="0">
              <a:buNone/>
            </a:pPr>
            <a:r>
              <a:rPr lang="en-US" sz="1200" dirty="0">
                <a:solidFill>
                  <a:srgbClr val="5C6B8A"/>
                </a:solidFill>
                <a:latin typeface="Calibri" pitchFamily="34" charset="0"/>
                <a:ea typeface="Calibri" pitchFamily="34" charset="-122"/>
                <a:cs typeface="Calibri" pitchFamily="34" charset="-120"/>
              </a:rPr>
              <a:t>Épocas — early stopping</a:t>
            </a:r>
            <a:endParaRPr lang="en-US" sz="1200" dirty="0"/>
          </a:p>
        </p:txBody>
      </p:sp>
      <p:sp>
        <p:nvSpPr>
          <p:cNvPr id="16" name="Shape 14"/>
          <p:cNvSpPr/>
          <p:nvPr/>
        </p:nvSpPr>
        <p:spPr>
          <a:xfrm>
            <a:off x="548640" y="4206240"/>
            <a:ext cx="11247120" cy="1783080"/>
          </a:xfrm>
          <a:prstGeom prst="roundRect">
            <a:avLst>
              <a:gd name="adj" fmla="val 5128"/>
            </a:avLst>
          </a:prstGeom>
          <a:solidFill>
            <a:srgbClr val="1E2761"/>
          </a:solidFill>
          <a:ln/>
        </p:spPr>
      </p:sp>
      <p:sp>
        <p:nvSpPr>
          <p:cNvPr id="17" name="Text 15"/>
          <p:cNvSpPr txBox="1"/>
          <p:nvPr/>
        </p:nvSpPr>
        <p:spPr>
          <a:xfrm>
            <a:off x="914400" y="4389120"/>
            <a:ext cx="10515600" cy="14173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Desvio documentado, não erro de reprodução</a:t>
            </a:r>
            <a:endParaRPr lang="en-US" sz="2200" dirty="0"/>
          </a:p>
        </p:txBody>
      </p:sp>
      <p:sp>
        <p:nvSpPr>
          <p:cNvPr id="19" name="Text 16"/>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TREINAMENTO</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Hiperparâmetros: como o modelo aprende</a:t>
            </a:r>
            <a:endParaRPr lang="en-US" sz="3200" dirty="0"/>
          </a:p>
        </p:txBody>
      </p:sp>
      <p:sp>
        <p:nvSpPr>
          <p:cNvPr id="4" name="Shape 2"/>
          <p:cNvSpPr/>
          <p:nvPr/>
        </p:nvSpPr>
        <p:spPr>
          <a:xfrm>
            <a:off x="548640" y="1645920"/>
            <a:ext cx="2377440" cy="365760"/>
          </a:xfrm>
          <a:prstGeom prst="rect">
            <a:avLst/>
          </a:prstGeom>
          <a:solidFill>
            <a:srgbClr val="1E2761"/>
          </a:solidFill>
          <a:ln/>
        </p:spPr>
      </p:sp>
      <p:sp>
        <p:nvSpPr>
          <p:cNvPr id="5" name="Text 3"/>
          <p:cNvSpPr txBox="1"/>
          <p:nvPr/>
        </p:nvSpPr>
        <p:spPr>
          <a:xfrm>
            <a:off x="685800" y="1645920"/>
            <a:ext cx="2103120" cy="365760"/>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HIPERPARÂMETRO</a:t>
            </a:r>
            <a:endParaRPr lang="en-US" sz="1050" dirty="0"/>
          </a:p>
        </p:txBody>
      </p:sp>
      <p:sp>
        <p:nvSpPr>
          <p:cNvPr id="6" name="Shape 4"/>
          <p:cNvSpPr/>
          <p:nvPr/>
        </p:nvSpPr>
        <p:spPr>
          <a:xfrm>
            <a:off x="2926080" y="1645920"/>
            <a:ext cx="4114800" cy="365760"/>
          </a:xfrm>
          <a:prstGeom prst="rect">
            <a:avLst/>
          </a:prstGeom>
          <a:solidFill>
            <a:srgbClr val="1E2761"/>
          </a:solidFill>
          <a:ln/>
        </p:spPr>
      </p:sp>
      <p:sp>
        <p:nvSpPr>
          <p:cNvPr id="7" name="Text 5"/>
          <p:cNvSpPr txBox="1"/>
          <p:nvPr/>
        </p:nvSpPr>
        <p:spPr>
          <a:xfrm>
            <a:off x="3063240" y="1645920"/>
            <a:ext cx="3840480" cy="365760"/>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POR QUE ESSA ESCOLHA</a:t>
            </a:r>
            <a:endParaRPr lang="en-US" sz="1050" dirty="0"/>
          </a:p>
        </p:txBody>
      </p:sp>
      <p:sp>
        <p:nvSpPr>
          <p:cNvPr id="8" name="Shape 6"/>
          <p:cNvSpPr/>
          <p:nvPr/>
        </p:nvSpPr>
        <p:spPr>
          <a:xfrm>
            <a:off x="7040880" y="1645920"/>
            <a:ext cx="4602175" cy="365760"/>
          </a:xfrm>
          <a:prstGeom prst="rect">
            <a:avLst/>
          </a:prstGeom>
          <a:solidFill>
            <a:srgbClr val="1E2761"/>
          </a:solidFill>
          <a:ln/>
        </p:spPr>
      </p:sp>
      <p:sp>
        <p:nvSpPr>
          <p:cNvPr id="9" name="Text 7"/>
          <p:cNvSpPr txBox="1"/>
          <p:nvPr/>
        </p:nvSpPr>
        <p:spPr>
          <a:xfrm>
            <a:off x="7178040" y="1645920"/>
            <a:ext cx="4327855" cy="365760"/>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ALTERNATIVA CONSIDERADA</a:t>
            </a:r>
            <a:endParaRPr lang="en-US" sz="1050" dirty="0"/>
          </a:p>
        </p:txBody>
      </p:sp>
      <p:sp>
        <p:nvSpPr>
          <p:cNvPr id="10" name="Shape 8"/>
          <p:cNvSpPr/>
          <p:nvPr/>
        </p:nvSpPr>
        <p:spPr>
          <a:xfrm>
            <a:off x="548640" y="2011680"/>
            <a:ext cx="2377440" cy="1051560"/>
          </a:xfrm>
          <a:prstGeom prst="rect">
            <a:avLst/>
          </a:prstGeom>
          <a:solidFill>
            <a:srgbClr val="F0F4FC"/>
          </a:solidFill>
          <a:ln/>
        </p:spPr>
      </p:sp>
      <p:sp>
        <p:nvSpPr>
          <p:cNvPr id="11" name="Shape 9"/>
          <p:cNvSpPr/>
          <p:nvPr/>
        </p:nvSpPr>
        <p:spPr>
          <a:xfrm>
            <a:off x="2926080" y="2011680"/>
            <a:ext cx="4114800" cy="1051560"/>
          </a:xfrm>
          <a:prstGeom prst="rect">
            <a:avLst/>
          </a:prstGeom>
          <a:solidFill>
            <a:srgbClr val="F0F4FC"/>
          </a:solidFill>
          <a:ln/>
        </p:spPr>
      </p:sp>
      <p:sp>
        <p:nvSpPr>
          <p:cNvPr id="12" name="Shape 10"/>
          <p:cNvSpPr/>
          <p:nvPr/>
        </p:nvSpPr>
        <p:spPr>
          <a:xfrm>
            <a:off x="7040880" y="2011680"/>
            <a:ext cx="4602175" cy="1051560"/>
          </a:xfrm>
          <a:prstGeom prst="rect">
            <a:avLst/>
          </a:prstGeom>
          <a:solidFill>
            <a:srgbClr val="F0F4FC"/>
          </a:solidFill>
          <a:ln/>
        </p:spPr>
      </p:sp>
      <p:sp>
        <p:nvSpPr>
          <p:cNvPr id="13" name="Text 11"/>
          <p:cNvSpPr txBox="1"/>
          <p:nvPr/>
        </p:nvSpPr>
        <p:spPr>
          <a:xfrm>
            <a:off x="685800" y="2103120"/>
            <a:ext cx="2103120" cy="868680"/>
          </a:xfrm>
          <a:prstGeom prst="rect">
            <a:avLst/>
          </a:prstGeom>
          <a:noFill/>
          <a:ln/>
        </p:spPr>
        <p:txBody>
          <a:bodyPr wrap="square" lIns="0" tIns="0" rIns="0" bIns="0" rtlCol="0" anchor="t"/>
          <a:lstStyle/>
          <a:p>
            <a:pPr indent="0" marL="0">
              <a:lnSpc>
                <a:spcPts val="1500"/>
              </a:lnSpc>
              <a:buNone/>
            </a:pPr>
            <a:r>
              <a:rPr lang="en-US" sz="1250" b="1" dirty="0">
                <a:solidFill>
                  <a:srgbClr val="1E2761"/>
                </a:solidFill>
                <a:latin typeface="Calibri" pitchFamily="34" charset="0"/>
                <a:ea typeface="Calibri" pitchFamily="34" charset="-122"/>
                <a:cs typeface="Calibri" pitchFamily="34" charset="-120"/>
              </a:rPr>
              <a:t>Otimizador
</a:t>
            </a:r>
            <a:pPr indent="0" marL="0">
              <a:lnSpc>
                <a:spcPts val="1500"/>
              </a:lnSpc>
              <a:buNone/>
            </a:pPr>
            <a:r>
              <a:rPr lang="en-US" sz="1100" b="1" dirty="0">
                <a:solidFill>
                  <a:srgbClr val="E8A33D"/>
                </a:solidFill>
                <a:latin typeface="Calibri" pitchFamily="34" charset="0"/>
                <a:ea typeface="Calibri" pitchFamily="34" charset="-122"/>
                <a:cs typeface="Calibri" pitchFamily="34" charset="-120"/>
              </a:rPr>
              <a:t>AdamW (ε = 1e-8)</a:t>
            </a:r>
            <a:endParaRPr lang="en-US" sz="1250" dirty="0"/>
          </a:p>
        </p:txBody>
      </p:sp>
      <p:sp>
        <p:nvSpPr>
          <p:cNvPr id="14" name="Text 12"/>
          <p:cNvSpPr txBox="1"/>
          <p:nvPr/>
        </p:nvSpPr>
        <p:spPr>
          <a:xfrm>
            <a:off x="3063240" y="2103120"/>
            <a:ext cx="3840480" cy="868680"/>
          </a:xfrm>
          <a:prstGeom prst="rect">
            <a:avLst/>
          </a:prstGeom>
          <a:noFill/>
          <a:ln/>
        </p:spPr>
        <p:txBody>
          <a:bodyPr wrap="square" lIns="0" tIns="0" rIns="0" bIns="0" rtlCol="0" anchor="t"/>
          <a:lstStyle/>
          <a:p>
            <a:pPr indent="0" marL="0">
              <a:lnSpc>
                <a:spcPts val="1300"/>
              </a:lnSpc>
              <a:buNone/>
            </a:pPr>
            <a:r>
              <a:rPr lang="en-US" sz="1050" dirty="0">
                <a:solidFill>
                  <a:srgbClr val="1A1A2E"/>
                </a:solidFill>
                <a:latin typeface="Calibri" pitchFamily="34" charset="0"/>
                <a:ea typeface="Calibri" pitchFamily="34" charset="-122"/>
                <a:cs typeface="Calibri" pitchFamily="34" charset="-120"/>
              </a:rPr>
              <a:t>dá a cada peso do modelo seu próprio ritmo de aprendizado, olhando o histórico recente dele — peso com sinal mais instável avança em passos menores.</a:t>
            </a:r>
            <a:endParaRPr lang="en-US" sz="1050" dirty="0"/>
          </a:p>
        </p:txBody>
      </p:sp>
      <p:sp>
        <p:nvSpPr>
          <p:cNvPr id="15" name="Text 13"/>
          <p:cNvSpPr txBox="1"/>
          <p:nvPr/>
        </p:nvSpPr>
        <p:spPr>
          <a:xfrm>
            <a:off x="7178040" y="2103120"/>
            <a:ext cx="4327855" cy="868680"/>
          </a:xfrm>
          <a:prstGeom prst="rect">
            <a:avLst/>
          </a:prstGeom>
          <a:noFill/>
          <a:ln/>
        </p:spPr>
        <p:txBody>
          <a:bodyPr wrap="square" lIns="0" tIns="0" rIns="0" bIns="0" rtlCol="0" anchor="t"/>
          <a:lstStyle/>
          <a:p>
            <a:pPr indent="0" marL="0">
              <a:lnSpc>
                <a:spcPts val="1300"/>
              </a:lnSpc>
              <a:buNone/>
            </a:pPr>
            <a:r>
              <a:rPr lang="en-US" sz="1050" i="1" dirty="0">
                <a:solidFill>
                  <a:srgbClr val="5C6B8A"/>
                </a:solidFill>
                <a:latin typeface="Calibri" pitchFamily="34" charset="0"/>
                <a:ea typeface="Calibri" pitchFamily="34" charset="-122"/>
                <a:cs typeface="Calibri" pitchFamily="34" charset="-120"/>
              </a:rPr>
              <a:t>Adafactor (versão do T5 original, mais leve) ou SGD — mais simples, mas aprende bem mais devagar.</a:t>
            </a:r>
            <a:endParaRPr lang="en-US" sz="1050" dirty="0"/>
          </a:p>
        </p:txBody>
      </p:sp>
      <p:sp>
        <p:nvSpPr>
          <p:cNvPr id="16" name="Shape 14"/>
          <p:cNvSpPr/>
          <p:nvPr/>
        </p:nvSpPr>
        <p:spPr>
          <a:xfrm>
            <a:off x="548640" y="3063240"/>
            <a:ext cx="2377440" cy="1051560"/>
          </a:xfrm>
          <a:prstGeom prst="rect">
            <a:avLst/>
          </a:prstGeom>
          <a:solidFill>
            <a:srgbClr val="FFFFFF"/>
          </a:solidFill>
          <a:ln/>
        </p:spPr>
      </p:sp>
      <p:sp>
        <p:nvSpPr>
          <p:cNvPr id="17" name="Shape 15"/>
          <p:cNvSpPr/>
          <p:nvPr/>
        </p:nvSpPr>
        <p:spPr>
          <a:xfrm>
            <a:off x="2926080" y="3063240"/>
            <a:ext cx="4114800" cy="1051560"/>
          </a:xfrm>
          <a:prstGeom prst="rect">
            <a:avLst/>
          </a:prstGeom>
          <a:solidFill>
            <a:srgbClr val="FFFFFF"/>
          </a:solidFill>
          <a:ln/>
        </p:spPr>
      </p:sp>
      <p:sp>
        <p:nvSpPr>
          <p:cNvPr id="18" name="Shape 16"/>
          <p:cNvSpPr/>
          <p:nvPr/>
        </p:nvSpPr>
        <p:spPr>
          <a:xfrm>
            <a:off x="7040880" y="3063240"/>
            <a:ext cx="4602175" cy="1051560"/>
          </a:xfrm>
          <a:prstGeom prst="rect">
            <a:avLst/>
          </a:prstGeom>
          <a:solidFill>
            <a:srgbClr val="FFFFFF"/>
          </a:solidFill>
          <a:ln/>
        </p:spPr>
      </p:sp>
      <p:sp>
        <p:nvSpPr>
          <p:cNvPr id="19" name="Text 17"/>
          <p:cNvSpPr txBox="1"/>
          <p:nvPr/>
        </p:nvSpPr>
        <p:spPr>
          <a:xfrm>
            <a:off x="685800" y="3154680"/>
            <a:ext cx="2103120" cy="868680"/>
          </a:xfrm>
          <a:prstGeom prst="rect">
            <a:avLst/>
          </a:prstGeom>
          <a:noFill/>
          <a:ln/>
        </p:spPr>
        <p:txBody>
          <a:bodyPr wrap="square" lIns="0" tIns="0" rIns="0" bIns="0" rtlCol="0" anchor="t"/>
          <a:lstStyle/>
          <a:p>
            <a:pPr indent="0" marL="0">
              <a:lnSpc>
                <a:spcPts val="1500"/>
              </a:lnSpc>
              <a:buNone/>
            </a:pPr>
            <a:r>
              <a:rPr lang="en-US" sz="1250" b="1" dirty="0">
                <a:solidFill>
                  <a:srgbClr val="1E2761"/>
                </a:solidFill>
                <a:latin typeface="Calibri" pitchFamily="34" charset="0"/>
                <a:ea typeface="Calibri" pitchFamily="34" charset="-122"/>
                <a:cs typeface="Calibri" pitchFamily="34" charset="-120"/>
              </a:rPr>
              <a:t>Taxa de aprendizado
</a:t>
            </a:r>
            <a:pPr indent="0" marL="0">
              <a:lnSpc>
                <a:spcPts val="1500"/>
              </a:lnSpc>
              <a:buNone/>
            </a:pPr>
            <a:r>
              <a:rPr lang="en-US" sz="1100" b="1" dirty="0">
                <a:solidFill>
                  <a:srgbClr val="E8A33D"/>
                </a:solidFill>
                <a:latin typeface="Calibri" pitchFamily="34" charset="0"/>
                <a:ea typeface="Calibri" pitchFamily="34" charset="-122"/>
                <a:cs typeface="Calibri" pitchFamily="34" charset="-120"/>
              </a:rPr>
              <a:t>1e-3</a:t>
            </a:r>
            <a:endParaRPr lang="en-US" sz="1250" dirty="0"/>
          </a:p>
        </p:txBody>
      </p:sp>
      <p:sp>
        <p:nvSpPr>
          <p:cNvPr id="20" name="Text 18"/>
          <p:cNvSpPr txBox="1"/>
          <p:nvPr/>
        </p:nvSpPr>
        <p:spPr>
          <a:xfrm>
            <a:off x="3063240" y="3154680"/>
            <a:ext cx="3840480" cy="868680"/>
          </a:xfrm>
          <a:prstGeom prst="rect">
            <a:avLst/>
          </a:prstGeom>
          <a:noFill/>
          <a:ln/>
        </p:spPr>
        <p:txBody>
          <a:bodyPr wrap="square" lIns="0" tIns="0" rIns="0" bIns="0" rtlCol="0" anchor="t"/>
          <a:lstStyle/>
          <a:p>
            <a:pPr indent="0" marL="0">
              <a:lnSpc>
                <a:spcPts val="1300"/>
              </a:lnSpc>
              <a:buNone/>
            </a:pPr>
            <a:r>
              <a:rPr lang="en-US" sz="1050" dirty="0">
                <a:solidFill>
                  <a:srgbClr val="1A1A2E"/>
                </a:solidFill>
                <a:latin typeface="Calibri" pitchFamily="34" charset="0"/>
                <a:ea typeface="Calibri" pitchFamily="34" charset="-122"/>
                <a:cs typeface="Calibri" pitchFamily="34" charset="-120"/>
              </a:rPr>
              <a:t>o T5 foi feito pra dar passos grandes a cada atualização. Uma taxa baixa, como se usa em BERT, o faria aprender devagar demais.</a:t>
            </a:r>
            <a:endParaRPr lang="en-US" sz="1050" dirty="0"/>
          </a:p>
        </p:txBody>
      </p:sp>
      <p:sp>
        <p:nvSpPr>
          <p:cNvPr id="21" name="Text 19"/>
          <p:cNvSpPr txBox="1"/>
          <p:nvPr/>
        </p:nvSpPr>
        <p:spPr>
          <a:xfrm>
            <a:off x="7178040" y="3154680"/>
            <a:ext cx="4327855" cy="868680"/>
          </a:xfrm>
          <a:prstGeom prst="rect">
            <a:avLst/>
          </a:prstGeom>
          <a:noFill/>
          <a:ln/>
        </p:spPr>
        <p:txBody>
          <a:bodyPr wrap="square" lIns="0" tIns="0" rIns="0" bIns="0" rtlCol="0" anchor="t"/>
          <a:lstStyle/>
          <a:p>
            <a:pPr indent="0" marL="0">
              <a:lnSpc>
                <a:spcPts val="1300"/>
              </a:lnSpc>
              <a:buNone/>
            </a:pPr>
            <a:r>
              <a:rPr lang="en-US" sz="1050" i="1" dirty="0">
                <a:solidFill>
                  <a:srgbClr val="5C6B8A"/>
                </a:solidFill>
                <a:latin typeface="Calibri" pitchFamily="34" charset="0"/>
                <a:ea typeface="Calibri" pitchFamily="34" charset="-122"/>
                <a:cs typeface="Calibri" pitchFamily="34" charset="-120"/>
              </a:rPr>
              <a:t>2e-5–5e-5 (padrão em BERT) — passo pequeno demais pro T5: o treino quase não se moveria.</a:t>
            </a:r>
            <a:endParaRPr lang="en-US" sz="1050" dirty="0"/>
          </a:p>
        </p:txBody>
      </p:sp>
      <p:sp>
        <p:nvSpPr>
          <p:cNvPr id="22" name="Shape 20"/>
          <p:cNvSpPr/>
          <p:nvPr/>
        </p:nvSpPr>
        <p:spPr>
          <a:xfrm>
            <a:off x="548640" y="4114800"/>
            <a:ext cx="2377440" cy="1051560"/>
          </a:xfrm>
          <a:prstGeom prst="rect">
            <a:avLst/>
          </a:prstGeom>
          <a:solidFill>
            <a:srgbClr val="F0F4FC"/>
          </a:solidFill>
          <a:ln/>
        </p:spPr>
      </p:sp>
      <p:sp>
        <p:nvSpPr>
          <p:cNvPr id="23" name="Shape 21"/>
          <p:cNvSpPr/>
          <p:nvPr/>
        </p:nvSpPr>
        <p:spPr>
          <a:xfrm>
            <a:off x="2926080" y="4114800"/>
            <a:ext cx="4114800" cy="1051560"/>
          </a:xfrm>
          <a:prstGeom prst="rect">
            <a:avLst/>
          </a:prstGeom>
          <a:solidFill>
            <a:srgbClr val="F0F4FC"/>
          </a:solidFill>
          <a:ln/>
        </p:spPr>
      </p:sp>
      <p:sp>
        <p:nvSpPr>
          <p:cNvPr id="24" name="Shape 22"/>
          <p:cNvSpPr/>
          <p:nvPr/>
        </p:nvSpPr>
        <p:spPr>
          <a:xfrm>
            <a:off x="7040880" y="4114800"/>
            <a:ext cx="4602175" cy="1051560"/>
          </a:xfrm>
          <a:prstGeom prst="rect">
            <a:avLst/>
          </a:prstGeom>
          <a:solidFill>
            <a:srgbClr val="F0F4FC"/>
          </a:solidFill>
          <a:ln/>
        </p:spPr>
      </p:sp>
      <p:sp>
        <p:nvSpPr>
          <p:cNvPr id="25" name="Text 23"/>
          <p:cNvSpPr txBox="1"/>
          <p:nvPr/>
        </p:nvSpPr>
        <p:spPr>
          <a:xfrm>
            <a:off x="685800" y="4206240"/>
            <a:ext cx="2103120" cy="868680"/>
          </a:xfrm>
          <a:prstGeom prst="rect">
            <a:avLst/>
          </a:prstGeom>
          <a:noFill/>
          <a:ln/>
        </p:spPr>
        <p:txBody>
          <a:bodyPr wrap="square" lIns="0" tIns="0" rIns="0" bIns="0" rtlCol="0" anchor="t"/>
          <a:lstStyle/>
          <a:p>
            <a:pPr indent="0" marL="0">
              <a:lnSpc>
                <a:spcPts val="1500"/>
              </a:lnSpc>
              <a:buNone/>
            </a:pPr>
            <a:r>
              <a:rPr lang="en-US" sz="1250" b="1" dirty="0">
                <a:solidFill>
                  <a:srgbClr val="1E2761"/>
                </a:solidFill>
                <a:latin typeface="Calibri" pitchFamily="34" charset="0"/>
                <a:ea typeface="Calibri" pitchFamily="34" charset="-122"/>
                <a:cs typeface="Calibri" pitchFamily="34" charset="-120"/>
              </a:rPr>
              <a:t>Precisão
</a:t>
            </a:r>
            <a:pPr indent="0" marL="0">
              <a:lnSpc>
                <a:spcPts val="1500"/>
              </a:lnSpc>
              <a:buNone/>
            </a:pPr>
            <a:r>
              <a:rPr lang="en-US" sz="1100" b="1" dirty="0">
                <a:solidFill>
                  <a:srgbClr val="E8A33D"/>
                </a:solidFill>
                <a:latin typeface="Calibri" pitchFamily="34" charset="0"/>
                <a:ea typeface="Calibri" pitchFamily="34" charset="-122"/>
                <a:cs typeface="Calibri" pitchFamily="34" charset="-120"/>
              </a:rPr>
              <a:t>fp16 (mixed precision)</a:t>
            </a:r>
            <a:endParaRPr lang="en-US" sz="1250" dirty="0"/>
          </a:p>
        </p:txBody>
      </p:sp>
      <p:sp>
        <p:nvSpPr>
          <p:cNvPr id="26" name="Text 24"/>
          <p:cNvSpPr txBox="1"/>
          <p:nvPr/>
        </p:nvSpPr>
        <p:spPr>
          <a:xfrm>
            <a:off x="3063240" y="4206240"/>
            <a:ext cx="3840480" cy="868680"/>
          </a:xfrm>
          <a:prstGeom prst="rect">
            <a:avLst/>
          </a:prstGeom>
          <a:noFill/>
          <a:ln/>
        </p:spPr>
        <p:txBody>
          <a:bodyPr wrap="square" lIns="0" tIns="0" rIns="0" bIns="0" rtlCol="0" anchor="t"/>
          <a:lstStyle/>
          <a:p>
            <a:pPr indent="0" marL="0">
              <a:lnSpc>
                <a:spcPts val="1300"/>
              </a:lnSpc>
              <a:buNone/>
            </a:pPr>
            <a:r>
              <a:rPr lang="en-US" sz="1050" dirty="0">
                <a:solidFill>
                  <a:srgbClr val="1A1A2E"/>
                </a:solidFill>
                <a:latin typeface="Calibri" pitchFamily="34" charset="0"/>
                <a:ea typeface="Calibri" pitchFamily="34" charset="-122"/>
                <a:cs typeface="Calibri" pitchFamily="34" charset="-120"/>
              </a:rPr>
              <a:t>usa números mais “leves” pra acelerar as contas — só que esses números têm uma faixa menor, o que pode causar instabilidade no início do treino (por isso o warm-up ao lado).</a:t>
            </a:r>
            <a:endParaRPr lang="en-US" sz="1050" dirty="0"/>
          </a:p>
        </p:txBody>
      </p:sp>
      <p:sp>
        <p:nvSpPr>
          <p:cNvPr id="27" name="Text 25"/>
          <p:cNvSpPr txBox="1"/>
          <p:nvPr/>
        </p:nvSpPr>
        <p:spPr>
          <a:xfrm>
            <a:off x="7178040" y="4206240"/>
            <a:ext cx="4327855" cy="868680"/>
          </a:xfrm>
          <a:prstGeom prst="rect">
            <a:avLst/>
          </a:prstGeom>
          <a:noFill/>
          <a:ln/>
        </p:spPr>
        <p:txBody>
          <a:bodyPr wrap="square" lIns="0" tIns="0" rIns="0" bIns="0" rtlCol="0" anchor="t"/>
          <a:lstStyle/>
          <a:p>
            <a:pPr indent="0" marL="0">
              <a:lnSpc>
                <a:spcPts val="1300"/>
              </a:lnSpc>
              <a:buNone/>
            </a:pPr>
            <a:r>
              <a:rPr lang="en-US" sz="1050" i="1" dirty="0">
                <a:solidFill>
                  <a:srgbClr val="5C6B8A"/>
                </a:solidFill>
                <a:latin typeface="Calibri" pitchFamily="34" charset="0"/>
                <a:ea typeface="Calibri" pitchFamily="34" charset="-122"/>
                <a:cs typeface="Calibri" pitchFamily="34" charset="-120"/>
              </a:rPr>
              <a:t>fp32 (números “cheios”, mais lento, sem esse risco) ou bf16 (rápido como o fp16, mas sem o risco — indisponível nesta GPU).</a:t>
            </a:r>
            <a:endParaRPr lang="en-US" sz="1050" dirty="0"/>
          </a:p>
        </p:txBody>
      </p:sp>
      <p:sp>
        <p:nvSpPr>
          <p:cNvPr id="28" name="Shape 26"/>
          <p:cNvSpPr/>
          <p:nvPr/>
        </p:nvSpPr>
        <p:spPr>
          <a:xfrm>
            <a:off x="548640" y="5166360"/>
            <a:ext cx="2377440" cy="1051560"/>
          </a:xfrm>
          <a:prstGeom prst="rect">
            <a:avLst/>
          </a:prstGeom>
          <a:solidFill>
            <a:srgbClr val="FFFFFF"/>
          </a:solidFill>
          <a:ln/>
        </p:spPr>
      </p:sp>
      <p:sp>
        <p:nvSpPr>
          <p:cNvPr id="29" name="Shape 27"/>
          <p:cNvSpPr/>
          <p:nvPr/>
        </p:nvSpPr>
        <p:spPr>
          <a:xfrm>
            <a:off x="2926080" y="5166360"/>
            <a:ext cx="4114800" cy="1051560"/>
          </a:xfrm>
          <a:prstGeom prst="rect">
            <a:avLst/>
          </a:prstGeom>
          <a:solidFill>
            <a:srgbClr val="FFFFFF"/>
          </a:solidFill>
          <a:ln/>
        </p:spPr>
      </p:sp>
      <p:sp>
        <p:nvSpPr>
          <p:cNvPr id="30" name="Shape 28"/>
          <p:cNvSpPr/>
          <p:nvPr/>
        </p:nvSpPr>
        <p:spPr>
          <a:xfrm>
            <a:off x="7040880" y="5166360"/>
            <a:ext cx="4602175" cy="1051560"/>
          </a:xfrm>
          <a:prstGeom prst="rect">
            <a:avLst/>
          </a:prstGeom>
          <a:solidFill>
            <a:srgbClr val="FFFFFF"/>
          </a:solidFill>
          <a:ln/>
        </p:spPr>
      </p:sp>
      <p:sp>
        <p:nvSpPr>
          <p:cNvPr id="31" name="Text 29"/>
          <p:cNvSpPr txBox="1"/>
          <p:nvPr/>
        </p:nvSpPr>
        <p:spPr>
          <a:xfrm>
            <a:off x="685800" y="5257800"/>
            <a:ext cx="2103120" cy="868680"/>
          </a:xfrm>
          <a:prstGeom prst="rect">
            <a:avLst/>
          </a:prstGeom>
          <a:noFill/>
          <a:ln/>
        </p:spPr>
        <p:txBody>
          <a:bodyPr wrap="square" lIns="0" tIns="0" rIns="0" bIns="0" rtlCol="0" anchor="t"/>
          <a:lstStyle/>
          <a:p>
            <a:pPr indent="0" marL="0">
              <a:lnSpc>
                <a:spcPts val="1500"/>
              </a:lnSpc>
              <a:buNone/>
            </a:pPr>
            <a:r>
              <a:rPr lang="en-US" sz="1250" b="1" dirty="0">
                <a:solidFill>
                  <a:srgbClr val="1E2761"/>
                </a:solidFill>
                <a:latin typeface="Calibri" pitchFamily="34" charset="0"/>
                <a:ea typeface="Calibri" pitchFamily="34" charset="-122"/>
                <a:cs typeface="Calibri" pitchFamily="34" charset="-120"/>
              </a:rPr>
              <a:t>Warm-up
</a:t>
            </a:r>
            <a:pPr indent="0" marL="0">
              <a:lnSpc>
                <a:spcPts val="1500"/>
              </a:lnSpc>
              <a:buNone/>
            </a:pPr>
            <a:r>
              <a:rPr lang="en-US" sz="1100" b="1" dirty="0">
                <a:solidFill>
                  <a:srgbClr val="E8A33D"/>
                </a:solidFill>
                <a:latin typeface="Calibri" pitchFamily="34" charset="0"/>
                <a:ea typeface="Calibri" pitchFamily="34" charset="-122"/>
                <a:cs typeface="Calibri" pitchFamily="34" charset="-120"/>
              </a:rPr>
              <a:t>10% dos passos iniciais</a:t>
            </a:r>
            <a:endParaRPr lang="en-US" sz="1250" dirty="0"/>
          </a:p>
        </p:txBody>
      </p:sp>
      <p:sp>
        <p:nvSpPr>
          <p:cNvPr id="32" name="Text 30"/>
          <p:cNvSpPr txBox="1"/>
          <p:nvPr/>
        </p:nvSpPr>
        <p:spPr>
          <a:xfrm>
            <a:off x="3063240" y="5257800"/>
            <a:ext cx="3840480" cy="868680"/>
          </a:xfrm>
          <a:prstGeom prst="rect">
            <a:avLst/>
          </a:prstGeom>
          <a:noFill/>
          <a:ln/>
        </p:spPr>
        <p:txBody>
          <a:bodyPr wrap="square" lIns="0" tIns="0" rIns="0" bIns="0" rtlCol="0" anchor="t"/>
          <a:lstStyle/>
          <a:p>
            <a:pPr indent="0" marL="0">
              <a:lnSpc>
                <a:spcPts val="1300"/>
              </a:lnSpc>
              <a:buNone/>
            </a:pPr>
            <a:r>
              <a:rPr lang="en-US" sz="1050" dirty="0">
                <a:solidFill>
                  <a:srgbClr val="1A1A2E"/>
                </a:solidFill>
                <a:latin typeface="Calibri" pitchFamily="34" charset="0"/>
                <a:ea typeface="Calibri" pitchFamily="34" charset="-122"/>
                <a:cs typeface="Calibri" pitchFamily="34" charset="-120"/>
              </a:rPr>
              <a:t>no começo do treino o modelo ainda está “cego”; dar um passo grande de uma vez pode desestabilizá-lo. Começar pequeno e subir aos poucos evita isso.</a:t>
            </a:r>
            <a:endParaRPr lang="en-US" sz="1050" dirty="0"/>
          </a:p>
        </p:txBody>
      </p:sp>
      <p:sp>
        <p:nvSpPr>
          <p:cNvPr id="33" name="Text 31"/>
          <p:cNvSpPr txBox="1"/>
          <p:nvPr/>
        </p:nvSpPr>
        <p:spPr>
          <a:xfrm>
            <a:off x="7178040" y="5257800"/>
            <a:ext cx="4327855" cy="868680"/>
          </a:xfrm>
          <a:prstGeom prst="rect">
            <a:avLst/>
          </a:prstGeom>
          <a:noFill/>
          <a:ln/>
        </p:spPr>
        <p:txBody>
          <a:bodyPr wrap="square" lIns="0" tIns="0" rIns="0" bIns="0" rtlCol="0" anchor="t"/>
          <a:lstStyle/>
          <a:p>
            <a:pPr indent="0" marL="0">
              <a:lnSpc>
                <a:spcPts val="1300"/>
              </a:lnSpc>
              <a:buNone/>
            </a:pPr>
            <a:r>
              <a:rPr lang="en-US" sz="1050" i="1" dirty="0">
                <a:solidFill>
                  <a:srgbClr val="5C6B8A"/>
                </a:solidFill>
                <a:latin typeface="Calibri" pitchFamily="34" charset="0"/>
                <a:ea typeface="Calibri" pitchFamily="34" charset="-122"/>
                <a:cs typeface="Calibri" pitchFamily="34" charset="-120"/>
              </a:rPr>
              <a:t>sem warm-up (o artigo não precisa, pois não usa fp16) — testamos, e o treino ficou instável logo no início.</a:t>
            </a:r>
            <a:endParaRPr lang="en-US" sz="1050" dirty="0"/>
          </a:p>
        </p:txBody>
      </p:sp>
      <p:sp>
        <p:nvSpPr>
          <p:cNvPr id="35" name="Text 32"/>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TREINAMENTO</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Hiperparâmetros: orçamento e repetibilidade</a:t>
            </a:r>
            <a:endParaRPr lang="en-US" sz="3200" dirty="0"/>
          </a:p>
        </p:txBody>
      </p:sp>
      <p:sp>
        <p:nvSpPr>
          <p:cNvPr id="4" name="Shape 2"/>
          <p:cNvSpPr/>
          <p:nvPr/>
        </p:nvSpPr>
        <p:spPr>
          <a:xfrm>
            <a:off x="548640" y="1600200"/>
            <a:ext cx="2377440" cy="365760"/>
          </a:xfrm>
          <a:prstGeom prst="rect">
            <a:avLst/>
          </a:prstGeom>
          <a:solidFill>
            <a:srgbClr val="1E2761"/>
          </a:solidFill>
          <a:ln/>
        </p:spPr>
      </p:sp>
      <p:sp>
        <p:nvSpPr>
          <p:cNvPr id="5" name="Text 3"/>
          <p:cNvSpPr txBox="1"/>
          <p:nvPr/>
        </p:nvSpPr>
        <p:spPr>
          <a:xfrm>
            <a:off x="685800" y="1600200"/>
            <a:ext cx="2103120" cy="365760"/>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HIPERPARÂMETRO</a:t>
            </a:r>
            <a:endParaRPr lang="en-US" sz="1050" dirty="0"/>
          </a:p>
        </p:txBody>
      </p:sp>
      <p:sp>
        <p:nvSpPr>
          <p:cNvPr id="6" name="Shape 4"/>
          <p:cNvSpPr/>
          <p:nvPr/>
        </p:nvSpPr>
        <p:spPr>
          <a:xfrm>
            <a:off x="2926080" y="1600200"/>
            <a:ext cx="4114800" cy="365760"/>
          </a:xfrm>
          <a:prstGeom prst="rect">
            <a:avLst/>
          </a:prstGeom>
          <a:solidFill>
            <a:srgbClr val="1E2761"/>
          </a:solidFill>
          <a:ln/>
        </p:spPr>
      </p:sp>
      <p:sp>
        <p:nvSpPr>
          <p:cNvPr id="7" name="Text 5"/>
          <p:cNvSpPr txBox="1"/>
          <p:nvPr/>
        </p:nvSpPr>
        <p:spPr>
          <a:xfrm>
            <a:off x="3063240" y="1600200"/>
            <a:ext cx="3840480" cy="365760"/>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POR QUE ESSA ESCOLHA</a:t>
            </a:r>
            <a:endParaRPr lang="en-US" sz="1050" dirty="0"/>
          </a:p>
        </p:txBody>
      </p:sp>
      <p:sp>
        <p:nvSpPr>
          <p:cNvPr id="8" name="Shape 6"/>
          <p:cNvSpPr/>
          <p:nvPr/>
        </p:nvSpPr>
        <p:spPr>
          <a:xfrm>
            <a:off x="7040880" y="1600200"/>
            <a:ext cx="4602175" cy="365760"/>
          </a:xfrm>
          <a:prstGeom prst="rect">
            <a:avLst/>
          </a:prstGeom>
          <a:solidFill>
            <a:srgbClr val="1E2761"/>
          </a:solidFill>
          <a:ln/>
        </p:spPr>
      </p:sp>
      <p:sp>
        <p:nvSpPr>
          <p:cNvPr id="9" name="Text 7"/>
          <p:cNvSpPr txBox="1"/>
          <p:nvPr/>
        </p:nvSpPr>
        <p:spPr>
          <a:xfrm>
            <a:off x="7178040" y="1600200"/>
            <a:ext cx="4327855" cy="365760"/>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ALTERNATIVA CONSIDERADA</a:t>
            </a:r>
            <a:endParaRPr lang="en-US" sz="1050" dirty="0"/>
          </a:p>
        </p:txBody>
      </p:sp>
      <p:sp>
        <p:nvSpPr>
          <p:cNvPr id="10" name="Shape 8"/>
          <p:cNvSpPr/>
          <p:nvPr/>
        </p:nvSpPr>
        <p:spPr>
          <a:xfrm>
            <a:off x="548640" y="1965960"/>
            <a:ext cx="2377440" cy="868680"/>
          </a:xfrm>
          <a:prstGeom prst="rect">
            <a:avLst/>
          </a:prstGeom>
          <a:solidFill>
            <a:srgbClr val="F0F4FC"/>
          </a:solidFill>
          <a:ln/>
        </p:spPr>
      </p:sp>
      <p:sp>
        <p:nvSpPr>
          <p:cNvPr id="11" name="Shape 9"/>
          <p:cNvSpPr/>
          <p:nvPr/>
        </p:nvSpPr>
        <p:spPr>
          <a:xfrm>
            <a:off x="2926080" y="1965960"/>
            <a:ext cx="4114800" cy="868680"/>
          </a:xfrm>
          <a:prstGeom prst="rect">
            <a:avLst/>
          </a:prstGeom>
          <a:solidFill>
            <a:srgbClr val="F0F4FC"/>
          </a:solidFill>
          <a:ln/>
        </p:spPr>
      </p:sp>
      <p:sp>
        <p:nvSpPr>
          <p:cNvPr id="12" name="Shape 10"/>
          <p:cNvSpPr/>
          <p:nvPr/>
        </p:nvSpPr>
        <p:spPr>
          <a:xfrm>
            <a:off x="7040880" y="1965960"/>
            <a:ext cx="4602175" cy="868680"/>
          </a:xfrm>
          <a:prstGeom prst="rect">
            <a:avLst/>
          </a:prstGeom>
          <a:solidFill>
            <a:srgbClr val="F0F4FC"/>
          </a:solidFill>
          <a:ln/>
        </p:spPr>
      </p:sp>
      <p:sp>
        <p:nvSpPr>
          <p:cNvPr id="13" name="Text 11"/>
          <p:cNvSpPr txBox="1"/>
          <p:nvPr/>
        </p:nvSpPr>
        <p:spPr>
          <a:xfrm>
            <a:off x="685800" y="2039112"/>
            <a:ext cx="2103120" cy="722376"/>
          </a:xfrm>
          <a:prstGeom prst="rect">
            <a:avLst/>
          </a:prstGeom>
          <a:noFill/>
          <a:ln/>
        </p:spPr>
        <p:txBody>
          <a:bodyPr wrap="square" lIns="0" tIns="0" rIns="0" bIns="0" rtlCol="0" anchor="t"/>
          <a:lstStyle/>
          <a:p>
            <a:pPr indent="0" marL="0">
              <a:lnSpc>
                <a:spcPts val="1400"/>
              </a:lnSpc>
              <a:buNone/>
            </a:pPr>
            <a:r>
              <a:rPr lang="en-US" sz="1200" b="1" dirty="0">
                <a:solidFill>
                  <a:srgbClr val="1E2761"/>
                </a:solidFill>
                <a:latin typeface="Calibri" pitchFamily="34" charset="0"/>
                <a:ea typeface="Calibri" pitchFamily="34" charset="-122"/>
                <a:cs typeface="Calibri" pitchFamily="34" charset="-120"/>
              </a:rPr>
              <a:t>Batch efetivo
</a:t>
            </a:r>
            <a:pPr indent="0" marL="0">
              <a:lnSpc>
                <a:spcPts val="1400"/>
              </a:lnSpc>
              <a:buNone/>
            </a:pPr>
            <a:r>
              <a:rPr lang="en-US" sz="1050" b="1" dirty="0">
                <a:solidFill>
                  <a:srgbClr val="E8A33D"/>
                </a:solidFill>
                <a:latin typeface="Calibri" pitchFamily="34" charset="0"/>
                <a:ea typeface="Calibri" pitchFamily="34" charset="-122"/>
                <a:cs typeface="Calibri" pitchFamily="34" charset="-120"/>
              </a:rPr>
              <a:t>64 (16 × 4 acumulação)</a:t>
            </a:r>
            <a:endParaRPr lang="en-US" sz="1200" dirty="0"/>
          </a:p>
        </p:txBody>
      </p:sp>
      <p:sp>
        <p:nvSpPr>
          <p:cNvPr id="14" name="Text 12"/>
          <p:cNvSpPr txBox="1"/>
          <p:nvPr/>
        </p:nvSpPr>
        <p:spPr>
          <a:xfrm>
            <a:off x="3063240" y="2039112"/>
            <a:ext cx="3840480" cy="722376"/>
          </a:xfrm>
          <a:prstGeom prst="rect">
            <a:avLst/>
          </a:prstGeom>
          <a:noFill/>
          <a:ln/>
        </p:spPr>
        <p:txBody>
          <a:bodyPr wrap="square" lIns="0" tIns="0" rIns="0" bIns="0" rtlCol="0" anchor="t"/>
          <a:lstStyle/>
          <a:p>
            <a:pPr indent="0" marL="0">
              <a:lnSpc>
                <a:spcPts val="1200"/>
              </a:lnSpc>
              <a:buNone/>
            </a:pPr>
            <a:r>
              <a:rPr lang="en-US" sz="1000" dirty="0">
                <a:solidFill>
                  <a:srgbClr val="1A1A2E"/>
                </a:solidFill>
                <a:latin typeface="Calibri" pitchFamily="34" charset="0"/>
                <a:ea typeface="Calibri" pitchFamily="34" charset="-122"/>
                <a:cs typeface="Calibri" pitchFamily="34" charset="-120"/>
              </a:rPr>
              <a:t>ver mais exemplos antes de ajustar os pesos dá uma média mais confiável de para onde mudar. Como a GPU não cabe 64 de uma vez, somamos o aprendizado de 4 rodadas menores antes de atualizar — no fim dá no mesmo.</a:t>
            </a:r>
            <a:endParaRPr lang="en-US" sz="1000" dirty="0"/>
          </a:p>
        </p:txBody>
      </p:sp>
      <p:sp>
        <p:nvSpPr>
          <p:cNvPr id="15" name="Text 13"/>
          <p:cNvSpPr txBox="1"/>
          <p:nvPr/>
        </p:nvSpPr>
        <p:spPr>
          <a:xfrm>
            <a:off x="7178040" y="2039112"/>
            <a:ext cx="4327855" cy="722376"/>
          </a:xfrm>
          <a:prstGeom prst="rect">
            <a:avLst/>
          </a:prstGeom>
          <a:noFill/>
          <a:ln/>
        </p:spPr>
        <p:txBody>
          <a:bodyPr wrap="square" lIns="0" tIns="0" rIns="0" bIns="0" rtlCol="0" anchor="t"/>
          <a:lstStyle/>
          <a:p>
            <a:pPr indent="0" marL="0">
              <a:lnSpc>
                <a:spcPts val="1200"/>
              </a:lnSpc>
              <a:buNone/>
            </a:pPr>
            <a:r>
              <a:rPr lang="en-US" sz="1000" i="1" dirty="0">
                <a:solidFill>
                  <a:srgbClr val="5C6B8A"/>
                </a:solidFill>
                <a:latin typeface="Calibri" pitchFamily="34" charset="0"/>
                <a:ea typeface="Calibri" pitchFamily="34" charset="-122"/>
                <a:cs typeface="Calibri" pitchFamily="34" charset="-120"/>
              </a:rPr>
              <a:t>batch menor, sem essa soma — atualiza mais rápido, mas com uma média menos confiável a cada passo.</a:t>
            </a:r>
            <a:endParaRPr lang="en-US" sz="1000" dirty="0"/>
          </a:p>
        </p:txBody>
      </p:sp>
      <p:sp>
        <p:nvSpPr>
          <p:cNvPr id="16" name="Shape 14"/>
          <p:cNvSpPr/>
          <p:nvPr/>
        </p:nvSpPr>
        <p:spPr>
          <a:xfrm>
            <a:off x="548640" y="2834640"/>
            <a:ext cx="2377440" cy="868680"/>
          </a:xfrm>
          <a:prstGeom prst="rect">
            <a:avLst/>
          </a:prstGeom>
          <a:solidFill>
            <a:srgbClr val="FFFFFF"/>
          </a:solidFill>
          <a:ln/>
        </p:spPr>
      </p:sp>
      <p:sp>
        <p:nvSpPr>
          <p:cNvPr id="17" name="Shape 15"/>
          <p:cNvSpPr/>
          <p:nvPr/>
        </p:nvSpPr>
        <p:spPr>
          <a:xfrm>
            <a:off x="2926080" y="2834640"/>
            <a:ext cx="4114800" cy="868680"/>
          </a:xfrm>
          <a:prstGeom prst="rect">
            <a:avLst/>
          </a:prstGeom>
          <a:solidFill>
            <a:srgbClr val="FFFFFF"/>
          </a:solidFill>
          <a:ln/>
        </p:spPr>
      </p:sp>
      <p:sp>
        <p:nvSpPr>
          <p:cNvPr id="18" name="Shape 16"/>
          <p:cNvSpPr/>
          <p:nvPr/>
        </p:nvSpPr>
        <p:spPr>
          <a:xfrm>
            <a:off x="7040880" y="2834640"/>
            <a:ext cx="4602175" cy="868680"/>
          </a:xfrm>
          <a:prstGeom prst="rect">
            <a:avLst/>
          </a:prstGeom>
          <a:solidFill>
            <a:srgbClr val="FFFFFF"/>
          </a:solidFill>
          <a:ln/>
        </p:spPr>
      </p:sp>
      <p:sp>
        <p:nvSpPr>
          <p:cNvPr id="19" name="Text 17"/>
          <p:cNvSpPr txBox="1"/>
          <p:nvPr/>
        </p:nvSpPr>
        <p:spPr>
          <a:xfrm>
            <a:off x="685800" y="2907792"/>
            <a:ext cx="2103120" cy="722376"/>
          </a:xfrm>
          <a:prstGeom prst="rect">
            <a:avLst/>
          </a:prstGeom>
          <a:noFill/>
          <a:ln/>
        </p:spPr>
        <p:txBody>
          <a:bodyPr wrap="square" lIns="0" tIns="0" rIns="0" bIns="0" rtlCol="0" anchor="t"/>
          <a:lstStyle/>
          <a:p>
            <a:pPr indent="0" marL="0">
              <a:lnSpc>
                <a:spcPts val="1400"/>
              </a:lnSpc>
              <a:buNone/>
            </a:pPr>
            <a:r>
              <a:rPr lang="en-US" sz="1200" b="1" dirty="0">
                <a:solidFill>
                  <a:srgbClr val="1E2761"/>
                </a:solidFill>
                <a:latin typeface="Calibri" pitchFamily="34" charset="0"/>
                <a:ea typeface="Calibri" pitchFamily="34" charset="-122"/>
                <a:cs typeface="Calibri" pitchFamily="34" charset="-120"/>
              </a:rPr>
              <a:t>Tokens encoder / decoder
</a:t>
            </a:r>
            <a:pPr indent="0" marL="0">
              <a:lnSpc>
                <a:spcPts val="1400"/>
              </a:lnSpc>
              <a:buNone/>
            </a:pPr>
            <a:r>
              <a:rPr lang="en-US" sz="1050" b="1" dirty="0">
                <a:solidFill>
                  <a:srgbClr val="E8A33D"/>
                </a:solidFill>
                <a:latin typeface="Calibri" pitchFamily="34" charset="0"/>
                <a:ea typeface="Calibri" pitchFamily="34" charset="-122"/>
                <a:cs typeface="Calibri" pitchFamily="34" charset="-120"/>
              </a:rPr>
              <a:t>512 / 128</a:t>
            </a:r>
            <a:endParaRPr lang="en-US" sz="1200" dirty="0"/>
          </a:p>
        </p:txBody>
      </p:sp>
      <p:sp>
        <p:nvSpPr>
          <p:cNvPr id="20" name="Text 18"/>
          <p:cNvSpPr txBox="1"/>
          <p:nvPr/>
        </p:nvSpPr>
        <p:spPr>
          <a:xfrm>
            <a:off x="3063240" y="2907792"/>
            <a:ext cx="3840480" cy="722376"/>
          </a:xfrm>
          <a:prstGeom prst="rect">
            <a:avLst/>
          </a:prstGeom>
          <a:noFill/>
          <a:ln/>
        </p:spPr>
        <p:txBody>
          <a:bodyPr wrap="square" lIns="0" tIns="0" rIns="0" bIns="0" rtlCol="0" anchor="t"/>
          <a:lstStyle/>
          <a:p>
            <a:pPr indent="0" marL="0">
              <a:lnSpc>
                <a:spcPts val="1200"/>
              </a:lnSpc>
              <a:buNone/>
            </a:pPr>
            <a:r>
              <a:rPr lang="en-US" sz="1000" dirty="0">
                <a:solidFill>
                  <a:srgbClr val="1A1A2E"/>
                </a:solidFill>
                <a:latin typeface="Calibri" pitchFamily="34" charset="0"/>
                <a:ea typeface="Calibri" pitchFamily="34" charset="-122"/>
                <a:cs typeface="Calibri" pitchFamily="34" charset="-120"/>
              </a:rPr>
              <a:t>é o quanto de texto o modelo consegue “ver” de uma vez — o que passa disso é cortado, e ele nunca sabe que existia.</a:t>
            </a:r>
            <a:endParaRPr lang="en-US" sz="1000" dirty="0"/>
          </a:p>
        </p:txBody>
      </p:sp>
      <p:sp>
        <p:nvSpPr>
          <p:cNvPr id="21" name="Text 19"/>
          <p:cNvSpPr txBox="1"/>
          <p:nvPr/>
        </p:nvSpPr>
        <p:spPr>
          <a:xfrm>
            <a:off x="7178040" y="2907792"/>
            <a:ext cx="4327855" cy="722376"/>
          </a:xfrm>
          <a:prstGeom prst="rect">
            <a:avLst/>
          </a:prstGeom>
          <a:noFill/>
          <a:ln/>
        </p:spPr>
        <p:txBody>
          <a:bodyPr wrap="square" lIns="0" tIns="0" rIns="0" bIns="0" rtlCol="0" anchor="t"/>
          <a:lstStyle/>
          <a:p>
            <a:pPr indent="0" marL="0">
              <a:lnSpc>
                <a:spcPts val="1200"/>
              </a:lnSpc>
              <a:buNone/>
            </a:pPr>
            <a:r>
              <a:rPr lang="en-US" sz="1000" i="1" dirty="0">
                <a:solidFill>
                  <a:srgbClr val="5C6B8A"/>
                </a:solidFill>
                <a:latin typeface="Calibri" pitchFamily="34" charset="0"/>
                <a:ea typeface="Calibri" pitchFamily="34" charset="-122"/>
                <a:cs typeface="Calibri" pitchFamily="34" charset="-120"/>
              </a:rPr>
              <a:t>limite menor cortaria contexto que o modelo precisa; maior gastaria à toa, já que quase nenhum texto chega perto desse tamanho.</a:t>
            </a:r>
            <a:endParaRPr lang="en-US" sz="1000" dirty="0"/>
          </a:p>
        </p:txBody>
      </p:sp>
      <p:sp>
        <p:nvSpPr>
          <p:cNvPr id="22" name="Shape 20"/>
          <p:cNvSpPr/>
          <p:nvPr/>
        </p:nvSpPr>
        <p:spPr>
          <a:xfrm>
            <a:off x="548640" y="3703320"/>
            <a:ext cx="2377440" cy="868680"/>
          </a:xfrm>
          <a:prstGeom prst="rect">
            <a:avLst/>
          </a:prstGeom>
          <a:solidFill>
            <a:srgbClr val="F0F4FC"/>
          </a:solidFill>
          <a:ln/>
        </p:spPr>
      </p:sp>
      <p:sp>
        <p:nvSpPr>
          <p:cNvPr id="23" name="Shape 21"/>
          <p:cNvSpPr/>
          <p:nvPr/>
        </p:nvSpPr>
        <p:spPr>
          <a:xfrm>
            <a:off x="2926080" y="3703320"/>
            <a:ext cx="4114800" cy="868680"/>
          </a:xfrm>
          <a:prstGeom prst="rect">
            <a:avLst/>
          </a:prstGeom>
          <a:solidFill>
            <a:srgbClr val="F0F4FC"/>
          </a:solidFill>
          <a:ln/>
        </p:spPr>
      </p:sp>
      <p:sp>
        <p:nvSpPr>
          <p:cNvPr id="24" name="Shape 22"/>
          <p:cNvSpPr/>
          <p:nvPr/>
        </p:nvSpPr>
        <p:spPr>
          <a:xfrm>
            <a:off x="7040880" y="3703320"/>
            <a:ext cx="4602175" cy="868680"/>
          </a:xfrm>
          <a:prstGeom prst="rect">
            <a:avLst/>
          </a:prstGeom>
          <a:solidFill>
            <a:srgbClr val="F0F4FC"/>
          </a:solidFill>
          <a:ln/>
        </p:spPr>
      </p:sp>
      <p:sp>
        <p:nvSpPr>
          <p:cNvPr id="25" name="Text 23"/>
          <p:cNvSpPr txBox="1"/>
          <p:nvPr/>
        </p:nvSpPr>
        <p:spPr>
          <a:xfrm>
            <a:off x="685800" y="3776472"/>
            <a:ext cx="2103120" cy="722376"/>
          </a:xfrm>
          <a:prstGeom prst="rect">
            <a:avLst/>
          </a:prstGeom>
          <a:noFill/>
          <a:ln/>
        </p:spPr>
        <p:txBody>
          <a:bodyPr wrap="square" lIns="0" tIns="0" rIns="0" bIns="0" rtlCol="0" anchor="t"/>
          <a:lstStyle/>
          <a:p>
            <a:pPr indent="0" marL="0">
              <a:lnSpc>
                <a:spcPts val="1400"/>
              </a:lnSpc>
              <a:buNone/>
            </a:pPr>
            <a:r>
              <a:rPr lang="en-US" sz="1200" b="1" dirty="0">
                <a:solidFill>
                  <a:srgbClr val="1E2761"/>
                </a:solidFill>
                <a:latin typeface="Calibri" pitchFamily="34" charset="0"/>
                <a:ea typeface="Calibri" pitchFamily="34" charset="-122"/>
                <a:cs typeface="Calibri" pitchFamily="34" charset="-120"/>
              </a:rPr>
              <a:t>Épocas (máximo)
</a:t>
            </a:r>
            <a:pPr indent="0" marL="0">
              <a:lnSpc>
                <a:spcPts val="1400"/>
              </a:lnSpc>
              <a:buNone/>
            </a:pPr>
            <a:r>
              <a:rPr lang="en-US" sz="1050" b="1" dirty="0">
                <a:solidFill>
                  <a:srgbClr val="E8A33D"/>
                </a:solidFill>
                <a:latin typeface="Calibri" pitchFamily="34" charset="0"/>
                <a:ea typeface="Calibri" pitchFamily="34" charset="-122"/>
                <a:cs typeface="Calibri" pitchFamily="34" charset="-120"/>
              </a:rPr>
              <a:t>5, com early stopping</a:t>
            </a:r>
            <a:endParaRPr lang="en-US" sz="1200" dirty="0"/>
          </a:p>
        </p:txBody>
      </p:sp>
      <p:sp>
        <p:nvSpPr>
          <p:cNvPr id="26" name="Text 24"/>
          <p:cNvSpPr txBox="1"/>
          <p:nvPr/>
        </p:nvSpPr>
        <p:spPr>
          <a:xfrm>
            <a:off x="3063240" y="3776472"/>
            <a:ext cx="3840480" cy="722376"/>
          </a:xfrm>
          <a:prstGeom prst="rect">
            <a:avLst/>
          </a:prstGeom>
          <a:noFill/>
          <a:ln/>
        </p:spPr>
        <p:txBody>
          <a:bodyPr wrap="square" lIns="0" tIns="0" rIns="0" bIns="0" rtlCol="0" anchor="t"/>
          <a:lstStyle/>
          <a:p>
            <a:pPr indent="0" marL="0">
              <a:lnSpc>
                <a:spcPts val="1200"/>
              </a:lnSpc>
              <a:buNone/>
            </a:pPr>
            <a:r>
              <a:rPr lang="en-US" sz="1000" dirty="0">
                <a:solidFill>
                  <a:srgbClr val="1A1A2E"/>
                </a:solidFill>
                <a:latin typeface="Calibri" pitchFamily="34" charset="0"/>
                <a:ea typeface="Calibri" pitchFamily="34" charset="-122"/>
                <a:cs typeface="Calibri" pitchFamily="34" charset="-120"/>
              </a:rPr>
              <a:t>treinar demais faz o modelo parar de aprender de verdade e começar a “decorar” os exemplos de treino. Reduzimos o teto do artigo (50) e deixamos o modelo parar sozinho, na hora certa.</a:t>
            </a:r>
            <a:endParaRPr lang="en-US" sz="1000" dirty="0"/>
          </a:p>
        </p:txBody>
      </p:sp>
      <p:sp>
        <p:nvSpPr>
          <p:cNvPr id="27" name="Text 25"/>
          <p:cNvSpPr txBox="1"/>
          <p:nvPr/>
        </p:nvSpPr>
        <p:spPr>
          <a:xfrm>
            <a:off x="7178040" y="3776472"/>
            <a:ext cx="4327855" cy="722376"/>
          </a:xfrm>
          <a:prstGeom prst="rect">
            <a:avLst/>
          </a:prstGeom>
          <a:noFill/>
          <a:ln/>
        </p:spPr>
        <p:txBody>
          <a:bodyPr wrap="square" lIns="0" tIns="0" rIns="0" bIns="0" rtlCol="0" anchor="t"/>
          <a:lstStyle/>
          <a:p>
            <a:pPr indent="0" marL="0">
              <a:lnSpc>
                <a:spcPts val="1200"/>
              </a:lnSpc>
              <a:buNone/>
            </a:pPr>
            <a:r>
              <a:rPr lang="en-US" sz="1000" i="1" dirty="0">
                <a:solidFill>
                  <a:srgbClr val="5C6B8A"/>
                </a:solidFill>
                <a:latin typeface="Calibri" pitchFamily="34" charset="0"/>
                <a:ea typeface="Calibri" pitchFamily="34" charset="-122"/>
                <a:cs typeface="Calibri" pitchFamily="34" charset="-120"/>
              </a:rPr>
              <a:t>número fixo de rodadas, sem parar sozinho — arriscaria parar cedo demais ou tarde demais.</a:t>
            </a:r>
            <a:endParaRPr lang="en-US" sz="1000" dirty="0"/>
          </a:p>
        </p:txBody>
      </p:sp>
      <p:sp>
        <p:nvSpPr>
          <p:cNvPr id="28" name="Shape 26"/>
          <p:cNvSpPr/>
          <p:nvPr/>
        </p:nvSpPr>
        <p:spPr>
          <a:xfrm>
            <a:off x="548640" y="4572000"/>
            <a:ext cx="2377440" cy="868680"/>
          </a:xfrm>
          <a:prstGeom prst="rect">
            <a:avLst/>
          </a:prstGeom>
          <a:solidFill>
            <a:srgbClr val="FFFFFF"/>
          </a:solidFill>
          <a:ln/>
        </p:spPr>
      </p:sp>
      <p:sp>
        <p:nvSpPr>
          <p:cNvPr id="29" name="Shape 27"/>
          <p:cNvSpPr/>
          <p:nvPr/>
        </p:nvSpPr>
        <p:spPr>
          <a:xfrm>
            <a:off x="2926080" y="4572000"/>
            <a:ext cx="4114800" cy="868680"/>
          </a:xfrm>
          <a:prstGeom prst="rect">
            <a:avLst/>
          </a:prstGeom>
          <a:solidFill>
            <a:srgbClr val="FFFFFF"/>
          </a:solidFill>
          <a:ln/>
        </p:spPr>
      </p:sp>
      <p:sp>
        <p:nvSpPr>
          <p:cNvPr id="30" name="Shape 28"/>
          <p:cNvSpPr/>
          <p:nvPr/>
        </p:nvSpPr>
        <p:spPr>
          <a:xfrm>
            <a:off x="7040880" y="4572000"/>
            <a:ext cx="4602175" cy="868680"/>
          </a:xfrm>
          <a:prstGeom prst="rect">
            <a:avLst/>
          </a:prstGeom>
          <a:solidFill>
            <a:srgbClr val="FFFFFF"/>
          </a:solidFill>
          <a:ln/>
        </p:spPr>
      </p:sp>
      <p:sp>
        <p:nvSpPr>
          <p:cNvPr id="31" name="Text 29"/>
          <p:cNvSpPr txBox="1"/>
          <p:nvPr/>
        </p:nvSpPr>
        <p:spPr>
          <a:xfrm>
            <a:off x="685800" y="4645152"/>
            <a:ext cx="2103120" cy="722376"/>
          </a:xfrm>
          <a:prstGeom prst="rect">
            <a:avLst/>
          </a:prstGeom>
          <a:noFill/>
          <a:ln/>
        </p:spPr>
        <p:txBody>
          <a:bodyPr wrap="square" lIns="0" tIns="0" rIns="0" bIns="0" rtlCol="0" anchor="t"/>
          <a:lstStyle/>
          <a:p>
            <a:pPr indent="0" marL="0">
              <a:lnSpc>
                <a:spcPts val="1400"/>
              </a:lnSpc>
              <a:buNone/>
            </a:pPr>
            <a:r>
              <a:rPr lang="en-US" sz="1200" b="1" dirty="0">
                <a:solidFill>
                  <a:srgbClr val="1E2761"/>
                </a:solidFill>
                <a:latin typeface="Calibri" pitchFamily="34" charset="0"/>
                <a:ea typeface="Calibri" pitchFamily="34" charset="-122"/>
                <a:cs typeface="Calibri" pitchFamily="34" charset="-120"/>
              </a:rPr>
              <a:t>Critério de parada
</a:t>
            </a:r>
            <a:pPr indent="0" marL="0">
              <a:lnSpc>
                <a:spcPts val="1400"/>
              </a:lnSpc>
              <a:buNone/>
            </a:pPr>
            <a:r>
              <a:rPr lang="en-US" sz="1050" b="1" dirty="0">
                <a:solidFill>
                  <a:srgbClr val="E8A33D"/>
                </a:solidFill>
                <a:latin typeface="Calibri" pitchFamily="34" charset="0"/>
                <a:ea typeface="Calibri" pitchFamily="34" charset="-122"/>
                <a:cs typeface="Calibri" pitchFamily="34" charset="-120"/>
              </a:rPr>
              <a:t>eval_loss, paciência 3</a:t>
            </a:r>
            <a:endParaRPr lang="en-US" sz="1200" dirty="0"/>
          </a:p>
        </p:txBody>
      </p:sp>
      <p:sp>
        <p:nvSpPr>
          <p:cNvPr id="32" name="Text 30"/>
          <p:cNvSpPr txBox="1"/>
          <p:nvPr/>
        </p:nvSpPr>
        <p:spPr>
          <a:xfrm>
            <a:off x="3063240" y="4645152"/>
            <a:ext cx="3840480" cy="722376"/>
          </a:xfrm>
          <a:prstGeom prst="rect">
            <a:avLst/>
          </a:prstGeom>
          <a:noFill/>
          <a:ln/>
        </p:spPr>
        <p:txBody>
          <a:bodyPr wrap="square" lIns="0" tIns="0" rIns="0" bIns="0" rtlCol="0" anchor="t"/>
          <a:lstStyle/>
          <a:p>
            <a:pPr indent="0" marL="0">
              <a:lnSpc>
                <a:spcPts val="1200"/>
              </a:lnSpc>
              <a:buNone/>
            </a:pPr>
            <a:r>
              <a:rPr lang="en-US" sz="1000" dirty="0">
                <a:solidFill>
                  <a:srgbClr val="1A1A2E"/>
                </a:solidFill>
                <a:latin typeface="Calibri" pitchFamily="34" charset="0"/>
                <a:ea typeface="Calibri" pitchFamily="34" charset="-122"/>
                <a:cs typeface="Calibri" pitchFamily="34" charset="-120"/>
              </a:rPr>
              <a:t>mede se o modelo está acertando melhor a próxima palavra em exemplos que ele nunca viu — barato de checar e direto ao ponto.</a:t>
            </a:r>
            <a:endParaRPr lang="en-US" sz="1000" dirty="0"/>
          </a:p>
        </p:txBody>
      </p:sp>
      <p:sp>
        <p:nvSpPr>
          <p:cNvPr id="33" name="Text 31"/>
          <p:cNvSpPr txBox="1"/>
          <p:nvPr/>
        </p:nvSpPr>
        <p:spPr>
          <a:xfrm>
            <a:off x="7178040" y="4645152"/>
            <a:ext cx="4327855" cy="722376"/>
          </a:xfrm>
          <a:prstGeom prst="rect">
            <a:avLst/>
          </a:prstGeom>
          <a:noFill/>
          <a:ln/>
        </p:spPr>
        <p:txBody>
          <a:bodyPr wrap="square" lIns="0" tIns="0" rIns="0" bIns="0" rtlCol="0" anchor="t"/>
          <a:lstStyle/>
          <a:p>
            <a:pPr indent="0" marL="0">
              <a:lnSpc>
                <a:spcPts val="1200"/>
              </a:lnSpc>
              <a:buNone/>
            </a:pPr>
            <a:r>
              <a:rPr lang="en-US" sz="1000" i="1" dirty="0">
                <a:solidFill>
                  <a:srgbClr val="5C6B8A"/>
                </a:solidFill>
                <a:latin typeface="Calibri" pitchFamily="34" charset="0"/>
                <a:ea typeface="Calibri" pitchFamily="34" charset="-122"/>
                <a:cs typeface="Calibri" pitchFamily="34" charset="-120"/>
              </a:rPr>
              <a:t>medir a qualidade da pergunta gerada de fato (BLEU/ROUGE) seria mais fiel ao objetivo, mas mais caro de checar a cada rodada.</a:t>
            </a:r>
            <a:endParaRPr lang="en-US" sz="1000" dirty="0"/>
          </a:p>
        </p:txBody>
      </p:sp>
      <p:sp>
        <p:nvSpPr>
          <p:cNvPr id="34" name="Shape 32"/>
          <p:cNvSpPr/>
          <p:nvPr/>
        </p:nvSpPr>
        <p:spPr>
          <a:xfrm>
            <a:off x="548640" y="5440680"/>
            <a:ext cx="2377440" cy="868680"/>
          </a:xfrm>
          <a:prstGeom prst="rect">
            <a:avLst/>
          </a:prstGeom>
          <a:solidFill>
            <a:srgbClr val="F0F4FC"/>
          </a:solidFill>
          <a:ln/>
        </p:spPr>
      </p:sp>
      <p:sp>
        <p:nvSpPr>
          <p:cNvPr id="35" name="Shape 33"/>
          <p:cNvSpPr/>
          <p:nvPr/>
        </p:nvSpPr>
        <p:spPr>
          <a:xfrm>
            <a:off x="2926080" y="5440680"/>
            <a:ext cx="4114800" cy="868680"/>
          </a:xfrm>
          <a:prstGeom prst="rect">
            <a:avLst/>
          </a:prstGeom>
          <a:solidFill>
            <a:srgbClr val="F0F4FC"/>
          </a:solidFill>
          <a:ln/>
        </p:spPr>
      </p:sp>
      <p:sp>
        <p:nvSpPr>
          <p:cNvPr id="36" name="Shape 34"/>
          <p:cNvSpPr/>
          <p:nvPr/>
        </p:nvSpPr>
        <p:spPr>
          <a:xfrm>
            <a:off x="7040880" y="5440680"/>
            <a:ext cx="4602175" cy="868680"/>
          </a:xfrm>
          <a:prstGeom prst="rect">
            <a:avLst/>
          </a:prstGeom>
          <a:solidFill>
            <a:srgbClr val="F0F4FC"/>
          </a:solidFill>
          <a:ln/>
        </p:spPr>
      </p:sp>
      <p:sp>
        <p:nvSpPr>
          <p:cNvPr id="37" name="Text 35"/>
          <p:cNvSpPr txBox="1"/>
          <p:nvPr/>
        </p:nvSpPr>
        <p:spPr>
          <a:xfrm>
            <a:off x="685800" y="5513832"/>
            <a:ext cx="2103120" cy="722376"/>
          </a:xfrm>
          <a:prstGeom prst="rect">
            <a:avLst/>
          </a:prstGeom>
          <a:noFill/>
          <a:ln/>
        </p:spPr>
        <p:txBody>
          <a:bodyPr wrap="square" lIns="0" tIns="0" rIns="0" bIns="0" rtlCol="0" anchor="t"/>
          <a:lstStyle/>
          <a:p>
            <a:pPr indent="0" marL="0">
              <a:lnSpc>
                <a:spcPts val="1400"/>
              </a:lnSpc>
              <a:buNone/>
            </a:pPr>
            <a:r>
              <a:rPr lang="en-US" sz="1200" b="1" dirty="0">
                <a:solidFill>
                  <a:srgbClr val="1E2761"/>
                </a:solidFill>
                <a:latin typeface="Calibri" pitchFamily="34" charset="0"/>
                <a:ea typeface="Calibri" pitchFamily="34" charset="-122"/>
                <a:cs typeface="Calibri" pitchFamily="34" charset="-120"/>
              </a:rPr>
              <a:t>Semente (seed)
</a:t>
            </a:r>
            <a:pPr indent="0" marL="0">
              <a:lnSpc>
                <a:spcPts val="1400"/>
              </a:lnSpc>
              <a:buNone/>
            </a:pPr>
            <a:r>
              <a:rPr lang="en-US" sz="1050" b="1" dirty="0">
                <a:solidFill>
                  <a:srgbClr val="E8A33D"/>
                </a:solidFill>
                <a:latin typeface="Calibri" pitchFamily="34" charset="0"/>
                <a:ea typeface="Calibri" pitchFamily="34" charset="-122"/>
                <a:cs typeface="Calibri" pitchFamily="34" charset="-120"/>
              </a:rPr>
              <a:t>42</a:t>
            </a:r>
            <a:endParaRPr lang="en-US" sz="1200" dirty="0"/>
          </a:p>
        </p:txBody>
      </p:sp>
      <p:sp>
        <p:nvSpPr>
          <p:cNvPr id="38" name="Text 36"/>
          <p:cNvSpPr txBox="1"/>
          <p:nvPr/>
        </p:nvSpPr>
        <p:spPr>
          <a:xfrm>
            <a:off x="3063240" y="5513832"/>
            <a:ext cx="3840480" cy="722376"/>
          </a:xfrm>
          <a:prstGeom prst="rect">
            <a:avLst/>
          </a:prstGeom>
          <a:noFill/>
          <a:ln/>
        </p:spPr>
        <p:txBody>
          <a:bodyPr wrap="square" lIns="0" tIns="0" rIns="0" bIns="0" rtlCol="0" anchor="t"/>
          <a:lstStyle/>
          <a:p>
            <a:pPr indent="0" marL="0">
              <a:lnSpc>
                <a:spcPts val="1200"/>
              </a:lnSpc>
              <a:buNone/>
            </a:pPr>
            <a:r>
              <a:rPr lang="en-US" sz="1000" dirty="0">
                <a:solidFill>
                  <a:srgbClr val="1A1A2E"/>
                </a:solidFill>
                <a:latin typeface="Calibri" pitchFamily="34" charset="0"/>
                <a:ea typeface="Calibri" pitchFamily="34" charset="-122"/>
                <a:cs typeface="Calibri" pitchFamily="34" charset="-120"/>
              </a:rPr>
              <a:t>trava a “sorte” do sorteio dos dados e dos pesos iniciais — assim, repetir o treino com a mesma configuração dá o mesmo resultado.</a:t>
            </a:r>
            <a:endParaRPr lang="en-US" sz="1000" dirty="0"/>
          </a:p>
        </p:txBody>
      </p:sp>
      <p:sp>
        <p:nvSpPr>
          <p:cNvPr id="39" name="Text 37"/>
          <p:cNvSpPr txBox="1"/>
          <p:nvPr/>
        </p:nvSpPr>
        <p:spPr>
          <a:xfrm>
            <a:off x="7178040" y="5513832"/>
            <a:ext cx="4327855" cy="722376"/>
          </a:xfrm>
          <a:prstGeom prst="rect">
            <a:avLst/>
          </a:prstGeom>
          <a:noFill/>
          <a:ln/>
        </p:spPr>
        <p:txBody>
          <a:bodyPr wrap="square" lIns="0" tIns="0" rIns="0" bIns="0" rtlCol="0" anchor="t"/>
          <a:lstStyle/>
          <a:p>
            <a:pPr indent="0" marL="0">
              <a:lnSpc>
                <a:spcPts val="1200"/>
              </a:lnSpc>
              <a:buNone/>
            </a:pPr>
            <a:r>
              <a:rPr lang="en-US" sz="1000" i="1" dirty="0">
                <a:solidFill>
                  <a:srgbClr val="5C6B8A"/>
                </a:solidFill>
                <a:latin typeface="Calibri" pitchFamily="34" charset="0"/>
                <a:ea typeface="Calibri" pitchFamily="34" charset="-122"/>
                <a:cs typeface="Calibri" pitchFamily="34" charset="-120"/>
              </a:rPr>
              <a:t>sem isso, cada treino sairia um pouco diferente, e não saberíamos se uma mudança veio do ajuste ou só do acaso.</a:t>
            </a:r>
            <a:endParaRPr lang="en-US" sz="1000" dirty="0"/>
          </a:p>
        </p:txBody>
      </p:sp>
      <p:sp>
        <p:nvSpPr>
          <p:cNvPr id="41" name="Text 38"/>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AVALIAÇÃO</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Resultados preliminares</a:t>
            </a:r>
            <a:endParaRPr lang="en-US" sz="3200" dirty="0"/>
          </a:p>
        </p:txBody>
      </p:sp>
      <p:sp>
        <p:nvSpPr>
          <p:cNvPr id="4" name="Text 2"/>
          <p:cNvSpPr txBox="1"/>
          <p:nvPr/>
        </p:nvSpPr>
        <p:spPr>
          <a:xfrm>
            <a:off x="548640" y="2240280"/>
            <a:ext cx="512064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Perda de validação por época</a:t>
            </a:r>
            <a:endParaRPr lang="en-US" sz="1300" dirty="0"/>
          </a:p>
        </p:txBody>
      </p:sp>
      <p:graphicFrame>
        <p:nvGraphicFramePr>
          <p:cNvPr id="5" name="Chart 0" descr=""/>
          <p:cNvGraphicFramePr/>
          <p:nvPr/>
        </p:nvGraphicFramePr>
        <p:xfrm>
          <a:off x="548640" y="2606040"/>
          <a:ext cx="5120640" cy="23317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5029200"/>
            <a:ext cx="5120640" cy="365760"/>
          </a:xfrm>
          <a:prstGeom prst="rect">
            <a:avLst/>
          </a:prstGeom>
          <a:noFill/>
          <a:ln/>
        </p:spPr>
        <p:txBody>
          <a:bodyPr wrap="square" lIns="0" tIns="0" rIns="0" bIns="0" rtlCol="0" anchor="ctr"/>
          <a:lstStyle/>
          <a:p>
            <a:pPr indent="0" marL="0">
              <a:buNone/>
            </a:pPr>
            <a:r>
              <a:rPr lang="en-US" sz="1100" i="1" dirty="0">
                <a:solidFill>
                  <a:srgbClr val="5C6B8A"/>
                </a:solidFill>
                <a:latin typeface="Calibri" pitchFamily="34" charset="0"/>
                <a:ea typeface="Calibri" pitchFamily="34" charset="-122"/>
                <a:cs typeface="Calibri" pitchFamily="34" charset="-120"/>
              </a:rPr>
              <a:t>Treino completo (87.599 exemplos) em andamento no momento desta apresentação</a:t>
            </a:r>
            <a:endParaRPr lang="en-US" sz="1100" dirty="0"/>
          </a:p>
        </p:txBody>
      </p:sp>
      <p:sp>
        <p:nvSpPr>
          <p:cNvPr id="7" name="Shape 4"/>
          <p:cNvSpPr/>
          <p:nvPr/>
        </p:nvSpPr>
        <p:spPr>
          <a:xfrm>
            <a:off x="6537960" y="2240280"/>
            <a:ext cx="1133856" cy="1234440"/>
          </a:xfrm>
          <a:prstGeom prst="roundRect">
            <a:avLst>
              <a:gd name="adj" fmla="val 6452"/>
            </a:avLst>
          </a:prstGeom>
          <a:solidFill>
            <a:srgbClr val="F0F4FC"/>
          </a:solidFill>
          <a:ln/>
        </p:spPr>
      </p:sp>
      <p:sp>
        <p:nvSpPr>
          <p:cNvPr id="8" name="Text 5"/>
          <p:cNvSpPr txBox="1"/>
          <p:nvPr/>
        </p:nvSpPr>
        <p:spPr>
          <a:xfrm>
            <a:off x="6537960" y="2331720"/>
            <a:ext cx="1133856" cy="64008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6,76</a:t>
            </a:r>
            <a:endParaRPr lang="en-US" sz="2000" dirty="0"/>
          </a:p>
        </p:txBody>
      </p:sp>
      <p:sp>
        <p:nvSpPr>
          <p:cNvPr id="9" name="Text 6"/>
          <p:cNvSpPr txBox="1"/>
          <p:nvPr/>
        </p:nvSpPr>
        <p:spPr>
          <a:xfrm>
            <a:off x="6537960" y="2926080"/>
            <a:ext cx="1133856" cy="457200"/>
          </a:xfrm>
          <a:prstGeom prst="rect">
            <a:avLst/>
          </a:prstGeom>
          <a:noFill/>
          <a:ln/>
        </p:spPr>
        <p:txBody>
          <a:bodyPr wrap="square" lIns="0" tIns="0" rIns="0" bIns="0" rtlCol="0" anchor="ctr"/>
          <a:lstStyle/>
          <a:p>
            <a:pPr algn="ctr" indent="0" marL="0">
              <a:buNone/>
            </a:pPr>
            <a:r>
              <a:rPr lang="en-US" sz="1050" dirty="0">
                <a:solidFill>
                  <a:srgbClr val="5C6B8A"/>
                </a:solidFill>
                <a:latin typeface="Calibri" pitchFamily="34" charset="0"/>
                <a:ea typeface="Calibri" pitchFamily="34" charset="-122"/>
                <a:cs typeface="Calibri" pitchFamily="34" charset="-120"/>
              </a:rPr>
              <a:t>BLEU</a:t>
            </a:r>
            <a:endParaRPr lang="en-US" sz="1050" dirty="0"/>
          </a:p>
        </p:txBody>
      </p:sp>
      <p:sp>
        <p:nvSpPr>
          <p:cNvPr id="10" name="Shape 7"/>
          <p:cNvSpPr/>
          <p:nvPr/>
        </p:nvSpPr>
        <p:spPr>
          <a:xfrm>
            <a:off x="7854696" y="2240280"/>
            <a:ext cx="1133856" cy="1234440"/>
          </a:xfrm>
          <a:prstGeom prst="roundRect">
            <a:avLst>
              <a:gd name="adj" fmla="val 6452"/>
            </a:avLst>
          </a:prstGeom>
          <a:solidFill>
            <a:srgbClr val="F0F4FC"/>
          </a:solidFill>
          <a:ln/>
        </p:spPr>
      </p:sp>
      <p:sp>
        <p:nvSpPr>
          <p:cNvPr id="11" name="Text 8"/>
          <p:cNvSpPr txBox="1"/>
          <p:nvPr/>
        </p:nvSpPr>
        <p:spPr>
          <a:xfrm>
            <a:off x="7854696" y="2331720"/>
            <a:ext cx="1133856" cy="64008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24,5%</a:t>
            </a:r>
            <a:endParaRPr lang="en-US" sz="2000" dirty="0"/>
          </a:p>
        </p:txBody>
      </p:sp>
      <p:sp>
        <p:nvSpPr>
          <p:cNvPr id="12" name="Text 9"/>
          <p:cNvSpPr txBox="1"/>
          <p:nvPr/>
        </p:nvSpPr>
        <p:spPr>
          <a:xfrm>
            <a:off x="7854696" y="2926080"/>
            <a:ext cx="1133856" cy="457200"/>
          </a:xfrm>
          <a:prstGeom prst="rect">
            <a:avLst/>
          </a:prstGeom>
          <a:noFill/>
          <a:ln/>
        </p:spPr>
        <p:txBody>
          <a:bodyPr wrap="square" lIns="0" tIns="0" rIns="0" bIns="0" rtlCol="0" anchor="ctr"/>
          <a:lstStyle/>
          <a:p>
            <a:pPr algn="ctr" indent="0" marL="0">
              <a:buNone/>
            </a:pPr>
            <a:r>
              <a:rPr lang="en-US" sz="1050" dirty="0">
                <a:solidFill>
                  <a:srgbClr val="5C6B8A"/>
                </a:solidFill>
                <a:latin typeface="Calibri" pitchFamily="34" charset="0"/>
                <a:ea typeface="Calibri" pitchFamily="34" charset="-122"/>
                <a:cs typeface="Calibri" pitchFamily="34" charset="-120"/>
              </a:rPr>
              <a:t>ROUGE-L</a:t>
            </a:r>
            <a:endParaRPr lang="en-US" sz="1050" dirty="0"/>
          </a:p>
        </p:txBody>
      </p:sp>
      <p:sp>
        <p:nvSpPr>
          <p:cNvPr id="13" name="Shape 10"/>
          <p:cNvSpPr/>
          <p:nvPr/>
        </p:nvSpPr>
        <p:spPr>
          <a:xfrm>
            <a:off x="9171432" y="2240280"/>
            <a:ext cx="1133856" cy="1234440"/>
          </a:xfrm>
          <a:prstGeom prst="roundRect">
            <a:avLst>
              <a:gd name="adj" fmla="val 6452"/>
            </a:avLst>
          </a:prstGeom>
          <a:solidFill>
            <a:srgbClr val="F0F4FC"/>
          </a:solidFill>
          <a:ln/>
        </p:spPr>
      </p:sp>
      <p:sp>
        <p:nvSpPr>
          <p:cNvPr id="14" name="Text 11"/>
          <p:cNvSpPr txBox="1"/>
          <p:nvPr/>
        </p:nvSpPr>
        <p:spPr>
          <a:xfrm>
            <a:off x="9171432" y="2331720"/>
            <a:ext cx="1133856" cy="64008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25,4%</a:t>
            </a:r>
            <a:endParaRPr lang="en-US" sz="2000" dirty="0"/>
          </a:p>
        </p:txBody>
      </p:sp>
      <p:sp>
        <p:nvSpPr>
          <p:cNvPr id="15" name="Text 12"/>
          <p:cNvSpPr txBox="1"/>
          <p:nvPr/>
        </p:nvSpPr>
        <p:spPr>
          <a:xfrm>
            <a:off x="9171432" y="2926080"/>
            <a:ext cx="1133856" cy="457200"/>
          </a:xfrm>
          <a:prstGeom prst="rect">
            <a:avLst/>
          </a:prstGeom>
          <a:noFill/>
          <a:ln/>
        </p:spPr>
        <p:txBody>
          <a:bodyPr wrap="square" lIns="0" tIns="0" rIns="0" bIns="0" rtlCol="0" anchor="ctr"/>
          <a:lstStyle/>
          <a:p>
            <a:pPr algn="ctr" indent="0" marL="0">
              <a:buNone/>
            </a:pPr>
            <a:r>
              <a:rPr lang="en-US" sz="1050" dirty="0">
                <a:solidFill>
                  <a:srgbClr val="5C6B8A"/>
                </a:solidFill>
                <a:latin typeface="Calibri" pitchFamily="34" charset="0"/>
                <a:ea typeface="Calibri" pitchFamily="34" charset="-122"/>
                <a:cs typeface="Calibri" pitchFamily="34" charset="-120"/>
              </a:rPr>
              <a:t>METEOR</a:t>
            </a:r>
            <a:endParaRPr lang="en-US" sz="1050" dirty="0"/>
          </a:p>
        </p:txBody>
      </p:sp>
      <p:sp>
        <p:nvSpPr>
          <p:cNvPr id="16" name="Shape 13"/>
          <p:cNvSpPr/>
          <p:nvPr/>
        </p:nvSpPr>
        <p:spPr>
          <a:xfrm>
            <a:off x="10488168" y="2240280"/>
            <a:ext cx="1133856" cy="1234440"/>
          </a:xfrm>
          <a:prstGeom prst="roundRect">
            <a:avLst>
              <a:gd name="adj" fmla="val 6452"/>
            </a:avLst>
          </a:prstGeom>
          <a:solidFill>
            <a:srgbClr val="F0F4FC"/>
          </a:solidFill>
          <a:ln/>
        </p:spPr>
      </p:sp>
      <p:sp>
        <p:nvSpPr>
          <p:cNvPr id="17" name="Text 14"/>
          <p:cNvSpPr txBox="1"/>
          <p:nvPr/>
        </p:nvSpPr>
        <p:spPr>
          <a:xfrm>
            <a:off x="10488168" y="2331720"/>
            <a:ext cx="1133856" cy="64008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23,5%</a:t>
            </a:r>
            <a:endParaRPr lang="en-US" sz="2000" dirty="0"/>
          </a:p>
        </p:txBody>
      </p:sp>
      <p:sp>
        <p:nvSpPr>
          <p:cNvPr id="18" name="Text 15"/>
          <p:cNvSpPr txBox="1"/>
          <p:nvPr/>
        </p:nvSpPr>
        <p:spPr>
          <a:xfrm>
            <a:off x="10488168" y="2926080"/>
            <a:ext cx="1133856" cy="457200"/>
          </a:xfrm>
          <a:prstGeom prst="rect">
            <a:avLst/>
          </a:prstGeom>
          <a:noFill/>
          <a:ln/>
        </p:spPr>
        <p:txBody>
          <a:bodyPr wrap="square" lIns="0" tIns="0" rIns="0" bIns="0" rtlCol="0" anchor="ctr"/>
          <a:lstStyle/>
          <a:p>
            <a:pPr algn="ctr" indent="0" marL="0">
              <a:buNone/>
            </a:pPr>
            <a:r>
              <a:rPr lang="en-US" sz="1050" dirty="0">
                <a:solidFill>
                  <a:srgbClr val="5C6B8A"/>
                </a:solidFill>
                <a:latin typeface="Calibri" pitchFamily="34" charset="0"/>
                <a:ea typeface="Calibri" pitchFamily="34" charset="-122"/>
                <a:cs typeface="Calibri" pitchFamily="34" charset="-120"/>
              </a:rPr>
              <a:t>F1</a:t>
            </a:r>
            <a:endParaRPr lang="en-US" sz="1050" dirty="0"/>
          </a:p>
        </p:txBody>
      </p:sp>
      <p:sp>
        <p:nvSpPr>
          <p:cNvPr id="19" name="Text 16"/>
          <p:cNvSpPr txBox="1"/>
          <p:nvPr/>
        </p:nvSpPr>
        <p:spPr>
          <a:xfrm>
            <a:off x="6537960" y="3611880"/>
            <a:ext cx="5084064" cy="457200"/>
          </a:xfrm>
          <a:prstGeom prst="rect">
            <a:avLst/>
          </a:prstGeom>
          <a:noFill/>
          <a:ln/>
        </p:spPr>
        <p:txBody>
          <a:bodyPr wrap="square" lIns="0" tIns="0" rIns="0" bIns="0" rtlCol="0" anchor="ctr"/>
          <a:lstStyle/>
          <a:p>
            <a:pPr indent="0" marL="0">
              <a:buNone/>
            </a:pPr>
            <a:r>
              <a:rPr lang="en-US" sz="1050" i="1" dirty="0">
                <a:solidFill>
                  <a:srgbClr val="5C6B8A"/>
                </a:solidFill>
                <a:latin typeface="Calibri" pitchFamily="34" charset="0"/>
                <a:ea typeface="Calibri" pitchFamily="34" charset="-122"/>
                <a:cs typeface="Calibri" pitchFamily="34" charset="-120"/>
              </a:rPr>
              <a:t>Checkpoint parcial (7.600 exemplos, 3 épocas) · SQuAD validation completo, 10.570 exemplos</a:t>
            </a:r>
            <a:endParaRPr lang="en-US" sz="1050" dirty="0"/>
          </a:p>
        </p:txBody>
      </p:sp>
      <p:sp>
        <p:nvSpPr>
          <p:cNvPr id="20" name="Shape 17"/>
          <p:cNvSpPr/>
          <p:nvPr/>
        </p:nvSpPr>
        <p:spPr>
          <a:xfrm>
            <a:off x="6537960" y="4160520"/>
            <a:ext cx="5084064" cy="1828800"/>
          </a:xfrm>
          <a:prstGeom prst="roundRect">
            <a:avLst>
              <a:gd name="adj" fmla="val 5000"/>
            </a:avLst>
          </a:prstGeom>
          <a:solidFill>
            <a:srgbClr val="1E2761"/>
          </a:solidFill>
          <a:ln/>
        </p:spPr>
      </p:sp>
      <p:sp>
        <p:nvSpPr>
          <p:cNvPr id="21" name="Text 18"/>
          <p:cNvSpPr txBox="1"/>
          <p:nvPr/>
        </p:nvSpPr>
        <p:spPr>
          <a:xfrm>
            <a:off x="6858000" y="4343400"/>
            <a:ext cx="4443984" cy="1463040"/>
          </a:xfrm>
          <a:prstGeom prst="rect">
            <a:avLst/>
          </a:prstGeom>
          <a:noFill/>
          <a:ln/>
        </p:spPr>
        <p:txBody>
          <a:bodyPr wrap="square" lIns="0" tIns="0" rIns="0" bIns="0" rtlCol="0" anchor="ctr"/>
          <a:lstStyle/>
          <a:p>
            <a:pPr indent="0" marL="0">
              <a:lnSpc>
                <a:spcPts val="1700"/>
              </a:lnSpc>
              <a:buNone/>
            </a:pPr>
            <a:r>
              <a:rPr lang="en-US" sz="1250" b="1" dirty="0">
                <a:solidFill>
                  <a:srgbClr val="CADCFC"/>
                </a:solidFill>
                <a:latin typeface="Calibri" pitchFamily="34" charset="0"/>
                <a:ea typeface="Calibri" pitchFamily="34" charset="-122"/>
                <a:cs typeface="Calibri" pitchFamily="34" charset="-120"/>
              </a:rPr>
              <a:t>Referência:  </a:t>
            </a:r>
            <a:pPr indent="0" marL="0">
              <a:lnSpc>
                <a:spcPts val="1700"/>
              </a:lnSpc>
              <a:buNone/>
            </a:pPr>
            <a:r>
              <a:rPr lang="en-US" sz="1250" dirty="0">
                <a:solidFill>
                  <a:srgbClr val="FFFFFF"/>
                </a:solidFill>
                <a:latin typeface="Calibri" pitchFamily="34" charset="0"/>
                <a:ea typeface="Calibri" pitchFamily="34" charset="-122"/>
                <a:cs typeface="Calibri" pitchFamily="34" charset="-120"/>
              </a:rPr>
              <a:t>“Which artist who had a major influence on the Gothic Revival is represented in the V&amp;A's British galleries?”
</a:t>
            </a:r>
            <a:pPr indent="0" marL="0">
              <a:lnSpc>
                <a:spcPts val="1700"/>
              </a:lnSpc>
              <a:buNone/>
            </a:pPr>
            <a:r>
              <a:rPr lang="en-US" sz="1250" b="1" dirty="0">
                <a:solidFill>
                  <a:srgbClr val="E8A33D"/>
                </a:solidFill>
                <a:latin typeface="Calibri" pitchFamily="34" charset="0"/>
                <a:ea typeface="Calibri" pitchFamily="34" charset="-122"/>
                <a:cs typeface="Calibri" pitchFamily="34" charset="-120"/>
              </a:rPr>
              <a:t>Gerada:  </a:t>
            </a:r>
            <a:pPr indent="0" marL="0">
              <a:lnSpc>
                <a:spcPts val="1700"/>
              </a:lnSpc>
              <a:buNone/>
            </a:pPr>
            <a:r>
              <a:rPr lang="en-US" sz="1250" dirty="0">
                <a:solidFill>
                  <a:srgbClr val="FFFFFF"/>
                </a:solidFill>
                <a:latin typeface="Calibri" pitchFamily="34" charset="0"/>
                <a:ea typeface="Calibri" pitchFamily="34" charset="-122"/>
                <a:cs typeface="Calibri" pitchFamily="34" charset="-120"/>
              </a:rPr>
              <a:t>“Who is a major influence on the Gothic Revival?”</a:t>
            </a:r>
            <a:endParaRPr lang="en-US" sz="1250" dirty="0"/>
          </a:p>
        </p:txBody>
      </p:sp>
      <p:sp>
        <p:nvSpPr>
          <p:cNvPr id="23" name="Text 19"/>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ROTEIRO</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Próximos passos</a:t>
            </a:r>
            <a:endParaRPr lang="en-US" sz="3200" dirty="0"/>
          </a:p>
        </p:txBody>
      </p:sp>
      <p:sp>
        <p:nvSpPr>
          <p:cNvPr id="4" name="Shape 2"/>
          <p:cNvSpPr/>
          <p:nvPr/>
        </p:nvSpPr>
        <p:spPr>
          <a:xfrm>
            <a:off x="548640" y="2331720"/>
            <a:ext cx="502920" cy="502920"/>
          </a:xfrm>
          <a:prstGeom prst="ellipse">
            <a:avLst/>
          </a:prstGeom>
          <a:solidFill>
            <a:srgbClr val="1E2761"/>
          </a:solidFill>
          <a:ln/>
        </p:spPr>
      </p:sp>
      <p:sp>
        <p:nvSpPr>
          <p:cNvPr id="5" name="Text 3"/>
          <p:cNvSpPr txBox="1"/>
          <p:nvPr/>
        </p:nvSpPr>
        <p:spPr>
          <a:xfrm>
            <a:off x="548640" y="233172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6" name="Text 4"/>
          <p:cNvSpPr txBox="1"/>
          <p:nvPr/>
        </p:nvSpPr>
        <p:spPr>
          <a:xfrm>
            <a:off x="1325880" y="2240280"/>
            <a:ext cx="9601200" cy="41148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Concluir o treino completo</a:t>
            </a:r>
            <a:endParaRPr lang="en-US" sz="1600" dirty="0"/>
          </a:p>
        </p:txBody>
      </p:sp>
      <p:sp>
        <p:nvSpPr>
          <p:cNvPr id="7" name="Text 5"/>
          <p:cNvSpPr txBox="1"/>
          <p:nvPr/>
        </p:nvSpPr>
        <p:spPr>
          <a:xfrm>
            <a:off x="1325880" y="2633472"/>
            <a:ext cx="9601200" cy="457200"/>
          </a:xfrm>
          <a:prstGeom prst="rect">
            <a:avLst/>
          </a:prstGeom>
          <a:noFill/>
          <a:ln/>
        </p:spPr>
        <p:txBody>
          <a:bodyPr wrap="square" lIns="0" tIns="0" rIns="0" bIns="0" rtlCol="0" anchor="ctr"/>
          <a:lstStyle/>
          <a:p>
            <a:pPr indent="0" marL="0">
              <a:buNone/>
            </a:pPr>
            <a:r>
              <a:rPr lang="en-US" sz="1300" dirty="0">
                <a:solidFill>
                  <a:srgbClr val="5C6B8A"/>
                </a:solidFill>
                <a:latin typeface="Calibri" pitchFamily="34" charset="0"/>
                <a:ea typeface="Calibri" pitchFamily="34" charset="-122"/>
                <a:cs typeface="Calibri" pitchFamily="34" charset="-120"/>
              </a:rPr>
              <a:t>87.599 exemplos, dataset oficial do SQuAD</a:t>
            </a:r>
            <a:endParaRPr lang="en-US" sz="1300" dirty="0"/>
          </a:p>
        </p:txBody>
      </p:sp>
      <p:sp>
        <p:nvSpPr>
          <p:cNvPr id="8" name="Shape 6"/>
          <p:cNvSpPr/>
          <p:nvPr/>
        </p:nvSpPr>
        <p:spPr>
          <a:xfrm>
            <a:off x="548640" y="3383280"/>
            <a:ext cx="502920" cy="502920"/>
          </a:xfrm>
          <a:prstGeom prst="ellipse">
            <a:avLst/>
          </a:prstGeom>
          <a:solidFill>
            <a:srgbClr val="1E2761"/>
          </a:solidFill>
          <a:ln/>
        </p:spPr>
      </p:sp>
      <p:sp>
        <p:nvSpPr>
          <p:cNvPr id="9" name="Text 7"/>
          <p:cNvSpPr txBox="1"/>
          <p:nvPr/>
        </p:nvSpPr>
        <p:spPr>
          <a:xfrm>
            <a:off x="548640" y="338328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0" name="Text 8"/>
          <p:cNvSpPr txBox="1"/>
          <p:nvPr/>
        </p:nvSpPr>
        <p:spPr>
          <a:xfrm>
            <a:off x="1325880" y="3291840"/>
            <a:ext cx="9601200" cy="41148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TopicQG</a:t>
            </a:r>
            <a:endParaRPr lang="en-US" sz="1600" dirty="0"/>
          </a:p>
        </p:txBody>
      </p:sp>
      <p:sp>
        <p:nvSpPr>
          <p:cNvPr id="11" name="Text 9"/>
          <p:cNvSpPr txBox="1"/>
          <p:nvPr/>
        </p:nvSpPr>
        <p:spPr>
          <a:xfrm>
            <a:off x="1325880" y="3685032"/>
            <a:ext cx="9601200" cy="457200"/>
          </a:xfrm>
          <a:prstGeom prst="rect">
            <a:avLst/>
          </a:prstGeom>
          <a:noFill/>
          <a:ln/>
        </p:spPr>
        <p:txBody>
          <a:bodyPr wrap="square" lIns="0" tIns="0" rIns="0" bIns="0" rtlCol="0" anchor="ctr"/>
          <a:lstStyle/>
          <a:p>
            <a:pPr indent="0" marL="0">
              <a:buNone/>
            </a:pPr>
            <a:r>
              <a:rPr lang="en-US" sz="1300" dirty="0">
                <a:solidFill>
                  <a:srgbClr val="5C6B8A"/>
                </a:solidFill>
                <a:latin typeface="Calibri" pitchFamily="34" charset="0"/>
                <a:ea typeface="Calibri" pitchFamily="34" charset="-122"/>
                <a:cs typeface="Calibri" pitchFamily="34" charset="-120"/>
              </a:rPr>
              <a:t>condicionar a geração por tópico (contrastive learning, MixSQuAD)</a:t>
            </a:r>
            <a:endParaRPr lang="en-US" sz="1300" dirty="0"/>
          </a:p>
        </p:txBody>
      </p:sp>
      <p:sp>
        <p:nvSpPr>
          <p:cNvPr id="12" name="Shape 10"/>
          <p:cNvSpPr/>
          <p:nvPr/>
        </p:nvSpPr>
        <p:spPr>
          <a:xfrm>
            <a:off x="548640" y="4434840"/>
            <a:ext cx="502920" cy="502920"/>
          </a:xfrm>
          <a:prstGeom prst="ellipse">
            <a:avLst/>
          </a:prstGeom>
          <a:solidFill>
            <a:srgbClr val="1E2761"/>
          </a:solidFill>
          <a:ln/>
        </p:spPr>
      </p:sp>
      <p:sp>
        <p:nvSpPr>
          <p:cNvPr id="13" name="Text 11"/>
          <p:cNvSpPr txBox="1"/>
          <p:nvPr/>
        </p:nvSpPr>
        <p:spPr>
          <a:xfrm>
            <a:off x="548640" y="443484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4" name="Text 12"/>
          <p:cNvSpPr txBox="1"/>
          <p:nvPr/>
        </p:nvSpPr>
        <p:spPr>
          <a:xfrm>
            <a:off x="1325880" y="4343400"/>
            <a:ext cx="9601200" cy="41148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Avaliação final</a:t>
            </a:r>
            <a:endParaRPr lang="en-US" sz="1600" dirty="0"/>
          </a:p>
        </p:txBody>
      </p:sp>
      <p:sp>
        <p:nvSpPr>
          <p:cNvPr id="15" name="Text 13"/>
          <p:cNvSpPr txBox="1"/>
          <p:nvPr/>
        </p:nvSpPr>
        <p:spPr>
          <a:xfrm>
            <a:off x="1325880" y="4736592"/>
            <a:ext cx="9601200" cy="457200"/>
          </a:xfrm>
          <a:prstGeom prst="rect">
            <a:avLst/>
          </a:prstGeom>
          <a:noFill/>
          <a:ln/>
        </p:spPr>
        <p:txBody>
          <a:bodyPr wrap="square" lIns="0" tIns="0" rIns="0" bIns="0" rtlCol="0" anchor="ctr"/>
          <a:lstStyle/>
          <a:p>
            <a:pPr indent="0" marL="0">
              <a:buNone/>
            </a:pPr>
            <a:r>
              <a:rPr lang="en-US" sz="1300" dirty="0">
                <a:solidFill>
                  <a:srgbClr val="5C6B8A"/>
                </a:solidFill>
                <a:latin typeface="Calibri" pitchFamily="34" charset="0"/>
                <a:ea typeface="Calibri" pitchFamily="34" charset="-122"/>
                <a:cs typeface="Calibri" pitchFamily="34" charset="-120"/>
              </a:rPr>
              <a:t>comparar com os números reportados no artigo</a:t>
            </a:r>
            <a:endParaRPr lang="en-US" sz="1300" dirty="0"/>
          </a:p>
        </p:txBody>
      </p:sp>
      <p:sp>
        <p:nvSpPr>
          <p:cNvPr id="16" name="Shape 14"/>
          <p:cNvSpPr/>
          <p:nvPr/>
        </p:nvSpPr>
        <p:spPr>
          <a:xfrm>
            <a:off x="548640" y="5486400"/>
            <a:ext cx="502920" cy="502920"/>
          </a:xfrm>
          <a:prstGeom prst="ellipse">
            <a:avLst/>
          </a:prstGeom>
          <a:solidFill>
            <a:srgbClr val="1E2761"/>
          </a:solidFill>
          <a:ln/>
        </p:spPr>
      </p:sp>
      <p:sp>
        <p:nvSpPr>
          <p:cNvPr id="17" name="Text 15"/>
          <p:cNvSpPr txBox="1"/>
          <p:nvPr/>
        </p:nvSpPr>
        <p:spPr>
          <a:xfrm>
            <a:off x="548640" y="548640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8" name="Text 16"/>
          <p:cNvSpPr txBox="1"/>
          <p:nvPr/>
        </p:nvSpPr>
        <p:spPr>
          <a:xfrm>
            <a:off x="1325880" y="5394960"/>
            <a:ext cx="9601200" cy="41148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Extensão (opcional)</a:t>
            </a:r>
            <a:endParaRPr lang="en-US" sz="1600" dirty="0"/>
          </a:p>
        </p:txBody>
      </p:sp>
      <p:sp>
        <p:nvSpPr>
          <p:cNvPr id="19" name="Text 17"/>
          <p:cNvSpPr txBox="1"/>
          <p:nvPr/>
        </p:nvSpPr>
        <p:spPr>
          <a:xfrm>
            <a:off x="1325880" y="5788152"/>
            <a:ext cx="9601200" cy="457200"/>
          </a:xfrm>
          <a:prstGeom prst="rect">
            <a:avLst/>
          </a:prstGeom>
          <a:noFill/>
          <a:ln/>
        </p:spPr>
        <p:txBody>
          <a:bodyPr wrap="square" lIns="0" tIns="0" rIns="0" bIns="0" rtlCol="0" anchor="ctr"/>
          <a:lstStyle/>
          <a:p>
            <a:pPr indent="0" marL="0">
              <a:buNone/>
            </a:pPr>
            <a:r>
              <a:rPr lang="en-US" sz="1300" dirty="0">
                <a:solidFill>
                  <a:srgbClr val="5C6B8A"/>
                </a:solidFill>
                <a:latin typeface="Calibri" pitchFamily="34" charset="0"/>
                <a:ea typeface="Calibri" pitchFamily="34" charset="-122"/>
                <a:cs typeface="Calibri" pitchFamily="34" charset="-120"/>
              </a:rPr>
              <a:t>comparar com LLMs proprietárias (Claude, GPT, Grok)</a:t>
            </a:r>
            <a:endParaRPr lang="en-US" sz="1300" dirty="0"/>
          </a:p>
        </p:txBody>
      </p:sp>
      <p:sp>
        <p:nvSpPr>
          <p:cNvPr id="21" name="Text 18"/>
          <p:cNvSpPr txBox="1"/>
          <p:nvPr/>
        </p:nvSpPr>
        <p:spPr>
          <a:xfrm>
            <a:off x="11185855" y="6492240"/>
            <a:ext cx="457200" cy="274320"/>
          </a:xfrm>
          <a:prstGeom prst="rect">
            <a:avLst/>
          </a:prstGeom>
          <a:noFill/>
          <a:ln/>
        </p:spPr>
        <p:txBody>
          <a:bodyPr wrap="square" lIns="0" tIns="0" rIns="0" bIns="0" rtlCol="0" anchor="ctr"/>
          <a:lstStyle/>
          <a:p>
            <a:pPr algn="r" indent="0" marL="0">
              <a:buNone/>
            </a:pPr>
            <a:r>
              <a:rPr lang="en-US" sz="1000" dirty="0">
                <a:solidFill>
                  <a:srgbClr val="5C6B8A"/>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40080" y="365760"/>
            <a:ext cx="2377440" cy="2377440"/>
          </a:xfrm>
          <a:prstGeom prst="ellipse">
            <a:avLst/>
          </a:prstGeom>
          <a:ln w="15875">
            <a:solidFill>
              <a:srgbClr val="CADCFC">
                <a:alpha val="45000"/>
              </a:srgbClr>
            </a:solidFill>
            <a:prstDash val="solid"/>
          </a:ln>
        </p:spPr>
      </p:sp>
      <p:sp>
        <p:nvSpPr>
          <p:cNvPr id="3" name="Shape 1"/>
          <p:cNvSpPr/>
          <p:nvPr/>
        </p:nvSpPr>
        <p:spPr>
          <a:xfrm>
            <a:off x="960120" y="685800"/>
            <a:ext cx="1737360" cy="1737360"/>
          </a:xfrm>
          <a:prstGeom prst="ellipse">
            <a:avLst/>
          </a:prstGeom>
          <a:ln w="15875">
            <a:solidFill>
              <a:srgbClr val="CADCFC">
                <a:alpha val="75000"/>
              </a:srgbClr>
            </a:solidFill>
            <a:prstDash val="solid"/>
          </a:ln>
        </p:spPr>
      </p:sp>
      <p:sp>
        <p:nvSpPr>
          <p:cNvPr id="4" name="Shape 2"/>
          <p:cNvSpPr/>
          <p:nvPr/>
        </p:nvSpPr>
        <p:spPr>
          <a:xfrm>
            <a:off x="1280160" y="1005840"/>
            <a:ext cx="1097280" cy="1097280"/>
          </a:xfrm>
          <a:prstGeom prst="ellipse">
            <a:avLst/>
          </a:prstGeom>
          <a:ln w="15875">
            <a:solidFill>
              <a:srgbClr val="CADCFC">
                <a:alpha val="75000"/>
              </a:srgbClr>
            </a:solidFill>
            <a:prstDash val="solid"/>
          </a:ln>
        </p:spPr>
      </p:sp>
      <p:sp>
        <p:nvSpPr>
          <p:cNvPr id="5" name="Text 3"/>
          <p:cNvSpPr txBox="1"/>
          <p:nvPr/>
        </p:nvSpPr>
        <p:spPr>
          <a:xfrm>
            <a:off x="548640" y="2743200"/>
            <a:ext cx="1005840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Obrigado</a:t>
            </a:r>
            <a:endParaRPr lang="en-US" sz="4800" dirty="0"/>
          </a:p>
        </p:txBody>
      </p:sp>
      <p:sp>
        <p:nvSpPr>
          <p:cNvPr id="6" name="Text 4"/>
          <p:cNvSpPr txBox="1"/>
          <p:nvPr/>
        </p:nvSpPr>
        <p:spPr>
          <a:xfrm>
            <a:off x="548640" y="3703320"/>
            <a:ext cx="10058400" cy="548640"/>
          </a:xfrm>
          <a:prstGeom prst="rect">
            <a:avLst/>
          </a:prstGeom>
          <a:noFill/>
          <a:ln/>
        </p:spPr>
        <p:txBody>
          <a:bodyPr wrap="square" lIns="0" tIns="0" rIns="0" bIns="0"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Perguntas?</a:t>
            </a:r>
            <a:endParaRPr lang="en-US" sz="2000" dirty="0"/>
          </a:p>
        </p:txBody>
      </p:sp>
      <p:sp>
        <p:nvSpPr>
          <p:cNvPr id="7" name="Text 5"/>
          <p:cNvSpPr txBox="1"/>
          <p:nvPr/>
        </p:nvSpPr>
        <p:spPr>
          <a:xfrm>
            <a:off x="548640" y="6035040"/>
            <a:ext cx="731520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Tiago Lima Fraga · Inteligência Computacional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2026-09-30T16:26:27Z</dcterms:created>
  <dcterms:modified xsi:type="dcterms:W3CDTF">2026-09-30T16:26:27Z</dcterms:modified>
</cp:coreProperties>
</file>